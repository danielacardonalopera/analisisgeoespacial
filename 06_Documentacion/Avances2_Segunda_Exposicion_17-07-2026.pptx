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78" r:id="rId5"/>
    <p:sldId id="260" r:id="rId6"/>
    <p:sldId id="259" r:id="rId7"/>
    <p:sldId id="277" r:id="rId8"/>
    <p:sldId id="261" r:id="rId9"/>
    <p:sldId id="262" r:id="rId10"/>
    <p:sldId id="263" r:id="rId11"/>
    <p:sldId id="264" r:id="rId12"/>
    <p:sldId id="265" r:id="rId13"/>
    <p:sldId id="266" r:id="rId14"/>
    <p:sldId id="267" r:id="rId15"/>
    <p:sldId id="268" r:id="rId16"/>
    <p:sldId id="279" r:id="rId17"/>
    <p:sldId id="269" r:id="rId18"/>
    <p:sldId id="280" r:id="rId19"/>
    <p:sldId id="270" r:id="rId20"/>
    <p:sldId id="271" r:id="rId21"/>
    <p:sldId id="272" r:id="rId22"/>
    <p:sldId id="273" r:id="rId23"/>
    <p:sldId id="276" r:id="rId24"/>
    <p:sldId id="274"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9" d="100"/>
          <a:sy n="89" d="100"/>
        </p:scale>
        <p:origin x="816" y="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3010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D356-A6D1-5686-8346-7A515D27DC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605197-7814-F519-1ACD-6441B1FDE8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1E979C-231D-BFEF-A620-F000CAF4A8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55D5B8-709E-ECEB-74DA-D3898CF790E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84092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DAA37-8FE6-B504-58D9-7C08348BC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50F90-B5DE-0515-3624-871F968D70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CA378A-6EF3-CF72-115B-9AEF024F9F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FB885-3913-7201-4685-7DB457F00E9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7669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5BF64-31FD-CC1C-B1ED-A8A191BC1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F4057-5E64-2E6B-96F0-49CF30E019E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E196E45-D61E-C111-6078-8C40DAD730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075442-878A-56F2-B364-3A5A3C1DA39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0066004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F6280-BC0F-B072-358A-2682EA3FC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3F222-DDF7-687A-1FE1-D6684BE0892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49F94F1-1C19-728A-3F0E-307FCDC6EB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21BC23-4A6C-981E-9324-1E1AF37E685A}"/>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050179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30"/>
        </a:solidFill>
        <a:effectLst/>
      </p:bgPr>
    </p:bg>
    <p:spTree>
      <p:nvGrpSpPr>
        <p:cNvPr id="1" name=""/>
        <p:cNvGrpSpPr/>
        <p:nvPr/>
      </p:nvGrpSpPr>
      <p:grpSpPr>
        <a:xfrm>
          <a:off x="0" y="0"/>
          <a:ext cx="0" cy="0"/>
          <a:chOff x="0" y="0"/>
          <a:chExt cx="0" cy="0"/>
        </a:xfrm>
      </p:grpSpPr>
      <p:sp>
        <p:nvSpPr>
          <p:cNvPr id="2" name="Text 0"/>
          <p:cNvSpPr/>
          <p:nvPr/>
        </p:nvSpPr>
        <p:spPr>
          <a:xfrm>
            <a:off x="822960" y="1371600"/>
            <a:ext cx="10515600" cy="365760"/>
          </a:xfrm>
          <a:prstGeom prst="rect">
            <a:avLst/>
          </a:prstGeom>
          <a:noFill/>
          <a:ln/>
        </p:spPr>
        <p:txBody>
          <a:bodyPr wrap="square" lIns="0" tIns="0" rIns="0" bIns="0" rtlCol="0" anchor="ctr"/>
          <a:lstStyle/>
          <a:p>
            <a:pPr marL="0" indent="0">
              <a:buNone/>
            </a:pPr>
            <a:r>
              <a:rPr lang="es-CO" sz="1400" b="1" kern="0" spc="300" noProof="0" dirty="0">
                <a:solidFill>
                  <a:srgbClr val="D89B6A"/>
                </a:solidFill>
                <a:latin typeface="Calibri" pitchFamily="34" charset="0"/>
                <a:ea typeface="Calibri" pitchFamily="34" charset="-122"/>
                <a:cs typeface="Calibri" pitchFamily="34" charset="-120"/>
              </a:rPr>
              <a:t>ANÁLISIS GEOESPACIAL · TRABAJO DE CURSO</a:t>
            </a:r>
            <a:endParaRPr lang="es-CO" sz="1400" noProof="0" dirty="0"/>
          </a:p>
        </p:txBody>
      </p:sp>
      <p:sp>
        <p:nvSpPr>
          <p:cNvPr id="3" name="Text 1"/>
          <p:cNvSpPr/>
          <p:nvPr/>
        </p:nvSpPr>
        <p:spPr>
          <a:xfrm>
            <a:off x="822960" y="1874520"/>
            <a:ext cx="10515600" cy="1737360"/>
          </a:xfrm>
          <a:prstGeom prst="rect">
            <a:avLst/>
          </a:prstGeom>
          <a:noFill/>
          <a:ln/>
        </p:spPr>
        <p:txBody>
          <a:bodyPr wrap="square" lIns="0" tIns="0" rIns="0" bIns="0" rtlCol="0" anchor="ctr"/>
          <a:lstStyle/>
          <a:p>
            <a:pPr marL="0" indent="0">
              <a:lnSpc>
                <a:spcPct val="105000"/>
              </a:lnSpc>
              <a:buNone/>
            </a:pPr>
            <a:r>
              <a:rPr lang="es-CO" sz="4400" b="1" noProof="0" dirty="0">
                <a:solidFill>
                  <a:srgbClr val="FFFFFF"/>
                </a:solidFill>
                <a:latin typeface="Calibri" pitchFamily="34" charset="0"/>
                <a:ea typeface="Calibri" pitchFamily="34" charset="-122"/>
                <a:cs typeface="Calibri" pitchFamily="34" charset="-120"/>
              </a:rPr>
              <a:t>Distribución espacial del cobre</a:t>
            </a:r>
            <a:endParaRPr lang="es-CO" sz="4400" noProof="0" dirty="0"/>
          </a:p>
          <a:p>
            <a:pPr marL="0" indent="0">
              <a:lnSpc>
                <a:spcPct val="105000"/>
              </a:lnSpc>
              <a:buNone/>
            </a:pPr>
            <a:r>
              <a:rPr lang="es-CO" sz="4400" b="1" noProof="0" dirty="0">
                <a:solidFill>
                  <a:srgbClr val="FFFFFF"/>
                </a:solidFill>
                <a:latin typeface="Calibri" pitchFamily="34" charset="0"/>
                <a:ea typeface="Calibri" pitchFamily="34" charset="-122"/>
                <a:cs typeface="Calibri" pitchFamily="34" charset="-120"/>
              </a:rPr>
              <a:t>en el Suroeste antioqueño</a:t>
            </a:r>
            <a:endParaRPr lang="es-CO" sz="4400" noProof="0" dirty="0"/>
          </a:p>
        </p:txBody>
      </p:sp>
      <p:sp>
        <p:nvSpPr>
          <p:cNvPr id="5" name="Text 3"/>
          <p:cNvSpPr/>
          <p:nvPr/>
        </p:nvSpPr>
        <p:spPr>
          <a:xfrm>
            <a:off x="428625" y="3886200"/>
            <a:ext cx="6700838" cy="365760"/>
          </a:xfrm>
          <a:prstGeom prst="rect">
            <a:avLst/>
          </a:prstGeom>
          <a:noFill/>
          <a:ln/>
        </p:spPr>
        <p:txBody>
          <a:bodyPr wrap="square" lIns="0" tIns="0" rIns="0" bIns="0" rtlCol="0" anchor="ctr"/>
          <a:lstStyle/>
          <a:p>
            <a:pPr marL="0" indent="0" algn="ctr">
              <a:buNone/>
            </a:pPr>
            <a:br>
              <a:rPr lang="es-CO" noProof="0" dirty="0">
                <a:solidFill>
                  <a:srgbClr val="8B93A1"/>
                </a:solidFill>
                <a:latin typeface="Calibri" pitchFamily="34" charset="0"/>
                <a:ea typeface="Calibri" pitchFamily="34" charset="-122"/>
                <a:cs typeface="Calibri" pitchFamily="34" charset="-120"/>
              </a:rPr>
            </a:br>
            <a:r>
              <a:rPr lang="es-CO" noProof="0" dirty="0">
                <a:solidFill>
                  <a:srgbClr val="8B93A1"/>
                </a:solidFill>
                <a:latin typeface="Calibri" pitchFamily="34" charset="0"/>
                <a:ea typeface="Calibri" pitchFamily="34" charset="-122"/>
                <a:cs typeface="Calibri" pitchFamily="34" charset="-120"/>
              </a:rPr>
              <a:t>DANIELA CARDONA LOPERA</a:t>
            </a:r>
            <a:endParaRPr lang="es-CO" noProof="0" dirty="0"/>
          </a:p>
        </p:txBody>
      </p:sp>
      <p:sp>
        <p:nvSpPr>
          <p:cNvPr id="6" name="Text 4"/>
          <p:cNvSpPr/>
          <p:nvPr/>
        </p:nvSpPr>
        <p:spPr>
          <a:xfrm>
            <a:off x="822960" y="5897880"/>
            <a:ext cx="7315200" cy="365760"/>
          </a:xfrm>
          <a:prstGeom prst="rect">
            <a:avLst/>
          </a:prstGeom>
          <a:noFill/>
          <a:ln/>
        </p:spPr>
        <p:txBody>
          <a:bodyPr wrap="square" lIns="0" tIns="0" rIns="0" bIns="0" rtlCol="0" anchor="ctr"/>
          <a:lstStyle/>
          <a:p>
            <a:pPr marL="0" indent="0">
              <a:buNone/>
            </a:pPr>
            <a:r>
              <a:rPr lang="es-CO" sz="1300" noProof="0" dirty="0">
                <a:solidFill>
                  <a:srgbClr val="C9CDD4"/>
                </a:solidFill>
                <a:latin typeface="Calibri" pitchFamily="34" charset="0"/>
                <a:ea typeface="Calibri" pitchFamily="34" charset="-122"/>
                <a:cs typeface="Calibri" pitchFamily="34" charset="-120"/>
              </a:rPr>
              <a:t>Jorge · Julio de 2026</a:t>
            </a:r>
            <a:endParaRPr lang="es-CO" sz="13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2</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1 · PREPARACIÓN DE LOS DATOS</a:t>
            </a:r>
            <a:endParaRPr lang="es-CO" sz="1100" noProof="0" dirty="0"/>
          </a:p>
        </p:txBody>
      </p:sp>
      <p:sp>
        <p:nvSpPr>
          <p:cNvPr id="5" name="Text 3"/>
          <p:cNvSpPr/>
          <p:nvPr/>
        </p:nvSpPr>
        <p:spPr>
          <a:xfrm>
            <a:off x="502920" y="566928"/>
            <a:ext cx="640080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Área de análisis y selección de muestras</a:t>
            </a:r>
            <a:endParaRPr lang="es-CO" sz="2600" noProof="0" dirty="0"/>
          </a:p>
        </p:txBody>
      </p:sp>
      <p:pic>
        <p:nvPicPr>
          <p:cNvPr id="6" name="Image 0" descr="img/Figura_01_Delimitacion_Espacial_Area_Analisis.png"/>
          <p:cNvPicPr>
            <a:picLocks noChangeAspect="1"/>
          </p:cNvPicPr>
          <p:nvPr/>
        </p:nvPicPr>
        <p:blipFill>
          <a:blip r:embed="rId3"/>
          <a:stretch>
            <a:fillRect/>
          </a:stretch>
        </p:blipFill>
        <p:spPr>
          <a:xfrm>
            <a:off x="6400800" y="700430"/>
            <a:ext cx="5486400" cy="5502859"/>
          </a:xfrm>
          <a:prstGeom prst="rect">
            <a:avLst/>
          </a:prstGeom>
        </p:spPr>
      </p:pic>
      <p:sp>
        <p:nvSpPr>
          <p:cNvPr id="7" name="Text 4"/>
          <p:cNvSpPr/>
          <p:nvPr/>
        </p:nvSpPr>
        <p:spPr>
          <a:xfrm>
            <a:off x="502920" y="1554480"/>
            <a:ext cx="5943600" cy="2011680"/>
          </a:xfrm>
          <a:prstGeom prst="rect">
            <a:avLst/>
          </a:prstGeom>
          <a:noFill/>
          <a:ln/>
        </p:spPr>
        <p:txBody>
          <a:bodyPr wrap="square" lIns="0" tIns="0" rIns="0" bIns="0" rtlCol="0" anchor="t"/>
          <a:lstStyle/>
          <a:p>
            <a:pPr marL="152400" indent="-152400">
              <a:spcAft>
                <a:spcPts val="800"/>
              </a:spcAft>
              <a:buSzPct val="100000"/>
              <a:buChar char="•"/>
            </a:pPr>
            <a:r>
              <a:rPr lang="es-CO" sz="1300" noProof="0" dirty="0">
                <a:solidFill>
                  <a:srgbClr val="1F2430"/>
                </a:solidFill>
                <a:latin typeface="Calibri" pitchFamily="34" charset="0"/>
                <a:ea typeface="Calibri" pitchFamily="34" charset="-122"/>
                <a:cs typeface="Calibri" pitchFamily="34" charset="-120"/>
              </a:rPr>
              <a:t>Base geoquímica de Cu del Suroeste antioqueño integrada con la cartografía municipal, geológica y estructural del SGC.</a:t>
            </a:r>
            <a:endParaRPr lang="es-CO" sz="1300" noProof="0" dirty="0"/>
          </a:p>
          <a:p>
            <a:pPr marL="152400" indent="-152400">
              <a:spcAft>
                <a:spcPts val="800"/>
              </a:spcAft>
              <a:buSzPct val="100000"/>
              <a:buChar char="•"/>
            </a:pPr>
            <a:r>
              <a:rPr lang="es-CO" sz="1300" noProof="0" dirty="0">
                <a:solidFill>
                  <a:srgbClr val="1F2430"/>
                </a:solidFill>
                <a:latin typeface="Calibri" pitchFamily="34" charset="0"/>
                <a:ea typeface="Calibri" pitchFamily="34" charset="-122"/>
                <a:cs typeface="Calibri" pitchFamily="34" charset="-120"/>
              </a:rPr>
              <a:t>Sistema de referencia unificado: EPSG:21897 (Bogotá 1975 / Colombia West </a:t>
            </a:r>
            <a:r>
              <a:rPr lang="es-CO" sz="1300" noProof="0" dirty="0" err="1">
                <a:solidFill>
                  <a:srgbClr val="1F2430"/>
                </a:solidFill>
                <a:latin typeface="Calibri" pitchFamily="34" charset="0"/>
                <a:ea typeface="Calibri" pitchFamily="34" charset="-122"/>
                <a:cs typeface="Calibri" pitchFamily="34" charset="-120"/>
              </a:rPr>
              <a:t>zone</a:t>
            </a:r>
            <a:r>
              <a:rPr lang="es-CO" sz="1300" noProof="0" dirty="0">
                <a:solidFill>
                  <a:srgbClr val="1F2430"/>
                </a:solidFill>
                <a:latin typeface="Calibri" pitchFamily="34" charset="0"/>
                <a:ea typeface="Calibri" pitchFamily="34" charset="-122"/>
                <a:cs typeface="Calibri" pitchFamily="34" charset="-120"/>
              </a:rPr>
              <a:t>).</a:t>
            </a:r>
            <a:endParaRPr lang="es-CO" sz="1300" noProof="0" dirty="0"/>
          </a:p>
          <a:p>
            <a:pPr marL="152400" indent="-152400">
              <a:spcAft>
                <a:spcPts val="800"/>
              </a:spcAft>
              <a:buSzPct val="100000"/>
              <a:buChar char="•"/>
            </a:pPr>
            <a:r>
              <a:rPr lang="es-CO" sz="1300" noProof="0" dirty="0">
                <a:solidFill>
                  <a:srgbClr val="1F2430"/>
                </a:solidFill>
                <a:latin typeface="Calibri" pitchFamily="34" charset="0"/>
                <a:ea typeface="Calibri" pitchFamily="34" charset="-122"/>
                <a:cs typeface="Calibri" pitchFamily="34" charset="-120"/>
              </a:rPr>
              <a:t>El polígono de los 23 municipios define el área de análisis y filtra las muestras válidas.</a:t>
            </a:r>
            <a:endParaRPr lang="es-CO" sz="1300" noProof="0" dirty="0"/>
          </a:p>
        </p:txBody>
      </p:sp>
      <p:graphicFrame>
        <p:nvGraphicFramePr>
          <p:cNvPr id="8" name="Table 0"/>
          <p:cNvGraphicFramePr>
            <a:graphicFrameLocks noGrp="1"/>
          </p:cNvGraphicFramePr>
          <p:nvPr>
            <p:extLst>
              <p:ext uri="{D42A27DB-BD31-4B8C-83A1-F6EECF244321}">
                <p14:modId xmlns:p14="http://schemas.microsoft.com/office/powerpoint/2010/main" val="3215591197"/>
              </p:ext>
            </p:extLst>
          </p:nvPr>
        </p:nvGraphicFramePr>
        <p:xfrm>
          <a:off x="502920" y="3794760"/>
          <a:ext cx="5577840" cy="1316736"/>
        </p:xfrm>
        <a:graphic>
          <a:graphicData uri="http://schemas.openxmlformats.org/drawingml/2006/table">
            <a:tbl>
              <a:tblPr/>
              <a:tblGrid>
                <a:gridCol w="33832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29184">
                <a:tc>
                  <a:txBody>
                    <a:bodyPr/>
                    <a:lstStyle/>
                    <a:p>
                      <a:pPr marL="0" indent="0" algn="l">
                        <a:buNone/>
                      </a:pPr>
                      <a:r>
                        <a:rPr lang="es-CO" sz="1200" b="1" noProof="0" dirty="0">
                          <a:solidFill>
                            <a:srgbClr val="FFFFFF"/>
                          </a:solidFill>
                          <a:latin typeface="Calibri" pitchFamily="34" charset="0"/>
                          <a:ea typeface="Calibri" pitchFamily="34" charset="-122"/>
                          <a:cs typeface="Calibri" pitchFamily="34" charset="-120"/>
                        </a:rPr>
                        <a:t>Etapa de selección</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l">
                        <a:buNone/>
                      </a:pPr>
                      <a:r>
                        <a:rPr lang="es-CO" sz="1200" b="1" noProof="0" dirty="0">
                          <a:solidFill>
                            <a:srgbClr val="FFFFFF"/>
                          </a:solidFill>
                          <a:latin typeface="Calibri" pitchFamily="34" charset="0"/>
                          <a:ea typeface="Calibri" pitchFamily="34" charset="-122"/>
                          <a:cs typeface="Calibri" pitchFamily="34" charset="-120"/>
                        </a:rPr>
                        <a:t>Cantidad</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l">
                        <a:buNone/>
                      </a:pPr>
                      <a:r>
                        <a:rPr lang="es-CO" sz="1200" b="1" noProof="0" dirty="0">
                          <a:solidFill>
                            <a:srgbClr val="FFFFFF"/>
                          </a:solidFill>
                          <a:latin typeface="Calibri" pitchFamily="34" charset="0"/>
                          <a:ea typeface="Calibri" pitchFamily="34" charset="-122"/>
                          <a:cs typeface="Calibri" pitchFamily="34" charset="-120"/>
                        </a:rPr>
                        <a:t>%</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extLst>
                  <a:ext uri="{0D108BD9-81ED-4DB2-BD59-A6C34878D82A}">
                    <a16:rowId xmlns:a16="http://schemas.microsoft.com/office/drawing/2014/main" val="10000"/>
                  </a:ext>
                </a:extLst>
              </a:tr>
              <a:tr h="329184">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Total inicial de muestras</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2,103</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100.0</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Excluidas (fuera del polígono)</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74</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3.52</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2"/>
                  </a:ext>
                </a:extLst>
              </a:tr>
              <a:tr h="329184">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Conservadas para el análisis</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2,029</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96.48</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5"/>
          <p:cNvSpPr/>
          <p:nvPr/>
        </p:nvSpPr>
        <p:spPr>
          <a:xfrm>
            <a:off x="502920" y="5349240"/>
            <a:ext cx="5577840" cy="274320"/>
          </a:xfrm>
          <a:prstGeom prst="rect">
            <a:avLst/>
          </a:prstGeom>
          <a:noFill/>
          <a:ln/>
        </p:spPr>
        <p:txBody>
          <a:bodyPr wrap="square" lIns="0" tIns="0" rIns="0" bIns="0" rtlCol="0" anchor="ctr"/>
          <a:lstStyle/>
          <a:p>
            <a:pPr marL="0" indent="0">
              <a:buNone/>
            </a:pPr>
            <a:r>
              <a:rPr lang="es-CO" sz="1000" i="1" noProof="0" dirty="0">
                <a:solidFill>
                  <a:srgbClr val="5B6472"/>
                </a:solidFill>
                <a:latin typeface="Calibri" pitchFamily="34" charset="0"/>
                <a:ea typeface="Calibri" pitchFamily="34" charset="-122"/>
                <a:cs typeface="Calibri" pitchFamily="34" charset="-120"/>
              </a:rPr>
              <a:t>Tabla 01. Selección de muestras dentro del área de análisis.</a:t>
            </a:r>
            <a:endParaRPr lang="es-CO" sz="10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3</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2 · INTRODUCCIÓN A LOS DATOS ESPACIALES</a:t>
            </a:r>
            <a:endParaRPr lang="es-CO" sz="1100" noProof="0" dirty="0"/>
          </a:p>
        </p:txBody>
      </p:sp>
      <p:sp>
        <p:nvSpPr>
          <p:cNvPr id="5" name="Text 3"/>
          <p:cNvSpPr/>
          <p:nvPr/>
        </p:nvSpPr>
        <p:spPr>
          <a:xfrm>
            <a:off x="502920" y="566928"/>
            <a:ext cx="1115568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Capas espaciales y modelo vectorial de datos</a:t>
            </a:r>
            <a:endParaRPr lang="es-CO" sz="2600" noProof="0" dirty="0"/>
          </a:p>
        </p:txBody>
      </p:sp>
      <p:graphicFrame>
        <p:nvGraphicFramePr>
          <p:cNvPr id="6" name="Table 0"/>
          <p:cNvGraphicFramePr>
            <a:graphicFrameLocks noGrp="1"/>
          </p:cNvGraphicFramePr>
          <p:nvPr>
            <p:extLst>
              <p:ext uri="{D42A27DB-BD31-4B8C-83A1-F6EECF244321}">
                <p14:modId xmlns:p14="http://schemas.microsoft.com/office/powerpoint/2010/main" val="402442136"/>
              </p:ext>
            </p:extLst>
          </p:nvPr>
        </p:nvGraphicFramePr>
        <p:xfrm>
          <a:off x="502920" y="1417320"/>
          <a:ext cx="11201400" cy="1645920"/>
        </p:xfrm>
        <a:graphic>
          <a:graphicData uri="http://schemas.openxmlformats.org/drawingml/2006/table">
            <a:tbl>
              <a:tblPr/>
              <a:tblGrid>
                <a:gridCol w="1828800">
                  <a:extLst>
                    <a:ext uri="{9D8B030D-6E8A-4147-A177-3AD203B41FA5}">
                      <a16:colId xmlns:a16="http://schemas.microsoft.com/office/drawing/2014/main" val="20000"/>
                    </a:ext>
                  </a:extLst>
                </a:gridCol>
                <a:gridCol w="49834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29184">
                <a:tc>
                  <a:txBody>
                    <a:bodyPr/>
                    <a:lstStyle/>
                    <a:p>
                      <a:pPr marL="0" indent="0" algn="l">
                        <a:buNone/>
                      </a:pPr>
                      <a:r>
                        <a:rPr lang="es-CO" sz="1200" b="1" noProof="0" dirty="0">
                          <a:solidFill>
                            <a:srgbClr val="FFFFFF"/>
                          </a:solidFill>
                          <a:latin typeface="Calibri" pitchFamily="34" charset="0"/>
                          <a:ea typeface="Calibri" pitchFamily="34" charset="-122"/>
                          <a:cs typeface="Calibri" pitchFamily="34" charset="-120"/>
                        </a:rPr>
                        <a:t>Capa</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l">
                        <a:buNone/>
                      </a:pPr>
                      <a:r>
                        <a:rPr lang="es-CO" sz="1200" b="1" noProof="0" dirty="0">
                          <a:solidFill>
                            <a:srgbClr val="FFFFFF"/>
                          </a:solidFill>
                          <a:latin typeface="Calibri" pitchFamily="34" charset="0"/>
                          <a:ea typeface="Calibri" pitchFamily="34" charset="-122"/>
                          <a:cs typeface="Calibri" pitchFamily="34" charset="-120"/>
                        </a:rPr>
                        <a:t>Descripción</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l">
                        <a:buNone/>
                      </a:pPr>
                      <a:r>
                        <a:rPr lang="es-CO" sz="1200" b="1" noProof="0" dirty="0">
                          <a:solidFill>
                            <a:srgbClr val="FFFFFF"/>
                          </a:solidFill>
                          <a:latin typeface="Calibri" pitchFamily="34" charset="0"/>
                          <a:ea typeface="Calibri" pitchFamily="34" charset="-122"/>
                          <a:cs typeface="Calibri" pitchFamily="34" charset="-120"/>
                        </a:rPr>
                        <a:t>Geometría</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l">
                        <a:buNone/>
                      </a:pPr>
                      <a:r>
                        <a:rPr lang="es-CO" sz="1200" b="1" noProof="0" dirty="0">
                          <a:solidFill>
                            <a:srgbClr val="FFFFFF"/>
                          </a:solidFill>
                          <a:latin typeface="Calibri" pitchFamily="34" charset="0"/>
                          <a:ea typeface="Calibri" pitchFamily="34" charset="-122"/>
                          <a:cs typeface="Calibri" pitchFamily="34" charset="-120"/>
                        </a:rPr>
                        <a:t>Registros</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l">
                        <a:buNone/>
                      </a:pPr>
                      <a:r>
                        <a:rPr lang="es-CO" sz="1200" b="1" noProof="0" dirty="0" err="1">
                          <a:solidFill>
                            <a:srgbClr val="FFFFFF"/>
                          </a:solidFill>
                          <a:latin typeface="Calibri" pitchFamily="34" charset="0"/>
                          <a:ea typeface="Calibri" pitchFamily="34" charset="-122"/>
                          <a:cs typeface="Calibri" pitchFamily="34" charset="-120"/>
                        </a:rPr>
                        <a:t>CRS</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extLst>
                  <a:ext uri="{0D108BD9-81ED-4DB2-BD59-A6C34878D82A}">
                    <a16:rowId xmlns:a16="http://schemas.microsoft.com/office/drawing/2014/main" val="10000"/>
                  </a:ext>
                </a:extLst>
              </a:tr>
              <a:tr h="329184">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Muestras de Cu</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Localización de muestras geoquímicas de cobre</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Punto</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2,029</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EPSG:21897</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Fallas</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Estructuras geológicas y tectónicas</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Línea</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475</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EPSG:21897</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2"/>
                  </a:ext>
                </a:extLst>
              </a:tr>
              <a:tr h="329184">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Geología</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Distribución de unidades litológicas</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Polígono</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658</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EPSG:21897</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Municipios</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Divisiones administrativas del área de estudio</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Polígono</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23</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00" noProof="0" dirty="0">
                          <a:solidFill>
                            <a:srgbClr val="1F2430"/>
                          </a:solidFill>
                          <a:latin typeface="Calibri" pitchFamily="34" charset="0"/>
                          <a:ea typeface="Calibri" pitchFamily="34" charset="-122"/>
                          <a:cs typeface="Calibri" pitchFamily="34" charset="-120"/>
                        </a:rPr>
                        <a:t>EPSG:21897</a:t>
                      </a:r>
                      <a:endParaRPr lang="es-CO" sz="12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4"/>
                  </a:ext>
                </a:extLst>
              </a:tr>
            </a:tbl>
          </a:graphicData>
        </a:graphic>
      </p:graphicFrame>
      <p:pic>
        <p:nvPicPr>
          <p:cNvPr id="7" name="Image 0" descr="img/Figura_03_Modelo_Datos_Vectorial_Puntos_Lineas_Poligonos.png"/>
          <p:cNvPicPr>
            <a:picLocks noChangeAspect="1"/>
          </p:cNvPicPr>
          <p:nvPr/>
        </p:nvPicPr>
        <p:blipFill>
          <a:blip r:embed="rId3"/>
          <a:stretch>
            <a:fillRect/>
          </a:stretch>
        </p:blipFill>
        <p:spPr>
          <a:xfrm>
            <a:off x="2655153" y="3429000"/>
            <a:ext cx="6896934" cy="2834640"/>
          </a:xfrm>
          <a:prstGeom prst="rect">
            <a:avLst/>
          </a:prstGeom>
        </p:spPr>
      </p:pic>
      <p:sp>
        <p:nvSpPr>
          <p:cNvPr id="8" name="Text 4"/>
          <p:cNvSpPr/>
          <p:nvPr/>
        </p:nvSpPr>
        <p:spPr>
          <a:xfrm>
            <a:off x="502920" y="6355080"/>
            <a:ext cx="10058400" cy="274320"/>
          </a:xfrm>
          <a:prstGeom prst="rect">
            <a:avLst/>
          </a:prstGeom>
          <a:noFill/>
          <a:ln/>
        </p:spPr>
        <p:txBody>
          <a:bodyPr wrap="square" lIns="0" tIns="0" rIns="0" bIns="0" rtlCol="0" anchor="ctr"/>
          <a:lstStyle/>
          <a:p>
            <a:pPr marL="0" indent="0">
              <a:buNone/>
            </a:pPr>
            <a:r>
              <a:rPr lang="es-CO" sz="1000" i="1" noProof="0" dirty="0">
                <a:solidFill>
                  <a:srgbClr val="5B6472"/>
                </a:solidFill>
                <a:latin typeface="Calibri" pitchFamily="34" charset="0"/>
                <a:ea typeface="Calibri" pitchFamily="34" charset="-122"/>
                <a:cs typeface="Calibri" pitchFamily="34" charset="-120"/>
              </a:rPr>
              <a:t>Tabla 02 y Figura 03. Caracterización de las capas y geometrías del modelo vectorial: puntos, líneas y polígonos.</a:t>
            </a:r>
            <a:endParaRPr lang="es-CO" sz="10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F2430"/>
        </a:solidFill>
        <a:effectLst/>
      </p:bgPr>
    </p:bg>
    <p:spTree>
      <p:nvGrpSpPr>
        <p:cNvPr id="1" name="">
          <a:extLst>
            <a:ext uri="{FF2B5EF4-FFF2-40B4-BE49-F238E27FC236}">
              <a16:creationId xmlns:a16="http://schemas.microsoft.com/office/drawing/2014/main" id="{A56E41CB-3520-DDA0-2B1D-50B628864B3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1079A44-0270-6015-474B-6FF9CECE5ADD}"/>
              </a:ext>
            </a:extLst>
          </p:cNvPr>
          <p:cNvSpPr/>
          <p:nvPr/>
        </p:nvSpPr>
        <p:spPr>
          <a:xfrm>
            <a:off x="502920" y="6473952"/>
            <a:ext cx="5943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900" b="0" i="0" u="none" strike="noStrike" kern="1200" cap="none" spc="0" normalizeH="0" baseline="0" noProof="0" dirty="0">
                <a:ln>
                  <a:noFill/>
                </a:ln>
                <a:solidFill>
                  <a:srgbClr val="5B6472"/>
                </a:solidFill>
                <a:effectLst/>
                <a:uLnTx/>
                <a:uFillTx/>
                <a:latin typeface="Calibri" pitchFamily="34" charset="0"/>
                <a:ea typeface="Calibri" pitchFamily="34" charset="-122"/>
                <a:cs typeface="Calibri" pitchFamily="34" charset="-120"/>
              </a:rPr>
              <a:t>Análisis geoespacial del Cu · Suroeste antioqueño</a:t>
            </a:r>
            <a:endParaRPr kumimoji="0" lang="es-CO"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D0B743C5-68AC-0B70-4B24-1D88A51594BF}"/>
              </a:ext>
            </a:extLst>
          </p:cNvPr>
          <p:cNvSpPr/>
          <p:nvPr/>
        </p:nvSpPr>
        <p:spPr>
          <a:xfrm>
            <a:off x="11277295"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CO" sz="900" b="0" i="0" u="none" strike="noStrike" kern="1200" cap="none" spc="0" normalizeH="0" baseline="0" noProof="0" dirty="0">
                <a:ln>
                  <a:noFill/>
                </a:ln>
                <a:solidFill>
                  <a:srgbClr val="5B6472"/>
                </a:solidFill>
                <a:effectLst/>
                <a:uLnTx/>
                <a:uFillTx/>
                <a:latin typeface="Calibri" pitchFamily="34" charset="0"/>
                <a:ea typeface="Calibri" pitchFamily="34" charset="-122"/>
                <a:cs typeface="Calibri" pitchFamily="34" charset="-120"/>
              </a:rPr>
              <a:t>9</a:t>
            </a:r>
            <a:endParaRPr kumimoji="0" lang="es-CO"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6CCBB551-72F1-8F04-D3B9-5C0BD4414115}"/>
              </a:ext>
            </a:extLst>
          </p:cNvPr>
          <p:cNvSpPr/>
          <p:nvPr/>
        </p:nvSpPr>
        <p:spPr>
          <a:xfrm>
            <a:off x="822960" y="1920240"/>
            <a:ext cx="10515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1500" b="1" i="0" u="none" strike="noStrike" kern="0" cap="none" spc="300" normalizeH="0" baseline="0" noProof="0" dirty="0">
                <a:ln>
                  <a:noFill/>
                </a:ln>
                <a:solidFill>
                  <a:srgbClr val="D89B6A"/>
                </a:solidFill>
                <a:effectLst/>
                <a:uLnTx/>
                <a:uFillTx/>
                <a:latin typeface="Calibri" pitchFamily="34" charset="0"/>
                <a:ea typeface="Calibri" pitchFamily="34" charset="-122"/>
                <a:cs typeface="Calibri" pitchFamily="34" charset="-120"/>
              </a:rPr>
              <a:t>CAPÍTULO 3</a:t>
            </a:r>
            <a:endParaRPr kumimoji="0" lang="es-CO"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466ABD08-7408-56D8-9188-E4C27796E75E}"/>
              </a:ext>
            </a:extLst>
          </p:cNvPr>
          <p:cNvSpPr/>
          <p:nvPr/>
        </p:nvSpPr>
        <p:spPr>
          <a:xfrm>
            <a:off x="990295" y="2971800"/>
            <a:ext cx="105156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3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Patrón espacial de las muestras recolectadas</a:t>
            </a:r>
            <a:endParaRPr kumimoji="0" lang="es-CO" sz="3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0216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5</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3 · PATRÓN DEL MUESTREO</a:t>
            </a:r>
            <a:endParaRPr lang="es-CO" sz="1100" noProof="0" dirty="0"/>
          </a:p>
        </p:txBody>
      </p:sp>
      <p:sp>
        <p:nvSpPr>
          <p:cNvPr id="5" name="Text 3"/>
          <p:cNvSpPr/>
          <p:nvPr/>
        </p:nvSpPr>
        <p:spPr>
          <a:xfrm>
            <a:off x="502920" y="566928"/>
            <a:ext cx="621792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Distribución espacial de las muestras</a:t>
            </a:r>
            <a:endParaRPr lang="es-CO" sz="2600" noProof="0" dirty="0"/>
          </a:p>
        </p:txBody>
      </p:sp>
      <p:pic>
        <p:nvPicPr>
          <p:cNvPr id="6" name="Image 0" descr="img/Figura_06_Distribucion_Espacial_Muestras_Histogramas_Marginales.png"/>
          <p:cNvPicPr>
            <a:picLocks noChangeAspect="1"/>
          </p:cNvPicPr>
          <p:nvPr/>
        </p:nvPicPr>
        <p:blipFill>
          <a:blip r:embed="rId3"/>
          <a:stretch>
            <a:fillRect/>
          </a:stretch>
        </p:blipFill>
        <p:spPr>
          <a:xfrm>
            <a:off x="5806440" y="632033"/>
            <a:ext cx="6126480" cy="5685373"/>
          </a:xfrm>
          <a:prstGeom prst="rect">
            <a:avLst/>
          </a:prstGeom>
        </p:spPr>
      </p:pic>
      <p:sp>
        <p:nvSpPr>
          <p:cNvPr id="7" name="Text 4"/>
          <p:cNvSpPr/>
          <p:nvPr/>
        </p:nvSpPr>
        <p:spPr>
          <a:xfrm>
            <a:off x="502920" y="2105778"/>
            <a:ext cx="5120640" cy="2646444"/>
          </a:xfrm>
          <a:prstGeom prst="rect">
            <a:avLst/>
          </a:prstGeom>
          <a:noFill/>
          <a:ln/>
        </p:spPr>
        <p:txBody>
          <a:bodyPr wrap="square" lIns="0" tIns="0" rIns="0" bIns="0" rtlCol="0" anchor="t"/>
          <a:lstStyle/>
          <a:p>
            <a:pPr marL="152400" indent="-152400">
              <a:spcAft>
                <a:spcPts val="800"/>
              </a:spcAft>
              <a:buSzPct val="100000"/>
              <a:buChar char="•"/>
            </a:pPr>
            <a:r>
              <a:rPr lang="es-CO" sz="1350" noProof="0" dirty="0">
                <a:solidFill>
                  <a:srgbClr val="1F2430"/>
                </a:solidFill>
                <a:latin typeface="Calibri" pitchFamily="34" charset="0"/>
                <a:ea typeface="Calibri" pitchFamily="34" charset="-122"/>
                <a:cs typeface="Calibri" pitchFamily="34" charset="-120"/>
              </a:rPr>
              <a:t>Las muestras no están distribuidas de manera uniforme en toda el área de studio: Hay zonas donde se tomaron muchas muestras y otras donde la cantidad es mucho menor.</a:t>
            </a:r>
          </a:p>
          <a:p>
            <a:pPr marL="152400" indent="-152400">
              <a:spcAft>
                <a:spcPts val="800"/>
              </a:spcAft>
              <a:buSzPct val="100000"/>
              <a:buChar char="•"/>
            </a:pPr>
            <a:r>
              <a:rPr lang="es-CO" sz="1350" noProof="0" dirty="0">
                <a:solidFill>
                  <a:srgbClr val="1F2430"/>
                </a:solidFill>
                <a:latin typeface="Calibri" pitchFamily="34" charset="0"/>
                <a:ea typeface="Calibri" pitchFamily="34" charset="-122"/>
                <a:cs typeface="Calibri" pitchFamily="34" charset="-120"/>
              </a:rPr>
              <a:t>Se observa mayor frecuencia de muestras hacia el occidente y el norte del área y en general el sector noroccidental (Urrao y su entorno) concentra la mayor parte del muestreo.</a:t>
            </a:r>
          </a:p>
          <a:p>
            <a:pPr marL="152400" indent="-152400">
              <a:spcAft>
                <a:spcPts val="800"/>
              </a:spcAft>
              <a:buSzPct val="100000"/>
              <a:buChar char="•"/>
            </a:pPr>
            <a:r>
              <a:rPr lang="es-CO" sz="1350" noProof="0" dirty="0">
                <a:solidFill>
                  <a:srgbClr val="1F2430"/>
                </a:solidFill>
                <a:latin typeface="Calibri" pitchFamily="34" charset="0"/>
                <a:ea typeface="Calibri" pitchFamily="34" charset="-122"/>
                <a:cs typeface="Calibri" pitchFamily="34" charset="-120"/>
              </a:rPr>
              <a:t>El costado oriental (Fredonia, Santa Bárbara, La Pintada) presenta densidades bajas.</a:t>
            </a:r>
          </a:p>
          <a:p>
            <a:pPr marL="152400" indent="-152400">
              <a:spcAft>
                <a:spcPts val="800"/>
              </a:spcAft>
              <a:buSzPct val="100000"/>
              <a:buChar char="•"/>
            </a:pPr>
            <a:r>
              <a:rPr lang="es-CO" sz="1350" noProof="0" dirty="0">
                <a:solidFill>
                  <a:srgbClr val="1F2430"/>
                </a:solidFill>
                <a:latin typeface="Calibri" pitchFamily="34" charset="0"/>
                <a:ea typeface="Calibri" pitchFamily="34" charset="-122"/>
                <a:cs typeface="Calibri" pitchFamily="34" charset="-120"/>
              </a:rPr>
              <a:t>Esta heterogeneidad justifica el uso de otros análisis espaciales como centrografía, densidad Kernel y vecino más cercano para describir el patrón.</a:t>
            </a:r>
          </a:p>
          <a:p>
            <a:pPr>
              <a:spcAft>
                <a:spcPts val="800"/>
              </a:spcAft>
              <a:buSzPct val="100000"/>
            </a:pPr>
            <a:endParaRPr lang="es-CO" sz="1350" noProof="0" dirty="0">
              <a:solidFill>
                <a:srgbClr val="1F2430"/>
              </a:solidFill>
              <a:latin typeface="Calibri" pitchFamily="34" charset="0"/>
              <a:ea typeface="Calibri" pitchFamily="34" charset="-122"/>
              <a:cs typeface="Calibri"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4</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3 · PATRÓN DEL MUESTREO</a:t>
            </a:r>
            <a:endParaRPr lang="es-CO" sz="1100" noProof="0" dirty="0"/>
          </a:p>
        </p:txBody>
      </p:sp>
      <p:sp>
        <p:nvSpPr>
          <p:cNvPr id="5" name="Text 3"/>
          <p:cNvSpPr/>
          <p:nvPr/>
        </p:nvSpPr>
        <p:spPr>
          <a:xfrm>
            <a:off x="502920" y="566928"/>
            <a:ext cx="1115568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Naturaleza del muestreo</a:t>
            </a:r>
            <a:endParaRPr lang="es-CO" sz="2600" noProof="0" dirty="0"/>
          </a:p>
        </p:txBody>
      </p:sp>
      <p:pic>
        <p:nvPicPr>
          <p:cNvPr id="6" name="Image 0" descr="img/Figura_05_Comparacion_Muestreo_Regular_Irregular.png"/>
          <p:cNvPicPr>
            <a:picLocks noChangeAspect="1"/>
          </p:cNvPicPr>
          <p:nvPr/>
        </p:nvPicPr>
        <p:blipFill>
          <a:blip r:embed="rId3"/>
          <a:stretch>
            <a:fillRect/>
          </a:stretch>
        </p:blipFill>
        <p:spPr>
          <a:xfrm>
            <a:off x="1961034" y="1463040"/>
            <a:ext cx="8239452" cy="4206240"/>
          </a:xfrm>
          <a:prstGeom prst="rect">
            <a:avLst/>
          </a:prstGeom>
        </p:spPr>
      </p:pic>
      <p:sp>
        <p:nvSpPr>
          <p:cNvPr id="7" name="Shape 4"/>
          <p:cNvSpPr/>
          <p:nvPr/>
        </p:nvSpPr>
        <p:spPr>
          <a:xfrm>
            <a:off x="329609" y="5806440"/>
            <a:ext cx="11568224" cy="566928"/>
          </a:xfrm>
          <a:prstGeom prst="roundRect">
            <a:avLst>
              <a:gd name="adj" fmla="val 9677"/>
            </a:avLst>
          </a:prstGeom>
          <a:solidFill>
            <a:srgbClr val="F4F1EE"/>
          </a:solidFill>
          <a:ln w="9525">
            <a:solidFill>
              <a:srgbClr val="D8D2CC"/>
            </a:solidFill>
            <a:prstDash val="solid"/>
          </a:ln>
        </p:spPr>
        <p:txBody>
          <a:bodyPr/>
          <a:lstStyle/>
          <a:p>
            <a:endParaRPr lang="es-CO" noProof="0" dirty="0"/>
          </a:p>
        </p:txBody>
      </p:sp>
      <p:sp>
        <p:nvSpPr>
          <p:cNvPr id="8" name="Text 5"/>
          <p:cNvSpPr/>
          <p:nvPr/>
        </p:nvSpPr>
        <p:spPr>
          <a:xfrm>
            <a:off x="502920" y="5806440"/>
            <a:ext cx="11155680" cy="566928"/>
          </a:xfrm>
          <a:prstGeom prst="rect">
            <a:avLst/>
          </a:prstGeom>
          <a:noFill/>
          <a:ln/>
        </p:spPr>
        <p:txBody>
          <a:bodyPr wrap="square" lIns="0" tIns="0" rIns="0" bIns="0" rtlCol="0" anchor="ctr"/>
          <a:lstStyle/>
          <a:p>
            <a:pPr marL="0" indent="0">
              <a:buNone/>
            </a:pPr>
            <a:r>
              <a:rPr lang="es-CO" sz="1250" b="1" noProof="0" dirty="0">
                <a:solidFill>
                  <a:srgbClr val="7E3D15"/>
                </a:solidFill>
                <a:latin typeface="Calibri" pitchFamily="34" charset="0"/>
                <a:ea typeface="Calibri" pitchFamily="34" charset="-122"/>
                <a:cs typeface="Calibri" pitchFamily="34" charset="-120"/>
              </a:rPr>
              <a:t>Lectura:  </a:t>
            </a:r>
            <a:r>
              <a:rPr lang="es-CO" sz="1250" noProof="0" dirty="0">
                <a:solidFill>
                  <a:srgbClr val="1F2430"/>
                </a:solidFill>
                <a:latin typeface="Calibri" pitchFamily="34" charset="0"/>
                <a:ea typeface="Calibri" pitchFamily="34" charset="-122"/>
                <a:cs typeface="Calibri" pitchFamily="34" charset="-120"/>
              </a:rPr>
              <a:t>El muestreo del estudio no sigue una malla regular: la separación entre sitios es no uniforme y está condicionada por drenajes y accesibilidad, lo que obliga a caracterizar el patrón antes de interpretarlo.</a:t>
            </a:r>
            <a:endParaRPr lang="es-CO" sz="125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0D9D61B-5187-BD80-9E70-B24DEDA76DC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F032FD6-E567-C9C2-3D7E-E17EEB380241}"/>
              </a:ext>
            </a:extLst>
          </p:cNvPr>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a:extLst>
              <a:ext uri="{FF2B5EF4-FFF2-40B4-BE49-F238E27FC236}">
                <a16:creationId xmlns:a16="http://schemas.microsoft.com/office/drawing/2014/main" id="{AB6C250F-98D6-3BD6-AAFE-991D33A9306F}"/>
              </a:ext>
            </a:extLst>
          </p:cNvPr>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5</a:t>
            </a:r>
            <a:endParaRPr lang="es-CO" sz="900" noProof="0" dirty="0"/>
          </a:p>
        </p:txBody>
      </p:sp>
      <p:sp>
        <p:nvSpPr>
          <p:cNvPr id="4" name="Text 2">
            <a:extLst>
              <a:ext uri="{FF2B5EF4-FFF2-40B4-BE49-F238E27FC236}">
                <a16:creationId xmlns:a16="http://schemas.microsoft.com/office/drawing/2014/main" id="{EA139B71-12BE-8D0C-37DE-2F617A045CF6}"/>
              </a:ext>
            </a:extLst>
          </p:cNvPr>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3 · PATRÓN DEL MUESTREO</a:t>
            </a:r>
            <a:endParaRPr lang="es-CO" sz="1100" noProof="0" dirty="0"/>
          </a:p>
        </p:txBody>
      </p:sp>
      <p:sp>
        <p:nvSpPr>
          <p:cNvPr id="5" name="Text 3">
            <a:extLst>
              <a:ext uri="{FF2B5EF4-FFF2-40B4-BE49-F238E27FC236}">
                <a16:creationId xmlns:a16="http://schemas.microsoft.com/office/drawing/2014/main" id="{C4340AC7-AA30-3C87-590D-3C69799E2BAF}"/>
              </a:ext>
            </a:extLst>
          </p:cNvPr>
          <p:cNvSpPr/>
          <p:nvPr/>
        </p:nvSpPr>
        <p:spPr>
          <a:xfrm>
            <a:off x="502920" y="566928"/>
            <a:ext cx="6217920" cy="658368"/>
          </a:xfrm>
          <a:prstGeom prst="rect">
            <a:avLst/>
          </a:prstGeom>
          <a:noFill/>
          <a:ln/>
        </p:spPr>
        <p:txBody>
          <a:bodyPr wrap="square" lIns="0" tIns="0" rIns="0" bIns="0" rtlCol="0" anchor="ctr"/>
          <a:lstStyle/>
          <a:p>
            <a:r>
              <a:rPr lang="es-CO" sz="2600" b="1" noProof="0" dirty="0">
                <a:solidFill>
                  <a:srgbClr val="1F2430"/>
                </a:solidFill>
                <a:latin typeface="Calibri" pitchFamily="34" charset="0"/>
                <a:ea typeface="Calibri" pitchFamily="34" charset="-122"/>
                <a:cs typeface="Calibri" pitchFamily="34" charset="-120"/>
              </a:rPr>
              <a:t>¿Qué vamos a analizar?</a:t>
            </a:r>
          </a:p>
        </p:txBody>
      </p:sp>
      <p:sp>
        <p:nvSpPr>
          <p:cNvPr id="7" name="Text 4">
            <a:extLst>
              <a:ext uri="{FF2B5EF4-FFF2-40B4-BE49-F238E27FC236}">
                <a16:creationId xmlns:a16="http://schemas.microsoft.com/office/drawing/2014/main" id="{128C7607-86F2-D2A7-0795-341869418FC8}"/>
              </a:ext>
            </a:extLst>
          </p:cNvPr>
          <p:cNvSpPr/>
          <p:nvPr/>
        </p:nvSpPr>
        <p:spPr>
          <a:xfrm>
            <a:off x="396595" y="1692278"/>
            <a:ext cx="7456790" cy="4315966"/>
          </a:xfrm>
          <a:prstGeom prst="rect">
            <a:avLst/>
          </a:prstGeom>
          <a:noFill/>
          <a:ln/>
        </p:spPr>
        <p:txBody>
          <a:bodyPr wrap="square" lIns="0" tIns="0" rIns="0" bIns="0" rtlCol="0" anchor="t"/>
          <a:lstStyle/>
          <a:p>
            <a:pPr>
              <a:spcAft>
                <a:spcPts val="800"/>
              </a:spcAft>
              <a:buSzPct val="100000"/>
            </a:pPr>
            <a:r>
              <a:rPr lang="es-CO" sz="1350" noProof="0" dirty="0">
                <a:solidFill>
                  <a:srgbClr val="1F2430"/>
                </a:solidFill>
                <a:latin typeface="Calibri" pitchFamily="34" charset="0"/>
                <a:ea typeface="Calibri" pitchFamily="34" charset="-122"/>
                <a:cs typeface="Calibri" pitchFamily="34" charset="-120"/>
              </a:rPr>
              <a:t>En este capítulo primero analizaremos el patrón del muestreo utilizando tres métodos espaciales comunes.</a:t>
            </a:r>
            <a:br>
              <a:rPr lang="es-CO" sz="1350" dirty="0">
                <a:solidFill>
                  <a:srgbClr val="1F2430"/>
                </a:solidFill>
                <a:latin typeface="Calibri" pitchFamily="34" charset="0"/>
                <a:ea typeface="Calibri" pitchFamily="34" charset="-122"/>
                <a:cs typeface="Calibri" pitchFamily="34" charset="-120"/>
              </a:rPr>
            </a:br>
            <a:r>
              <a:rPr lang="es-CO" sz="1350" dirty="0">
                <a:solidFill>
                  <a:srgbClr val="1F2430"/>
                </a:solidFill>
                <a:latin typeface="Calibri" pitchFamily="34" charset="0"/>
                <a:ea typeface="Calibri" pitchFamily="34" charset="-122"/>
                <a:cs typeface="Calibri" pitchFamily="34" charset="-120"/>
              </a:rPr>
              <a:t>1. Centrografía, 2) densidad Kernel y 3) vecino más cercano</a:t>
            </a:r>
          </a:p>
          <a:p>
            <a:pPr>
              <a:spcAft>
                <a:spcPts val="800"/>
              </a:spcAft>
              <a:buSzPct val="100000"/>
            </a:pPr>
            <a:r>
              <a:rPr lang="es-CO" sz="1350" noProof="0" dirty="0">
                <a:solidFill>
                  <a:srgbClr val="1F2430"/>
                </a:solidFill>
                <a:latin typeface="Calibri" pitchFamily="34" charset="0"/>
                <a:ea typeface="Calibri" pitchFamily="34" charset="-122"/>
                <a:cs typeface="Calibri" pitchFamily="34" charset="-120"/>
              </a:rPr>
              <a:t>Posteriormente aplicaremos esos mismos métodos a las anomalías de cobre y complementaremos el análisis con técnicas adicionales para estudiar su distribución y su relación con la geología y las fallas. </a:t>
            </a:r>
          </a:p>
          <a:p>
            <a:pPr>
              <a:spcAft>
                <a:spcPts val="800"/>
              </a:spcAft>
              <a:buSzPct val="100000"/>
            </a:pPr>
            <a:endParaRPr lang="es-CO" sz="1350" noProof="0" dirty="0">
              <a:solidFill>
                <a:srgbClr val="1F2430"/>
              </a:solidFill>
              <a:latin typeface="Calibri" pitchFamily="34" charset="0"/>
              <a:ea typeface="Calibri" pitchFamily="34" charset="-122"/>
              <a:cs typeface="Calibri" pitchFamily="34" charset="-120"/>
            </a:endParaRPr>
          </a:p>
          <a:p>
            <a:pPr>
              <a:spcAft>
                <a:spcPts val="800"/>
              </a:spcAft>
              <a:buSzPct val="100000"/>
            </a:pPr>
            <a:r>
              <a:rPr lang="es-CO" sz="1350" b="1" noProof="0" dirty="0">
                <a:solidFill>
                  <a:srgbClr val="1F2430"/>
                </a:solidFill>
                <a:latin typeface="Calibri" pitchFamily="34" charset="0"/>
                <a:ea typeface="Calibri" pitchFamily="34" charset="-122"/>
                <a:cs typeface="Calibri" pitchFamily="34" charset="-120"/>
              </a:rPr>
              <a:t>Patrón del muestreo (2.029 muestras)</a:t>
            </a:r>
          </a:p>
          <a:p>
            <a:pPr>
              <a:spcAft>
                <a:spcPts val="800"/>
              </a:spcAft>
              <a:buSzPct val="100000"/>
            </a:pPr>
            <a:r>
              <a:rPr lang="es-CO" sz="1600" b="1" noProof="0" dirty="0">
                <a:solidFill>
                  <a:srgbClr val="FF0000"/>
                </a:solidFill>
                <a:latin typeface="Calibri" pitchFamily="34" charset="0"/>
                <a:ea typeface="Calibri" pitchFamily="34" charset="-122"/>
                <a:cs typeface="Calibri" pitchFamily="34" charset="-120"/>
              </a:rPr>
              <a:t>¿dónde se tomaron las muestras?</a:t>
            </a:r>
          </a:p>
          <a:p>
            <a:pPr>
              <a:spcAft>
                <a:spcPts val="800"/>
              </a:spcAft>
              <a:buSzPct val="100000"/>
            </a:pPr>
            <a:r>
              <a:rPr lang="es-CO" sz="1350" noProof="0" dirty="0">
                <a:solidFill>
                  <a:srgbClr val="1F2430"/>
                </a:solidFill>
                <a:latin typeface="Calibri" pitchFamily="34" charset="0"/>
                <a:ea typeface="Calibri" pitchFamily="34" charset="-122"/>
                <a:cs typeface="Calibri" pitchFamily="34" charset="-120"/>
              </a:rPr>
              <a:t>Este análisis muestra cómo fue distribuido el trabajo de campo. Nos permite identificar si las muestras se concentraron en algunas zonas o si fueron tomadas de manera uniforme en todo el territorio.</a:t>
            </a:r>
          </a:p>
          <a:p>
            <a:pPr>
              <a:spcAft>
                <a:spcPts val="800"/>
              </a:spcAft>
              <a:buSzPct val="100000"/>
            </a:pPr>
            <a:endParaRPr lang="es-CO" sz="1350" noProof="0" dirty="0">
              <a:solidFill>
                <a:srgbClr val="1F2430"/>
              </a:solidFill>
              <a:latin typeface="Calibri" pitchFamily="34" charset="0"/>
              <a:ea typeface="Calibri" pitchFamily="34" charset="-122"/>
              <a:cs typeface="Calibri" pitchFamily="34" charset="-120"/>
            </a:endParaRPr>
          </a:p>
          <a:p>
            <a:pPr>
              <a:spcAft>
                <a:spcPts val="800"/>
              </a:spcAft>
              <a:buSzPct val="100000"/>
            </a:pPr>
            <a:r>
              <a:rPr lang="es-CO" sz="1350" b="1" noProof="0" dirty="0">
                <a:solidFill>
                  <a:srgbClr val="1F2430"/>
                </a:solidFill>
                <a:latin typeface="Calibri" pitchFamily="34" charset="0"/>
                <a:ea typeface="Calibri" pitchFamily="34" charset="-122"/>
                <a:cs typeface="Calibri" pitchFamily="34" charset="-120"/>
              </a:rPr>
              <a:t>Patrón de las anomalías (283 muestras)</a:t>
            </a:r>
          </a:p>
          <a:p>
            <a:r>
              <a:rPr lang="es-CO" sz="1600" b="1" noProof="0" dirty="0">
                <a:solidFill>
                  <a:srgbClr val="FF0000"/>
                </a:solidFill>
                <a:latin typeface="Calibri" pitchFamily="34" charset="0"/>
                <a:ea typeface="Calibri" pitchFamily="34" charset="-122"/>
                <a:cs typeface="Calibri" pitchFamily="34" charset="-120"/>
              </a:rPr>
              <a:t>¿Dónde se concentran las muestras con cobre anómalo?</a:t>
            </a:r>
          </a:p>
          <a:p>
            <a:endParaRPr lang="es-CO" sz="1600" b="1" noProof="0" dirty="0">
              <a:solidFill>
                <a:srgbClr val="FF0000"/>
              </a:solidFill>
              <a:latin typeface="Calibri" pitchFamily="34" charset="0"/>
              <a:ea typeface="Calibri" pitchFamily="34" charset="-122"/>
              <a:cs typeface="Calibri" pitchFamily="34" charset="-120"/>
            </a:endParaRPr>
          </a:p>
          <a:p>
            <a:r>
              <a:rPr lang="es-CO" sz="1350" noProof="0" dirty="0">
                <a:solidFill>
                  <a:srgbClr val="1F2430"/>
                </a:solidFill>
                <a:latin typeface="Calibri" pitchFamily="34" charset="0"/>
                <a:ea typeface="Calibri" pitchFamily="34" charset="-122"/>
                <a:cs typeface="Calibri" pitchFamily="34" charset="-120"/>
              </a:rPr>
              <a:t>Una vez identificado el muestreo, aplicamos los mismos métodos únicamente a las muestras que superan el umbral de anomalía para determinar si presentan un patrón espacial asociado a procesos geológicos.</a:t>
            </a:r>
          </a:p>
          <a:p>
            <a:r>
              <a:rPr lang="es-CO" sz="1350" noProof="0" dirty="0">
                <a:solidFill>
                  <a:srgbClr val="1F2430"/>
                </a:solidFill>
                <a:latin typeface="Calibri" pitchFamily="34" charset="0"/>
                <a:ea typeface="Calibri" pitchFamily="34" charset="-122"/>
                <a:cs typeface="Calibri" pitchFamily="34" charset="-120"/>
              </a:rPr>
              <a:t>Aquí analizamos la distribución del cobre anómalo, no el diseño del muestreo.</a:t>
            </a:r>
          </a:p>
          <a:p>
            <a:pPr>
              <a:spcAft>
                <a:spcPts val="800"/>
              </a:spcAft>
              <a:buSzPct val="100000"/>
            </a:pPr>
            <a:endParaRPr lang="es-CO" sz="1350" noProof="0" dirty="0">
              <a:solidFill>
                <a:srgbClr val="1F2430"/>
              </a:solidFill>
              <a:latin typeface="Calibri" pitchFamily="34" charset="0"/>
              <a:ea typeface="Calibri" pitchFamily="34" charset="-122"/>
              <a:cs typeface="Calibri" pitchFamily="34" charset="-120"/>
            </a:endParaRPr>
          </a:p>
        </p:txBody>
      </p:sp>
      <p:pic>
        <p:nvPicPr>
          <p:cNvPr id="11" name="Imagen 10">
            <a:extLst>
              <a:ext uri="{FF2B5EF4-FFF2-40B4-BE49-F238E27FC236}">
                <a16:creationId xmlns:a16="http://schemas.microsoft.com/office/drawing/2014/main" id="{7BE30C2B-88C8-CF49-326D-82E53E5F5639}"/>
              </a:ext>
            </a:extLst>
          </p:cNvPr>
          <p:cNvPicPr>
            <a:picLocks noChangeAspect="1"/>
          </p:cNvPicPr>
          <p:nvPr/>
        </p:nvPicPr>
        <p:blipFill>
          <a:blip r:embed="rId3"/>
          <a:srcRect r="11363"/>
          <a:stretch>
            <a:fillRect/>
          </a:stretch>
        </p:blipFill>
        <p:spPr>
          <a:xfrm>
            <a:off x="8649885" y="566928"/>
            <a:ext cx="2856010" cy="3436647"/>
          </a:xfrm>
          <a:prstGeom prst="rect">
            <a:avLst/>
          </a:prstGeom>
        </p:spPr>
      </p:pic>
      <p:pic>
        <p:nvPicPr>
          <p:cNvPr id="13" name="Imagen 12">
            <a:extLst>
              <a:ext uri="{FF2B5EF4-FFF2-40B4-BE49-F238E27FC236}">
                <a16:creationId xmlns:a16="http://schemas.microsoft.com/office/drawing/2014/main" id="{CC6D9D3A-1306-7DDE-C78E-56D21FCED254}"/>
              </a:ext>
            </a:extLst>
          </p:cNvPr>
          <p:cNvPicPr>
            <a:picLocks noChangeAspect="1"/>
          </p:cNvPicPr>
          <p:nvPr/>
        </p:nvPicPr>
        <p:blipFill>
          <a:blip r:embed="rId4"/>
          <a:stretch>
            <a:fillRect/>
          </a:stretch>
        </p:blipFill>
        <p:spPr>
          <a:xfrm>
            <a:off x="8332912" y="4140735"/>
            <a:ext cx="3666471" cy="2197342"/>
          </a:xfrm>
          <a:prstGeom prst="rect">
            <a:avLst/>
          </a:prstGeom>
        </p:spPr>
      </p:pic>
    </p:spTree>
    <p:extLst>
      <p:ext uri="{BB962C8B-B14F-4D97-AF65-F5344CB8AC3E}">
        <p14:creationId xmlns:p14="http://schemas.microsoft.com/office/powerpoint/2010/main" val="1604821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6</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3 · PATRÓN DEL MUESTREO</a:t>
            </a:r>
            <a:endParaRPr lang="es-CO" sz="1100" noProof="0" dirty="0"/>
          </a:p>
        </p:txBody>
      </p:sp>
      <p:sp>
        <p:nvSpPr>
          <p:cNvPr id="5" name="Text 3"/>
          <p:cNvSpPr/>
          <p:nvPr/>
        </p:nvSpPr>
        <p:spPr>
          <a:xfrm>
            <a:off x="502920" y="566928"/>
            <a:ext cx="621792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Centrografía del patrón de muestreo</a:t>
            </a:r>
            <a:endParaRPr lang="es-CO" sz="2600" noProof="0" dirty="0"/>
          </a:p>
        </p:txBody>
      </p:sp>
      <p:pic>
        <p:nvPicPr>
          <p:cNvPr id="6" name="Image 0" descr="img/Figura_07_Centrografia_Patron_Muestreo.png"/>
          <p:cNvPicPr>
            <a:picLocks noChangeAspect="1"/>
          </p:cNvPicPr>
          <p:nvPr/>
        </p:nvPicPr>
        <p:blipFill>
          <a:blip r:embed="rId3"/>
          <a:stretch>
            <a:fillRect/>
          </a:stretch>
        </p:blipFill>
        <p:spPr>
          <a:xfrm>
            <a:off x="5806440" y="560047"/>
            <a:ext cx="6126480" cy="5829346"/>
          </a:xfrm>
          <a:prstGeom prst="rect">
            <a:avLst/>
          </a:prstGeom>
        </p:spPr>
      </p:pic>
      <p:sp>
        <p:nvSpPr>
          <p:cNvPr id="7" name="Text 4"/>
          <p:cNvSpPr/>
          <p:nvPr/>
        </p:nvSpPr>
        <p:spPr>
          <a:xfrm>
            <a:off x="436998" y="1652802"/>
            <a:ext cx="5120640" cy="2651760"/>
          </a:xfrm>
          <a:prstGeom prst="rect">
            <a:avLst/>
          </a:prstGeom>
          <a:noFill/>
          <a:ln/>
        </p:spPr>
        <p:txBody>
          <a:bodyPr wrap="square" lIns="0" tIns="0" rIns="0" bIns="0" rtlCol="0" anchor="t"/>
          <a:lstStyle/>
          <a:p>
            <a:pPr marL="152400" indent="-152400">
              <a:spcAft>
                <a:spcPts val="800"/>
              </a:spcAft>
              <a:buSzPct val="100000"/>
              <a:buChar char="•"/>
            </a:pPr>
            <a:r>
              <a:rPr lang="es-CO" sz="1350" noProof="0" dirty="0">
                <a:solidFill>
                  <a:srgbClr val="1F2430"/>
                </a:solidFill>
                <a:latin typeface="Calibri" pitchFamily="34" charset="0"/>
                <a:ea typeface="Calibri" pitchFamily="34" charset="-122"/>
                <a:cs typeface="Calibri" pitchFamily="34" charset="-120"/>
              </a:rPr>
              <a:t>El centro medio representa el punto alrededor del cual se distribuyen las 2.029 muestras.</a:t>
            </a:r>
          </a:p>
          <a:p>
            <a:pPr marL="152400" indent="-152400">
              <a:spcAft>
                <a:spcPts val="800"/>
              </a:spcAft>
              <a:buSzPct val="100000"/>
              <a:buChar char="•"/>
            </a:pPr>
            <a:r>
              <a:rPr lang="es-CO" sz="1350" noProof="0" dirty="0">
                <a:solidFill>
                  <a:srgbClr val="1F2430"/>
                </a:solidFill>
                <a:latin typeface="Calibri" pitchFamily="34" charset="0"/>
                <a:ea typeface="Calibri" pitchFamily="34" charset="-122"/>
                <a:cs typeface="Calibri" pitchFamily="34" charset="-120"/>
              </a:rPr>
              <a:t>El centro mediano se desplaza ligeramente hacia el noroccidente, indicando una mayor concentración de muestras en esa zona.</a:t>
            </a:r>
          </a:p>
          <a:p>
            <a:pPr marL="152400" indent="-152400">
              <a:spcAft>
                <a:spcPts val="800"/>
              </a:spcAft>
              <a:buSzPct val="100000"/>
              <a:buChar char="•"/>
            </a:pPr>
            <a:r>
              <a:rPr lang="es-CO" sz="1350" noProof="0" dirty="0">
                <a:solidFill>
                  <a:srgbClr val="1F2430"/>
                </a:solidFill>
                <a:latin typeface="Calibri" pitchFamily="34" charset="0"/>
                <a:ea typeface="Calibri" pitchFamily="34" charset="-122"/>
                <a:cs typeface="Calibri" pitchFamily="34" charset="-120"/>
              </a:rPr>
              <a:t>La distancia estándar muestra que la mayor parte del muestreo se concentra dentro de un radio aproximado de 45 km alrededor del centro medio.</a:t>
            </a:r>
          </a:p>
          <a:p>
            <a:pPr marL="152400" indent="-152400">
              <a:spcAft>
                <a:spcPts val="800"/>
              </a:spcAft>
              <a:buSzPct val="100000"/>
              <a:buChar char="•"/>
            </a:pPr>
            <a:r>
              <a:rPr lang="es-CO" sz="1350" noProof="0" dirty="0">
                <a:solidFill>
                  <a:srgbClr val="1F2430"/>
                </a:solidFill>
                <a:latin typeface="Calibri" pitchFamily="34" charset="0"/>
                <a:ea typeface="Calibri" pitchFamily="34" charset="-122"/>
                <a:cs typeface="Calibri" pitchFamily="34" charset="-120"/>
              </a:rPr>
              <a:t>La elipse estándar muestra que el muestreo se distribuye principalmente en dirección noroeste–sureste, siguiendo la forma alargada del área de estudio.</a:t>
            </a:r>
          </a:p>
        </p:txBody>
      </p:sp>
      <p:sp>
        <p:nvSpPr>
          <p:cNvPr id="8" name="Shape 5"/>
          <p:cNvSpPr/>
          <p:nvPr/>
        </p:nvSpPr>
        <p:spPr>
          <a:xfrm>
            <a:off x="396807" y="5455564"/>
            <a:ext cx="5120640" cy="816079"/>
          </a:xfrm>
          <a:prstGeom prst="roundRect">
            <a:avLst>
              <a:gd name="adj" fmla="val 9677"/>
            </a:avLst>
          </a:prstGeom>
          <a:solidFill>
            <a:srgbClr val="F4F1EE"/>
          </a:solidFill>
          <a:ln w="9525">
            <a:solidFill>
              <a:srgbClr val="D8D2CC"/>
            </a:solidFill>
            <a:prstDash val="solid"/>
          </a:ln>
        </p:spPr>
        <p:txBody>
          <a:bodyPr/>
          <a:lstStyle/>
          <a:p>
            <a:endParaRPr lang="es-CO" noProof="0" dirty="0"/>
          </a:p>
        </p:txBody>
      </p:sp>
      <p:sp>
        <p:nvSpPr>
          <p:cNvPr id="9" name="Text 6"/>
          <p:cNvSpPr/>
          <p:nvPr/>
        </p:nvSpPr>
        <p:spPr>
          <a:xfrm>
            <a:off x="725991" y="5396082"/>
            <a:ext cx="4791456" cy="875561"/>
          </a:xfrm>
          <a:prstGeom prst="rect">
            <a:avLst/>
          </a:prstGeom>
          <a:noFill/>
          <a:ln/>
        </p:spPr>
        <p:txBody>
          <a:bodyPr wrap="square" lIns="0" tIns="0" rIns="0" bIns="0" rtlCol="0" anchor="ctr"/>
          <a:lstStyle/>
          <a:p>
            <a:r>
              <a:rPr lang="es-CO" sz="1250" b="1" noProof="0" dirty="0">
                <a:solidFill>
                  <a:srgbClr val="7E3D15"/>
                </a:solidFill>
                <a:latin typeface="Calibri" pitchFamily="34" charset="0"/>
                <a:ea typeface="Calibri" pitchFamily="34" charset="-122"/>
                <a:cs typeface="Calibri" pitchFamily="34" charset="-120"/>
              </a:rPr>
              <a:t>Lectura: </a:t>
            </a:r>
            <a:r>
              <a:rPr lang="es-CO" sz="1350" noProof="0" dirty="0">
                <a:solidFill>
                  <a:srgbClr val="1F2430"/>
                </a:solidFill>
                <a:latin typeface="Calibri" pitchFamily="34" charset="0"/>
                <a:ea typeface="Calibri" pitchFamily="34" charset="-122"/>
                <a:cs typeface="Calibri" pitchFamily="34" charset="-120"/>
              </a:rPr>
              <a:t>la centrografía resume cómo están distribuidas las muestras mediante tres elementos: un centro, una medida de dispersión y una dirección predominante.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7</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3 · PATRÓN DEL MUESTREO</a:t>
            </a:r>
            <a:endParaRPr lang="es-CO" sz="1100" noProof="0" dirty="0"/>
          </a:p>
        </p:txBody>
      </p:sp>
      <p:sp>
        <p:nvSpPr>
          <p:cNvPr id="5" name="Text 3"/>
          <p:cNvSpPr/>
          <p:nvPr/>
        </p:nvSpPr>
        <p:spPr>
          <a:xfrm>
            <a:off x="502920" y="566928"/>
            <a:ext cx="621792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Densidad Kernel del patrón de muestreo</a:t>
            </a:r>
            <a:endParaRPr lang="es-CO" sz="2600" noProof="0" dirty="0"/>
          </a:p>
        </p:txBody>
      </p:sp>
      <p:pic>
        <p:nvPicPr>
          <p:cNvPr id="6" name="Image 0" descr="img/Figura_09_Densidad_Kernel_Patron_Muestreo.png"/>
          <p:cNvPicPr>
            <a:picLocks noChangeAspect="1"/>
          </p:cNvPicPr>
          <p:nvPr/>
        </p:nvPicPr>
        <p:blipFill>
          <a:blip r:embed="rId3"/>
          <a:stretch>
            <a:fillRect/>
          </a:stretch>
        </p:blipFill>
        <p:spPr>
          <a:xfrm>
            <a:off x="5877895" y="1063256"/>
            <a:ext cx="5856600" cy="5227016"/>
          </a:xfrm>
          <a:prstGeom prst="rect">
            <a:avLst/>
          </a:prstGeom>
        </p:spPr>
      </p:pic>
      <p:sp>
        <p:nvSpPr>
          <p:cNvPr id="7" name="Text 4"/>
          <p:cNvSpPr/>
          <p:nvPr/>
        </p:nvSpPr>
        <p:spPr>
          <a:xfrm>
            <a:off x="502920" y="1691640"/>
            <a:ext cx="4937760" cy="3108960"/>
          </a:xfrm>
          <a:prstGeom prst="rect">
            <a:avLst/>
          </a:prstGeom>
          <a:noFill/>
          <a:ln/>
        </p:spPr>
        <p:txBody>
          <a:bodyPr wrap="square" lIns="0" tIns="0" rIns="0" bIns="0" rtlCol="0" anchor="t"/>
          <a:lstStyle/>
          <a:p>
            <a:r>
              <a:rPr lang="es-CO" sz="1400" noProof="0" dirty="0"/>
              <a:t>Este mapa no representa la concentración de cobre. Representa únicamente la intensidad del muestreo, es decir, las zonas donde se tomaron más o menos muestras durante el trabajo de campo.</a:t>
            </a:r>
            <a:endParaRPr lang="es-CO" sz="1350" noProof="0" dirty="0">
              <a:solidFill>
                <a:srgbClr val="1F2430"/>
              </a:solidFill>
              <a:ea typeface="Calibri" pitchFamily="34" charset="-122"/>
              <a:cs typeface="Calibri" pitchFamily="34" charset="-120"/>
            </a:endParaRPr>
          </a:p>
          <a:p>
            <a:pPr marL="285750" indent="-285750">
              <a:buFont typeface="Arial" panose="020B0604020202020204" pitchFamily="34" charset="0"/>
              <a:buChar char="•"/>
            </a:pPr>
            <a:endParaRPr lang="es-CO" sz="1350" noProof="0" dirty="0">
              <a:solidFill>
                <a:srgbClr val="1F2430"/>
              </a:solidFill>
              <a:ea typeface="Calibri" pitchFamily="34" charset="-122"/>
              <a:cs typeface="Calibri" pitchFamily="34" charset="-120"/>
            </a:endParaRPr>
          </a:p>
          <a:p>
            <a:pPr marL="285750" indent="-285750">
              <a:buFont typeface="Arial" panose="020B0604020202020204" pitchFamily="34" charset="0"/>
              <a:buChar char="•"/>
            </a:pPr>
            <a:r>
              <a:rPr lang="es-CO" sz="1400" noProof="0" dirty="0"/>
              <a:t>Las zonas de color rojo indican donde se concentró la mayor cantidad de muestras. </a:t>
            </a:r>
          </a:p>
          <a:p>
            <a:pPr marL="285750" indent="-285750">
              <a:buFont typeface="Arial" panose="020B0604020202020204" pitchFamily="34" charset="0"/>
              <a:buChar char="•"/>
            </a:pPr>
            <a:r>
              <a:rPr lang="es-CO" sz="1400" noProof="0" dirty="0"/>
              <a:t>La mayor concentración se observa en el noroccidente, especialmente alrededor de Urrao y municipios cercanos.</a:t>
            </a:r>
          </a:p>
          <a:p>
            <a:pPr marL="285750" indent="-285750">
              <a:buFont typeface="Arial" panose="020B0604020202020204" pitchFamily="34" charset="0"/>
              <a:buChar char="•"/>
            </a:pPr>
            <a:r>
              <a:rPr lang="es-CO" sz="1400" noProof="0" dirty="0"/>
              <a:t>Hacia el oriente los colores son más claros, lo que indica que allí se tomaron menos muestras. </a:t>
            </a:r>
          </a:p>
          <a:p>
            <a:pPr marL="285750" indent="-285750">
              <a:buFont typeface="Arial" panose="020B0604020202020204" pitchFamily="34" charset="0"/>
              <a:buChar char="•"/>
            </a:pPr>
            <a:r>
              <a:rPr lang="es-CO" sz="1400" noProof="0" dirty="0"/>
              <a:t>Esto confirma que el muestreo no fue uniforme, sino que se concentró en sectores específicos del área de estudio.</a:t>
            </a:r>
          </a:p>
        </p:txBody>
      </p:sp>
      <p:sp>
        <p:nvSpPr>
          <p:cNvPr id="12" name="CuadroTexto 11">
            <a:extLst>
              <a:ext uri="{FF2B5EF4-FFF2-40B4-BE49-F238E27FC236}">
                <a16:creationId xmlns:a16="http://schemas.microsoft.com/office/drawing/2014/main" id="{0470781E-0179-17D9-129D-AB36B59DCD1D}"/>
              </a:ext>
            </a:extLst>
          </p:cNvPr>
          <p:cNvSpPr txBox="1"/>
          <p:nvPr/>
        </p:nvSpPr>
        <p:spPr>
          <a:xfrm>
            <a:off x="6634057" y="566928"/>
            <a:ext cx="4095661" cy="430887"/>
          </a:xfrm>
          <a:prstGeom prst="rect">
            <a:avLst/>
          </a:prstGeom>
          <a:noFill/>
        </p:spPr>
        <p:txBody>
          <a:bodyPr wrap="square">
            <a:spAutoFit/>
          </a:bodyPr>
          <a:lstStyle/>
          <a:p>
            <a:pPr algn="ctr"/>
            <a:r>
              <a:rPr lang="es-CO" sz="1100" noProof="0" dirty="0"/>
              <a:t>La centrografía nos dijo hacia dónde se orienta el muestreo; la densidad Kernel nos muestra dónde realmente se concentra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8</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3 · PATRÓN DEL MUESTREO</a:t>
            </a:r>
            <a:endParaRPr lang="es-CO" sz="1100" noProof="0" dirty="0"/>
          </a:p>
        </p:txBody>
      </p:sp>
      <p:sp>
        <p:nvSpPr>
          <p:cNvPr id="5" name="Text 3"/>
          <p:cNvSpPr/>
          <p:nvPr/>
        </p:nvSpPr>
        <p:spPr>
          <a:xfrm>
            <a:off x="502920" y="566928"/>
            <a:ext cx="1115568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Análisis del vecino más cercano (n = 2,029)</a:t>
            </a:r>
            <a:endParaRPr lang="es-CO" sz="2600" noProof="0" dirty="0"/>
          </a:p>
        </p:txBody>
      </p:sp>
      <p:graphicFrame>
        <p:nvGraphicFramePr>
          <p:cNvPr id="9" name="Table 0"/>
          <p:cNvGraphicFramePr>
            <a:graphicFrameLocks noGrp="1"/>
          </p:cNvGraphicFramePr>
          <p:nvPr>
            <p:extLst>
              <p:ext uri="{D42A27DB-BD31-4B8C-83A1-F6EECF244321}">
                <p14:modId xmlns:p14="http://schemas.microsoft.com/office/powerpoint/2010/main" val="3179822690"/>
              </p:ext>
            </p:extLst>
          </p:nvPr>
        </p:nvGraphicFramePr>
        <p:xfrm>
          <a:off x="761695" y="2096236"/>
          <a:ext cx="10515600" cy="3072384"/>
        </p:xfrm>
        <a:graphic>
          <a:graphicData uri="http://schemas.openxmlformats.org/drawingml/2006/table">
            <a:tbl>
              <a:tblPr/>
              <a:tblGrid>
                <a:gridCol w="32918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384048">
                <a:tc>
                  <a:txBody>
                    <a:bodyPr/>
                    <a:lstStyle/>
                    <a:p>
                      <a:pPr marL="0" indent="0" algn="l">
                        <a:buNone/>
                      </a:pPr>
                      <a:r>
                        <a:rPr lang="es-CO" sz="1250" b="1" noProof="0" dirty="0">
                          <a:solidFill>
                            <a:srgbClr val="FFFFFF"/>
                          </a:solidFill>
                          <a:latin typeface="Calibri" pitchFamily="34" charset="0"/>
                          <a:ea typeface="Calibri" pitchFamily="34" charset="-122"/>
                          <a:cs typeface="Calibri" pitchFamily="34" charset="-120"/>
                        </a:rPr>
                        <a:t>Parámetro</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l">
                        <a:buNone/>
                      </a:pPr>
                      <a:r>
                        <a:rPr lang="es-CO" sz="1250" b="1" noProof="0" dirty="0">
                          <a:solidFill>
                            <a:srgbClr val="FFFFFF"/>
                          </a:solidFill>
                          <a:latin typeface="Calibri" pitchFamily="34" charset="0"/>
                          <a:ea typeface="Calibri" pitchFamily="34" charset="-122"/>
                          <a:cs typeface="Calibri" pitchFamily="34" charset="-120"/>
                        </a:rPr>
                        <a:t>Valor</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l">
                        <a:buNone/>
                      </a:pPr>
                      <a:r>
                        <a:rPr lang="es-CO" sz="1250" b="1" noProof="0" dirty="0">
                          <a:solidFill>
                            <a:srgbClr val="FFFFFF"/>
                          </a:solidFill>
                          <a:latin typeface="Calibri" pitchFamily="34" charset="0"/>
                          <a:ea typeface="Calibri" pitchFamily="34" charset="-122"/>
                          <a:cs typeface="Calibri" pitchFamily="34" charset="-120"/>
                        </a:rPr>
                        <a:t>Interpretación</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extLst>
                  <a:ext uri="{0D108BD9-81ED-4DB2-BD59-A6C34878D82A}">
                    <a16:rowId xmlns:a16="http://schemas.microsoft.com/office/drawing/2014/main" val="10000"/>
                  </a:ext>
                </a:extLst>
              </a:tr>
              <a:tr h="384048">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Área de análisis</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6,366.1 km²</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Superficie del polígono de estudio</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Densidad media del muestreo</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0.319 muestras/km²</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Promedio de muestras por km²</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2"/>
                  </a:ext>
                </a:extLst>
              </a:tr>
              <a:tr h="384048">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Distancia media observada</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50" noProof="0" dirty="0">
                          <a:solidFill>
                            <a:srgbClr val="1F2430"/>
                          </a:solidFill>
                          <a:highlight>
                            <a:srgbClr val="FFFF00"/>
                          </a:highlight>
                          <a:latin typeface="Calibri" pitchFamily="34" charset="0"/>
                          <a:ea typeface="Calibri" pitchFamily="34" charset="-122"/>
                          <a:cs typeface="Calibri" pitchFamily="34" charset="-120"/>
                        </a:rPr>
                        <a:t>408.9 m</a:t>
                      </a:r>
                      <a:endParaRPr lang="es-CO" sz="1250" noProof="0" dirty="0">
                        <a:highlight>
                          <a:srgbClr val="FFFF00"/>
                        </a:highlight>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50" noProof="0" dirty="0">
                          <a:solidFill>
                            <a:srgbClr val="1F2430"/>
                          </a:solidFill>
                          <a:highlight>
                            <a:srgbClr val="FFFF00"/>
                          </a:highlight>
                          <a:latin typeface="Calibri" pitchFamily="34" charset="0"/>
                          <a:ea typeface="Calibri" pitchFamily="34" charset="-122"/>
                          <a:cs typeface="Calibri" pitchFamily="34" charset="-120"/>
                        </a:rPr>
                        <a:t>Distancia promedio al vecino más cercano</a:t>
                      </a:r>
                      <a:endParaRPr lang="es-CO" sz="1250" noProof="0" dirty="0">
                        <a:highlight>
                          <a:srgbClr val="FFFF00"/>
                        </a:highlight>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Distancia media esperada (</a:t>
                      </a:r>
                      <a:r>
                        <a:rPr lang="es-CO" sz="1250" noProof="0" dirty="0" err="1">
                          <a:solidFill>
                            <a:srgbClr val="1F2430"/>
                          </a:solidFill>
                          <a:latin typeface="Calibri" pitchFamily="34" charset="0"/>
                          <a:ea typeface="Calibri" pitchFamily="34" charset="-122"/>
                          <a:cs typeface="Calibri" pitchFamily="34" charset="-120"/>
                        </a:rPr>
                        <a:t>CSR</a:t>
                      </a:r>
                      <a:r>
                        <a:rPr lang="es-CO" sz="1250" noProof="0" dirty="0">
                          <a:solidFill>
                            <a:srgbClr val="1F2430"/>
                          </a:solidFill>
                          <a:latin typeface="Calibri" pitchFamily="34" charset="0"/>
                          <a:ea typeface="Calibri" pitchFamily="34" charset="-122"/>
                          <a:cs typeface="Calibri" pitchFamily="34" charset="-120"/>
                        </a:rPr>
                        <a:t>)</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885.7 m</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Distancia esperada bajo aleatoriedad espacial</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4"/>
                  </a:ext>
                </a:extLst>
              </a:tr>
              <a:tr h="384048">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Índice R de Clark y Evans</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0.462</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R &lt; 1 indica agrupamiento</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Estadístico Z</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−46.39</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Desviación frente al patrón aleatorio</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6"/>
                  </a:ext>
                </a:extLst>
              </a:tr>
              <a:tr h="384048">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Valor p</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 0</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250" noProof="0" dirty="0">
                          <a:solidFill>
                            <a:srgbClr val="1F2430"/>
                          </a:solidFill>
                          <a:latin typeface="Calibri" pitchFamily="34" charset="0"/>
                          <a:ea typeface="Calibri" pitchFamily="34" charset="-122"/>
                          <a:cs typeface="Calibri" pitchFamily="34" charset="-120"/>
                        </a:rPr>
                        <a:t>Diferencia estadísticamente significativa</a:t>
                      </a:r>
                      <a:endParaRPr lang="es-CO" sz="12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729343" y="5627914"/>
            <a:ext cx="10515600" cy="712797"/>
          </a:xfrm>
          <a:prstGeom prst="roundRect">
            <a:avLst>
              <a:gd name="adj" fmla="val 9677"/>
            </a:avLst>
          </a:prstGeom>
          <a:solidFill>
            <a:srgbClr val="F4F1EE"/>
          </a:solidFill>
          <a:ln w="9525">
            <a:solidFill>
              <a:srgbClr val="D8D2CC"/>
            </a:solidFill>
            <a:prstDash val="solid"/>
          </a:ln>
        </p:spPr>
        <p:txBody>
          <a:bodyPr/>
          <a:lstStyle/>
          <a:p>
            <a:endParaRPr lang="es-CO" noProof="0" dirty="0"/>
          </a:p>
        </p:txBody>
      </p:sp>
      <p:sp>
        <p:nvSpPr>
          <p:cNvPr id="8" name="Text 5"/>
          <p:cNvSpPr/>
          <p:nvPr/>
        </p:nvSpPr>
        <p:spPr>
          <a:xfrm>
            <a:off x="916795" y="5729369"/>
            <a:ext cx="10186416" cy="566928"/>
          </a:xfrm>
          <a:prstGeom prst="rect">
            <a:avLst/>
          </a:prstGeom>
          <a:noFill/>
          <a:ln/>
        </p:spPr>
        <p:txBody>
          <a:bodyPr wrap="square" lIns="0" tIns="0" rIns="0" bIns="0" rtlCol="0" anchor="ctr"/>
          <a:lstStyle/>
          <a:p>
            <a:pPr marL="0" indent="0">
              <a:buNone/>
            </a:pPr>
            <a:r>
              <a:rPr lang="es-CO" sz="1250" b="1" noProof="0" dirty="0">
                <a:solidFill>
                  <a:srgbClr val="7E3D15"/>
                </a:solidFill>
                <a:latin typeface="Calibri" pitchFamily="34" charset="0"/>
                <a:ea typeface="Calibri" pitchFamily="34" charset="-122"/>
                <a:cs typeface="Calibri" pitchFamily="34" charset="-120"/>
              </a:rPr>
              <a:t>Lectura:  </a:t>
            </a:r>
            <a:r>
              <a:rPr lang="es-CO" sz="1250" noProof="0" dirty="0">
                <a:solidFill>
                  <a:srgbClr val="1F2430"/>
                </a:solidFill>
                <a:latin typeface="Calibri" pitchFamily="34" charset="0"/>
                <a:ea typeface="Calibri" pitchFamily="34" charset="-122"/>
                <a:cs typeface="Calibri" pitchFamily="34" charset="-120"/>
              </a:rPr>
              <a:t>El muestreo es significativamente agrupado: la distancia observada entre vecinos es menos de la mitad de la esperada.</a:t>
            </a:r>
          </a:p>
          <a:p>
            <a:r>
              <a:rPr lang="es-CO" sz="1250" dirty="0">
                <a:solidFill>
                  <a:srgbClr val="1F2430"/>
                </a:solidFill>
                <a:latin typeface="Calibri" pitchFamily="34" charset="0"/>
                <a:ea typeface="Calibri" pitchFamily="34" charset="-122"/>
                <a:cs typeface="Calibri" pitchFamily="34" charset="-120"/>
              </a:rPr>
              <a:t>Si esas mismas muestras hubieran estado distribuidas al azar, esa distancia debería ser aproximadamente 886 metros. Con lo cual, vemos que las muestras están mucho más cerca unas de otras de lo que esperaríamos bajo un patrón aleatorio.</a:t>
            </a:r>
          </a:p>
        </p:txBody>
      </p:sp>
      <p:sp>
        <p:nvSpPr>
          <p:cNvPr id="11" name="CuadroTexto 10">
            <a:extLst>
              <a:ext uri="{FF2B5EF4-FFF2-40B4-BE49-F238E27FC236}">
                <a16:creationId xmlns:a16="http://schemas.microsoft.com/office/drawing/2014/main" id="{8E22239F-7C2D-B824-C5CB-BD2CAE8BA420}"/>
              </a:ext>
            </a:extLst>
          </p:cNvPr>
          <p:cNvSpPr txBox="1"/>
          <p:nvPr/>
        </p:nvSpPr>
        <p:spPr>
          <a:xfrm>
            <a:off x="729343" y="1307239"/>
            <a:ext cx="10929257" cy="523220"/>
          </a:xfrm>
          <a:prstGeom prst="rect">
            <a:avLst/>
          </a:prstGeom>
          <a:noFill/>
        </p:spPr>
        <p:txBody>
          <a:bodyPr wrap="square">
            <a:spAutoFit/>
          </a:bodyPr>
          <a:lstStyle/>
          <a:p>
            <a:r>
              <a:rPr lang="es-CO" sz="1400" dirty="0"/>
              <a:t>Este método compara la distancia real entre cada muestra y su muestra más cercana con la distancia que esperaríamos si las muestras estuvieran distribuidas completamente al azar dentro del área de estudio.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F2430"/>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9</a:t>
            </a:r>
            <a:endParaRPr lang="es-CO" sz="900" noProof="0" dirty="0"/>
          </a:p>
        </p:txBody>
      </p:sp>
      <p:sp>
        <p:nvSpPr>
          <p:cNvPr id="4" name="Text 2"/>
          <p:cNvSpPr/>
          <p:nvPr/>
        </p:nvSpPr>
        <p:spPr>
          <a:xfrm>
            <a:off x="822960" y="1920240"/>
            <a:ext cx="10515600" cy="411480"/>
          </a:xfrm>
          <a:prstGeom prst="rect">
            <a:avLst/>
          </a:prstGeom>
          <a:noFill/>
          <a:ln/>
        </p:spPr>
        <p:txBody>
          <a:bodyPr wrap="square" lIns="0" tIns="0" rIns="0" bIns="0" rtlCol="0" anchor="ctr"/>
          <a:lstStyle/>
          <a:p>
            <a:pPr marL="0" indent="0">
              <a:buNone/>
            </a:pPr>
            <a:r>
              <a:rPr lang="es-CO" sz="1500" b="1" kern="0" spc="300" noProof="0" dirty="0">
                <a:solidFill>
                  <a:srgbClr val="D89B6A"/>
                </a:solidFill>
                <a:latin typeface="Calibri" pitchFamily="34" charset="0"/>
                <a:ea typeface="Calibri" pitchFamily="34" charset="-122"/>
                <a:cs typeface="Calibri" pitchFamily="34" charset="-120"/>
              </a:rPr>
              <a:t>CAPÍTULO 4</a:t>
            </a:r>
            <a:endParaRPr lang="es-CO" sz="1500" noProof="0" dirty="0"/>
          </a:p>
        </p:txBody>
      </p:sp>
      <p:sp>
        <p:nvSpPr>
          <p:cNvPr id="5" name="Text 3"/>
          <p:cNvSpPr/>
          <p:nvPr/>
        </p:nvSpPr>
        <p:spPr>
          <a:xfrm>
            <a:off x="822960" y="2377440"/>
            <a:ext cx="10515600" cy="914400"/>
          </a:xfrm>
          <a:prstGeom prst="rect">
            <a:avLst/>
          </a:prstGeom>
          <a:noFill/>
          <a:ln/>
        </p:spPr>
        <p:txBody>
          <a:bodyPr wrap="square" lIns="0" tIns="0" rIns="0" bIns="0" rtlCol="0" anchor="ctr"/>
          <a:lstStyle/>
          <a:p>
            <a:pPr marL="0" indent="0">
              <a:buNone/>
            </a:pPr>
            <a:r>
              <a:rPr lang="es-CO" sz="3800" b="1" noProof="0" dirty="0">
                <a:solidFill>
                  <a:srgbClr val="FFFFFF"/>
                </a:solidFill>
                <a:latin typeface="Calibri" pitchFamily="34" charset="0"/>
                <a:ea typeface="Calibri" pitchFamily="34" charset="-122"/>
                <a:cs typeface="Calibri" pitchFamily="34" charset="-120"/>
              </a:rPr>
              <a:t>Patrón espacial de las anomalías de cobre</a:t>
            </a:r>
            <a:endParaRPr lang="es-CO" sz="3800" noProof="0" dirty="0"/>
          </a:p>
        </p:txBody>
      </p:sp>
      <p:sp>
        <p:nvSpPr>
          <p:cNvPr id="6" name="Text 4"/>
          <p:cNvSpPr/>
          <p:nvPr/>
        </p:nvSpPr>
        <p:spPr>
          <a:xfrm>
            <a:off x="822960" y="3520440"/>
            <a:ext cx="9601200" cy="822960"/>
          </a:xfrm>
          <a:prstGeom prst="rect">
            <a:avLst/>
          </a:prstGeom>
          <a:noFill/>
          <a:ln/>
        </p:spPr>
        <p:txBody>
          <a:bodyPr wrap="square" lIns="0" tIns="0" rIns="0" bIns="0" rtlCol="0" anchor="ctr"/>
          <a:lstStyle/>
          <a:p>
            <a:pPr marL="0" indent="0">
              <a:buNone/>
            </a:pPr>
            <a:r>
              <a:rPr lang="es-CO" sz="1800" noProof="0" dirty="0">
                <a:solidFill>
                  <a:srgbClr val="C9CDD4"/>
                </a:solidFill>
                <a:latin typeface="Calibri" pitchFamily="34" charset="0"/>
                <a:ea typeface="Calibri" pitchFamily="34" charset="-122"/>
                <a:cs typeface="Calibri" pitchFamily="34" charset="-120"/>
              </a:rPr>
              <a:t>¿Las anomalías de Cu se distribuyen al azar dentro del área, o su patrón responde a controles litológicos y estructurales?</a:t>
            </a:r>
            <a:endParaRPr lang="es-CO" sz="1800" noProof="0" dirty="0"/>
          </a:p>
        </p:txBody>
      </p:sp>
      <p:sp>
        <p:nvSpPr>
          <p:cNvPr id="7" name="Text 5"/>
          <p:cNvSpPr/>
          <p:nvPr/>
        </p:nvSpPr>
        <p:spPr>
          <a:xfrm>
            <a:off x="822960" y="4663440"/>
            <a:ext cx="10241280" cy="640080"/>
          </a:xfrm>
          <a:prstGeom prst="rect">
            <a:avLst/>
          </a:prstGeom>
          <a:noFill/>
          <a:ln/>
        </p:spPr>
        <p:txBody>
          <a:bodyPr wrap="square" lIns="0" tIns="0" rIns="0" bIns="0" rtlCol="0" anchor="ctr"/>
          <a:lstStyle/>
          <a:p>
            <a:pPr marL="0" indent="0">
              <a:buNone/>
            </a:pPr>
            <a:r>
              <a:rPr lang="es-CO" sz="1300" noProof="0" dirty="0">
                <a:solidFill>
                  <a:srgbClr val="8B93A1"/>
                </a:solidFill>
                <a:latin typeface="Calibri" pitchFamily="34" charset="0"/>
                <a:ea typeface="Calibri" pitchFamily="34" charset="-122"/>
                <a:cs typeface="Calibri" pitchFamily="34" charset="-120"/>
              </a:rPr>
              <a:t>Umbral → transformación indicadora → distribución → Kernel → vecino más cercano → cuadrantes Monte Carlo → funciones G, F y K → geología y fallas</a:t>
            </a:r>
            <a:endParaRPr lang="es-CO" sz="13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10</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4 · ANOMALÍAS DE COBRE</a:t>
            </a:r>
            <a:endParaRPr lang="es-CO" sz="1100" noProof="0" dirty="0"/>
          </a:p>
        </p:txBody>
      </p:sp>
      <p:sp>
        <p:nvSpPr>
          <p:cNvPr id="5" name="Text 3"/>
          <p:cNvSpPr/>
          <p:nvPr/>
        </p:nvSpPr>
        <p:spPr>
          <a:xfrm>
            <a:off x="502920" y="566928"/>
            <a:ext cx="1115568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Definición del umbral de anomalía</a:t>
            </a:r>
            <a:endParaRPr lang="es-CO" sz="2600" noProof="0" dirty="0"/>
          </a:p>
        </p:txBody>
      </p:sp>
      <p:pic>
        <p:nvPicPr>
          <p:cNvPr id="6" name="Image 0" descr="img/Figura_10_Umbral_Anomalia.png"/>
          <p:cNvPicPr>
            <a:picLocks noChangeAspect="1"/>
          </p:cNvPicPr>
          <p:nvPr/>
        </p:nvPicPr>
        <p:blipFill>
          <a:blip r:embed="rId3"/>
          <a:stretch>
            <a:fillRect/>
          </a:stretch>
        </p:blipFill>
        <p:spPr>
          <a:xfrm>
            <a:off x="2722082" y="1417320"/>
            <a:ext cx="6717355" cy="3657600"/>
          </a:xfrm>
          <a:prstGeom prst="rect">
            <a:avLst/>
          </a:prstGeom>
        </p:spPr>
      </p:pic>
      <p:sp>
        <p:nvSpPr>
          <p:cNvPr id="7" name="Shape 4"/>
          <p:cNvSpPr/>
          <p:nvPr/>
        </p:nvSpPr>
        <p:spPr>
          <a:xfrm>
            <a:off x="912979" y="5212080"/>
            <a:ext cx="10515600" cy="731520"/>
          </a:xfrm>
          <a:prstGeom prst="roundRect">
            <a:avLst>
              <a:gd name="adj" fmla="val 9677"/>
            </a:avLst>
          </a:prstGeom>
          <a:solidFill>
            <a:srgbClr val="F4F1EE"/>
          </a:solidFill>
          <a:ln w="9525">
            <a:solidFill>
              <a:srgbClr val="D8D2CC"/>
            </a:solidFill>
            <a:prstDash val="solid"/>
          </a:ln>
        </p:spPr>
        <p:txBody>
          <a:bodyPr/>
          <a:lstStyle/>
          <a:p>
            <a:endParaRPr lang="es-CO" noProof="0" dirty="0"/>
          </a:p>
        </p:txBody>
      </p:sp>
      <p:sp>
        <p:nvSpPr>
          <p:cNvPr id="8" name="Text 5"/>
          <p:cNvSpPr/>
          <p:nvPr/>
        </p:nvSpPr>
        <p:spPr>
          <a:xfrm>
            <a:off x="987551" y="5261732"/>
            <a:ext cx="10186416" cy="566928"/>
          </a:xfrm>
          <a:prstGeom prst="rect">
            <a:avLst/>
          </a:prstGeom>
          <a:noFill/>
          <a:ln/>
        </p:spPr>
        <p:txBody>
          <a:bodyPr wrap="square" lIns="0" tIns="0" rIns="0" bIns="0" rtlCol="0" anchor="ctr"/>
          <a:lstStyle/>
          <a:p>
            <a:r>
              <a:rPr lang="es-CO" sz="1250" b="1" noProof="0" dirty="0">
                <a:solidFill>
                  <a:srgbClr val="7E3D15"/>
                </a:solidFill>
                <a:latin typeface="Calibri" pitchFamily="34" charset="0"/>
                <a:ea typeface="Calibri" pitchFamily="34" charset="-122"/>
                <a:cs typeface="Calibri" pitchFamily="34" charset="-120"/>
              </a:rPr>
              <a:t>Lectura: </a:t>
            </a:r>
            <a:r>
              <a:rPr lang="es-CO" sz="1200" b="1" noProof="0" dirty="0">
                <a:solidFill>
                  <a:srgbClr val="7E3D15"/>
                </a:solidFill>
                <a:latin typeface="Calibri" pitchFamily="34" charset="0"/>
                <a:ea typeface="Calibri" pitchFamily="34" charset="-122"/>
                <a:cs typeface="Calibri" pitchFamily="34" charset="-120"/>
              </a:rPr>
              <a:t> </a:t>
            </a:r>
            <a:r>
              <a:rPr lang="en-US" sz="1200" dirty="0"/>
              <a:t>Para </a:t>
            </a:r>
            <a:r>
              <a:rPr lang="en-US" sz="1200" dirty="0" err="1"/>
              <a:t>identificar</a:t>
            </a:r>
            <a:r>
              <a:rPr lang="en-US" sz="1200" dirty="0"/>
              <a:t> las </a:t>
            </a:r>
            <a:r>
              <a:rPr lang="en-US" sz="1200" dirty="0" err="1"/>
              <a:t>anomalías</a:t>
            </a:r>
            <a:r>
              <a:rPr lang="en-US" sz="1200" dirty="0"/>
              <a:t> de </a:t>
            </a:r>
            <a:r>
              <a:rPr lang="en-US" sz="1200" dirty="0" err="1"/>
              <a:t>cobre</a:t>
            </a:r>
            <a:r>
              <a:rPr lang="en-US" sz="1200" dirty="0"/>
              <a:t> </a:t>
            </a:r>
            <a:r>
              <a:rPr lang="en-US" sz="1200" dirty="0" err="1"/>
              <a:t>fue</a:t>
            </a:r>
            <a:r>
              <a:rPr lang="en-US" sz="1200" dirty="0"/>
              <a:t> </a:t>
            </a:r>
            <a:r>
              <a:rPr lang="en-US" sz="1200" dirty="0" err="1"/>
              <a:t>necesario</a:t>
            </a:r>
            <a:r>
              <a:rPr lang="en-US" sz="1200" dirty="0"/>
              <a:t> </a:t>
            </a:r>
            <a:r>
              <a:rPr lang="en-US" sz="1200" dirty="0" err="1"/>
              <a:t>definir</a:t>
            </a:r>
            <a:r>
              <a:rPr lang="en-US" sz="1200" dirty="0"/>
              <a:t> un valor umbral. Se </a:t>
            </a:r>
            <a:r>
              <a:rPr lang="en-US" sz="1200" dirty="0" err="1"/>
              <a:t>utilizó</a:t>
            </a:r>
            <a:r>
              <a:rPr lang="en-US" sz="1200" dirty="0"/>
              <a:t> el </a:t>
            </a:r>
            <a:r>
              <a:rPr lang="en-US" sz="1200" dirty="0" err="1"/>
              <a:t>percentil</a:t>
            </a:r>
            <a:r>
              <a:rPr lang="en-US" sz="1200" dirty="0"/>
              <a:t> 90, </a:t>
            </a:r>
            <a:r>
              <a:rPr lang="en-US" sz="1200" dirty="0" err="1"/>
              <a:t>que</a:t>
            </a:r>
            <a:r>
              <a:rPr lang="en-US" sz="1200" dirty="0"/>
              <a:t> </a:t>
            </a:r>
            <a:r>
              <a:rPr lang="en-US" sz="1200" dirty="0" err="1"/>
              <a:t>corresponde</a:t>
            </a:r>
            <a:r>
              <a:rPr lang="en-US" sz="1200" dirty="0"/>
              <a:t> a </a:t>
            </a:r>
            <a:r>
              <a:rPr lang="en-US" sz="1200" b="1" dirty="0"/>
              <a:t>150 ppm</a:t>
            </a:r>
            <a:r>
              <a:rPr lang="en-US" sz="1200" dirty="0"/>
              <a:t>.</a:t>
            </a:r>
          </a:p>
          <a:p>
            <a:r>
              <a:rPr lang="en-US" sz="1200" dirty="0"/>
              <a:t> </a:t>
            </a:r>
            <a:r>
              <a:rPr lang="en-US" sz="1200" dirty="0" err="1"/>
              <a:t>Debido</a:t>
            </a:r>
            <a:r>
              <a:rPr lang="en-US" sz="1200" dirty="0"/>
              <a:t> a </a:t>
            </a:r>
            <a:r>
              <a:rPr lang="en-US" sz="1200" dirty="0" err="1"/>
              <a:t>que</a:t>
            </a:r>
            <a:r>
              <a:rPr lang="en-US" sz="1200" dirty="0"/>
              <a:t> los datos </a:t>
            </a:r>
            <a:r>
              <a:rPr lang="en-US" sz="1200" dirty="0" err="1"/>
              <a:t>están</a:t>
            </a:r>
            <a:r>
              <a:rPr lang="en-US" sz="1200" dirty="0"/>
              <a:t> </a:t>
            </a:r>
            <a:r>
              <a:rPr lang="en-US" sz="1200" dirty="0" err="1"/>
              <a:t>registrados</a:t>
            </a:r>
            <a:r>
              <a:rPr lang="en-US" sz="1200" dirty="0"/>
              <a:t> en </a:t>
            </a:r>
            <a:r>
              <a:rPr lang="en-US" sz="1200" dirty="0" err="1"/>
              <a:t>valores</a:t>
            </a:r>
            <a:r>
              <a:rPr lang="en-US" sz="1200" dirty="0"/>
              <a:t> </a:t>
            </a:r>
            <a:r>
              <a:rPr lang="en-US" sz="1200" dirty="0" err="1"/>
              <a:t>discretos</a:t>
            </a:r>
            <a:r>
              <a:rPr lang="en-US" sz="1200" dirty="0"/>
              <a:t>, el </a:t>
            </a:r>
            <a:r>
              <a:rPr lang="en-US" sz="1200" dirty="0" err="1"/>
              <a:t>percentil</a:t>
            </a:r>
            <a:r>
              <a:rPr lang="en-US" sz="1200" dirty="0"/>
              <a:t> coincide </a:t>
            </a:r>
            <a:r>
              <a:rPr lang="en-US" sz="1200" dirty="0" err="1"/>
              <a:t>exactamente</a:t>
            </a:r>
            <a:r>
              <a:rPr lang="en-US" sz="1200" dirty="0"/>
              <a:t> con ese valor, </a:t>
            </a:r>
            <a:r>
              <a:rPr lang="en-US" sz="1200" dirty="0" err="1"/>
              <a:t>por</a:t>
            </a:r>
            <a:r>
              <a:rPr lang="en-US" sz="1200" dirty="0"/>
              <a:t> lo </a:t>
            </a:r>
            <a:r>
              <a:rPr lang="en-US" sz="1200" dirty="0" err="1"/>
              <a:t>que</a:t>
            </a:r>
            <a:r>
              <a:rPr lang="en-US" sz="1200" dirty="0"/>
              <a:t> se </a:t>
            </a:r>
            <a:r>
              <a:rPr lang="en-US" sz="1200" dirty="0" err="1"/>
              <a:t>adoptó</a:t>
            </a:r>
            <a:r>
              <a:rPr lang="en-US" sz="1200" dirty="0"/>
              <a:t> el </a:t>
            </a:r>
            <a:r>
              <a:rPr lang="en-US" sz="1200" dirty="0" err="1"/>
              <a:t>criterio</a:t>
            </a:r>
            <a:r>
              <a:rPr lang="en-US" sz="1200" dirty="0"/>
              <a:t> </a:t>
            </a:r>
            <a:r>
              <a:rPr lang="en-US" sz="1200" b="1" dirty="0"/>
              <a:t>Cu ≥ 150 ppm</a:t>
            </a:r>
            <a:r>
              <a:rPr lang="en-US" sz="1200" dirty="0"/>
              <a:t>, </a:t>
            </a:r>
            <a:r>
              <a:rPr lang="en-US" sz="1200" dirty="0" err="1"/>
              <a:t>seleccionando</a:t>
            </a:r>
            <a:r>
              <a:rPr lang="en-US" sz="1200" dirty="0"/>
              <a:t> </a:t>
            </a:r>
            <a:r>
              <a:rPr lang="en-US" sz="1200" b="1" dirty="0"/>
              <a:t>283 muestras</a:t>
            </a:r>
            <a:r>
              <a:rPr lang="en-US" sz="1200" dirty="0"/>
              <a:t> para los </a:t>
            </a:r>
            <a:r>
              <a:rPr lang="en-US" sz="1200" dirty="0" err="1"/>
              <a:t>análisis</a:t>
            </a:r>
            <a:r>
              <a:rPr lang="en-US" sz="1200" dirty="0"/>
              <a:t> posteriores.</a:t>
            </a:r>
            <a:endParaRPr lang="es-CO" sz="1250" noProof="0" dirty="0"/>
          </a:p>
        </p:txBody>
      </p:sp>
      <p:sp>
        <p:nvSpPr>
          <p:cNvPr id="9" name="Text 6"/>
          <p:cNvSpPr/>
          <p:nvPr/>
        </p:nvSpPr>
        <p:spPr>
          <a:xfrm>
            <a:off x="822960" y="5943600"/>
            <a:ext cx="4572000" cy="274320"/>
          </a:xfrm>
          <a:prstGeom prst="rect">
            <a:avLst/>
          </a:prstGeom>
          <a:noFill/>
          <a:ln/>
        </p:spPr>
        <p:txBody>
          <a:bodyPr wrap="square" lIns="0" tIns="0" rIns="0" bIns="0" rtlCol="0" anchor="ctr"/>
          <a:lstStyle/>
          <a:p>
            <a:pPr marL="0" indent="0">
              <a:buNone/>
            </a:pPr>
            <a:r>
              <a:rPr lang="es-CO" sz="1000" i="1" noProof="0" dirty="0">
                <a:solidFill>
                  <a:srgbClr val="5B6472"/>
                </a:solidFill>
                <a:latin typeface="Calibri" pitchFamily="34" charset="0"/>
                <a:ea typeface="Calibri" pitchFamily="34" charset="-122"/>
                <a:cs typeface="Calibri" pitchFamily="34" charset="-120"/>
              </a:rPr>
              <a:t>Fuente: Figura 10.</a:t>
            </a:r>
            <a:endParaRPr lang="es-CO" sz="10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11</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4 · ANOMALÍAS DE COBRE</a:t>
            </a:r>
            <a:endParaRPr lang="es-CO" sz="1100" noProof="0" dirty="0"/>
          </a:p>
        </p:txBody>
      </p:sp>
      <p:sp>
        <p:nvSpPr>
          <p:cNvPr id="5" name="Text 3"/>
          <p:cNvSpPr/>
          <p:nvPr/>
        </p:nvSpPr>
        <p:spPr>
          <a:xfrm>
            <a:off x="502920" y="566928"/>
            <a:ext cx="1115568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Umbrales candidatos y transformación indicadora</a:t>
            </a:r>
            <a:endParaRPr lang="es-CO" sz="2600" noProof="0" dirty="0"/>
          </a:p>
        </p:txBody>
      </p:sp>
      <p:sp>
        <p:nvSpPr>
          <p:cNvPr id="6" name="Text 4"/>
          <p:cNvSpPr/>
          <p:nvPr/>
        </p:nvSpPr>
        <p:spPr>
          <a:xfrm>
            <a:off x="822960" y="1861911"/>
            <a:ext cx="5212080" cy="320040"/>
          </a:xfrm>
          <a:prstGeom prst="rect">
            <a:avLst/>
          </a:prstGeom>
          <a:noFill/>
          <a:ln/>
        </p:spPr>
        <p:txBody>
          <a:bodyPr wrap="square" lIns="0" tIns="0" rIns="0" bIns="0" rtlCol="0" anchor="ctr"/>
          <a:lstStyle/>
          <a:p>
            <a:pPr marL="0" indent="0">
              <a:buNone/>
            </a:pPr>
            <a:r>
              <a:rPr lang="es-CO" sz="1400" b="1" noProof="0" dirty="0">
                <a:solidFill>
                  <a:srgbClr val="1F2430"/>
                </a:solidFill>
                <a:latin typeface="Calibri" pitchFamily="34" charset="0"/>
                <a:ea typeface="Calibri" pitchFamily="34" charset="-122"/>
                <a:cs typeface="Calibri" pitchFamily="34" charset="-120"/>
              </a:rPr>
              <a:t>Umbrales candidatos</a:t>
            </a:r>
            <a:endParaRPr lang="es-CO" sz="1400" noProof="0" dirty="0"/>
          </a:p>
        </p:txBody>
      </p:sp>
      <p:graphicFrame>
        <p:nvGraphicFramePr>
          <p:cNvPr id="12" name="Table 0"/>
          <p:cNvGraphicFramePr>
            <a:graphicFrameLocks noGrp="1"/>
          </p:cNvGraphicFramePr>
          <p:nvPr>
            <p:extLst>
              <p:ext uri="{D42A27DB-BD31-4B8C-83A1-F6EECF244321}">
                <p14:modId xmlns:p14="http://schemas.microsoft.com/office/powerpoint/2010/main" val="788969372"/>
              </p:ext>
            </p:extLst>
          </p:nvPr>
        </p:nvGraphicFramePr>
        <p:xfrm>
          <a:off x="822960" y="2273391"/>
          <a:ext cx="5212080" cy="1463040"/>
        </p:xfrm>
        <a:graphic>
          <a:graphicData uri="http://schemas.openxmlformats.org/drawingml/2006/table">
            <a:tbl>
              <a:tblPr/>
              <a:tblGrid>
                <a:gridCol w="22860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365760">
                <a:tc>
                  <a:txBody>
                    <a:bodyPr/>
                    <a:lstStyle/>
                    <a:p>
                      <a:pPr marL="0" indent="0" algn="l">
                        <a:buNone/>
                      </a:pPr>
                      <a:r>
                        <a:rPr lang="es-CO" sz="1150" b="1" noProof="0" dirty="0">
                          <a:solidFill>
                            <a:srgbClr val="FFFFFF"/>
                          </a:solidFill>
                          <a:latin typeface="Calibri" pitchFamily="34" charset="0"/>
                          <a:ea typeface="Calibri" pitchFamily="34" charset="-122"/>
                          <a:cs typeface="Calibri" pitchFamily="34" charset="-120"/>
                        </a:rPr>
                        <a:t>Criterio</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l">
                        <a:buNone/>
                      </a:pPr>
                      <a:r>
                        <a:rPr lang="es-CO" sz="1150" b="1" noProof="0" dirty="0">
                          <a:solidFill>
                            <a:srgbClr val="FFFFFF"/>
                          </a:solidFill>
                          <a:latin typeface="Calibri" pitchFamily="34" charset="0"/>
                          <a:ea typeface="Calibri" pitchFamily="34" charset="-122"/>
                          <a:cs typeface="Calibri" pitchFamily="34" charset="-120"/>
                        </a:rPr>
                        <a:t>Condición</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l">
                        <a:buNone/>
                      </a:pPr>
                      <a:r>
                        <a:rPr lang="es-CO" sz="1150" b="1" noProof="0" dirty="0">
                          <a:solidFill>
                            <a:srgbClr val="FFFFFF"/>
                          </a:solidFill>
                          <a:latin typeface="Calibri" pitchFamily="34" charset="0"/>
                          <a:ea typeface="Calibri" pitchFamily="34" charset="-122"/>
                          <a:cs typeface="Calibri" pitchFamily="34" charset="-120"/>
                        </a:rPr>
                        <a:t>n</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l">
                        <a:buNone/>
                      </a:pPr>
                      <a:r>
                        <a:rPr lang="es-CO" sz="1150" b="1" noProof="0" dirty="0">
                          <a:solidFill>
                            <a:srgbClr val="FFFFFF"/>
                          </a:solidFill>
                          <a:latin typeface="Calibri" pitchFamily="34" charset="0"/>
                          <a:ea typeface="Calibri" pitchFamily="34" charset="-122"/>
                          <a:cs typeface="Calibri" pitchFamily="34" charset="-120"/>
                        </a:rPr>
                        <a:t>%</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extLst>
                  <a:ext uri="{0D108BD9-81ED-4DB2-BD59-A6C34878D82A}">
                    <a16:rowId xmlns:a16="http://schemas.microsoft.com/office/drawing/2014/main" val="10000"/>
                  </a:ext>
                </a:extLst>
              </a:tr>
              <a:tr h="365760">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P90 estricto</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Cu &gt; 150 ppm</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60</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2.96</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s-CO" sz="1150" noProof="0" dirty="0">
                          <a:solidFill>
                            <a:srgbClr val="1F2430"/>
                          </a:solidFill>
                          <a:highlight>
                            <a:srgbClr val="FFFF00"/>
                          </a:highlight>
                          <a:latin typeface="Calibri" pitchFamily="34" charset="0"/>
                          <a:ea typeface="Calibri" pitchFamily="34" charset="-122"/>
                          <a:cs typeface="Calibri" pitchFamily="34" charset="-120"/>
                        </a:rPr>
                        <a:t>P90 inclusivo (adoptado)</a:t>
                      </a:r>
                      <a:endParaRPr lang="es-CO" sz="1150" noProof="0" dirty="0">
                        <a:highlight>
                          <a:srgbClr val="FFFF00"/>
                        </a:highlight>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150" noProof="0" dirty="0">
                          <a:solidFill>
                            <a:srgbClr val="1F2430"/>
                          </a:solidFill>
                          <a:highlight>
                            <a:srgbClr val="FFFF00"/>
                          </a:highlight>
                          <a:latin typeface="Calibri" pitchFamily="34" charset="0"/>
                          <a:ea typeface="Calibri" pitchFamily="34" charset="-122"/>
                          <a:cs typeface="Calibri" pitchFamily="34" charset="-120"/>
                        </a:rPr>
                        <a:t>Cu ≥ 150 ppm</a:t>
                      </a:r>
                      <a:endParaRPr lang="es-CO" sz="1150" noProof="0" dirty="0">
                        <a:highlight>
                          <a:srgbClr val="FFFF00"/>
                        </a:highlight>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150" noProof="0" dirty="0">
                          <a:solidFill>
                            <a:srgbClr val="1F2430"/>
                          </a:solidFill>
                          <a:highlight>
                            <a:srgbClr val="FFFF00"/>
                          </a:highlight>
                          <a:latin typeface="Calibri" pitchFamily="34" charset="0"/>
                          <a:ea typeface="Calibri" pitchFamily="34" charset="-122"/>
                          <a:cs typeface="Calibri" pitchFamily="34" charset="-120"/>
                        </a:rPr>
                        <a:t>283</a:t>
                      </a:r>
                      <a:endParaRPr lang="es-CO" sz="1150" noProof="0" dirty="0">
                        <a:highlight>
                          <a:srgbClr val="FFFF00"/>
                        </a:highlight>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150" noProof="0" dirty="0">
                          <a:solidFill>
                            <a:srgbClr val="1F2430"/>
                          </a:solidFill>
                          <a:highlight>
                            <a:srgbClr val="FFFF00"/>
                          </a:highlight>
                          <a:latin typeface="Calibri" pitchFamily="34" charset="0"/>
                          <a:ea typeface="Calibri" pitchFamily="34" charset="-122"/>
                          <a:cs typeface="Calibri" pitchFamily="34" charset="-120"/>
                        </a:rPr>
                        <a:t>13.95</a:t>
                      </a:r>
                      <a:endParaRPr lang="es-CO" sz="1150" noProof="0" dirty="0">
                        <a:highlight>
                          <a:srgbClr val="FFFF00"/>
                        </a:highlight>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2"/>
                  </a:ext>
                </a:extLst>
              </a:tr>
              <a:tr h="365760">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Límite de atípicos (</a:t>
                      </a:r>
                      <a:r>
                        <a:rPr lang="es-CO" sz="1150" noProof="0" dirty="0" err="1">
                          <a:solidFill>
                            <a:srgbClr val="1F2430"/>
                          </a:solidFill>
                          <a:latin typeface="Calibri" pitchFamily="34" charset="0"/>
                          <a:ea typeface="Calibri" pitchFamily="34" charset="-122"/>
                          <a:cs typeface="Calibri" pitchFamily="34" charset="-120"/>
                        </a:rPr>
                        <a:t>boxplot</a:t>
                      </a:r>
                      <a:r>
                        <a:rPr lang="es-CO" sz="1150" noProof="0" dirty="0">
                          <a:solidFill>
                            <a:srgbClr val="1F2430"/>
                          </a:solidFill>
                          <a:latin typeface="Calibri" pitchFamily="34" charset="0"/>
                          <a:ea typeface="Calibri" pitchFamily="34" charset="-122"/>
                          <a:cs typeface="Calibri" pitchFamily="34" charset="-120"/>
                        </a:rPr>
                        <a:t>)</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Cu ≥ 200 ppm</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60</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2.96</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5"/>
          <p:cNvSpPr/>
          <p:nvPr/>
        </p:nvSpPr>
        <p:spPr>
          <a:xfrm>
            <a:off x="7475220" y="1948362"/>
            <a:ext cx="4846320" cy="320040"/>
          </a:xfrm>
          <a:prstGeom prst="rect">
            <a:avLst/>
          </a:prstGeom>
          <a:noFill/>
          <a:ln/>
        </p:spPr>
        <p:txBody>
          <a:bodyPr wrap="square" lIns="0" tIns="0" rIns="0" bIns="0" rtlCol="0" anchor="ctr"/>
          <a:lstStyle/>
          <a:p>
            <a:pPr marL="0" indent="0">
              <a:buNone/>
            </a:pPr>
            <a:r>
              <a:rPr lang="es-CO" sz="1400" b="1" noProof="0" dirty="0">
                <a:solidFill>
                  <a:srgbClr val="1F2430"/>
                </a:solidFill>
                <a:latin typeface="Calibri" pitchFamily="34" charset="0"/>
                <a:ea typeface="Calibri" pitchFamily="34" charset="-122"/>
                <a:cs typeface="Calibri" pitchFamily="34" charset="-120"/>
              </a:rPr>
              <a:t>Resultado de la transformación indicadora</a:t>
            </a:r>
            <a:endParaRPr lang="es-CO" sz="1400" noProof="0" dirty="0"/>
          </a:p>
        </p:txBody>
      </p:sp>
      <p:graphicFrame>
        <p:nvGraphicFramePr>
          <p:cNvPr id="23" name="Table 1"/>
          <p:cNvGraphicFramePr>
            <a:graphicFrameLocks noGrp="1"/>
          </p:cNvGraphicFramePr>
          <p:nvPr>
            <p:extLst>
              <p:ext uri="{D42A27DB-BD31-4B8C-83A1-F6EECF244321}">
                <p14:modId xmlns:p14="http://schemas.microsoft.com/office/powerpoint/2010/main" val="1247106713"/>
              </p:ext>
            </p:extLst>
          </p:nvPr>
        </p:nvGraphicFramePr>
        <p:xfrm>
          <a:off x="6812280" y="2524768"/>
          <a:ext cx="4846320" cy="2611922"/>
        </p:xfrm>
        <a:graphic>
          <a:graphicData uri="http://schemas.openxmlformats.org/drawingml/2006/table">
            <a:tbl>
              <a:tblPr/>
              <a:tblGrid>
                <a:gridCol w="28346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65760">
                <a:tc>
                  <a:txBody>
                    <a:bodyPr/>
                    <a:lstStyle/>
                    <a:p>
                      <a:pPr marL="0" indent="0" algn="l">
                        <a:buNone/>
                      </a:pPr>
                      <a:r>
                        <a:rPr lang="es-CO" sz="1150" b="1" noProof="0" dirty="0">
                          <a:solidFill>
                            <a:srgbClr val="FFFFFF"/>
                          </a:solidFill>
                          <a:latin typeface="Calibri" pitchFamily="34" charset="0"/>
                          <a:ea typeface="Calibri" pitchFamily="34" charset="-122"/>
                          <a:cs typeface="Calibri" pitchFamily="34" charset="-120"/>
                        </a:rPr>
                        <a:t>Parámetro</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l">
                        <a:buNone/>
                      </a:pPr>
                      <a:r>
                        <a:rPr lang="es-CO" sz="1150" b="1" noProof="0" dirty="0">
                          <a:solidFill>
                            <a:srgbClr val="FFFFFF"/>
                          </a:solidFill>
                          <a:latin typeface="Calibri" pitchFamily="34" charset="0"/>
                          <a:ea typeface="Calibri" pitchFamily="34" charset="-122"/>
                          <a:cs typeface="Calibri" pitchFamily="34" charset="-120"/>
                        </a:rPr>
                        <a:t>Valor</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extLst>
                  <a:ext uri="{0D108BD9-81ED-4DB2-BD59-A6C34878D82A}">
                    <a16:rowId xmlns:a16="http://schemas.microsoft.com/office/drawing/2014/main" val="10000"/>
                  </a:ext>
                </a:extLst>
              </a:tr>
              <a:tr h="365760">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Umbral aplicado</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Cu ≥ 150 ppm</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7362">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Muestras evaluadas</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2,029</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2"/>
                  </a:ext>
                </a:extLst>
              </a:tr>
              <a:tr h="365760">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Anomalías (I = 1)</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283</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Fondo geoquímico (I = 0)</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1,746</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4"/>
                  </a:ext>
                </a:extLst>
              </a:tr>
              <a:tr h="365760">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Porcentaje de anomalías</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13.95 %</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Rango de Cu en las anomalías</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150" noProof="0" dirty="0">
                          <a:solidFill>
                            <a:srgbClr val="1F2430"/>
                          </a:solidFill>
                          <a:latin typeface="Calibri" pitchFamily="34" charset="0"/>
                          <a:ea typeface="Calibri" pitchFamily="34" charset="-122"/>
                          <a:cs typeface="Calibri" pitchFamily="34" charset="-120"/>
                        </a:rPr>
                        <a:t>150 – 1,000 ppm</a:t>
                      </a:r>
                      <a:endParaRPr lang="es-CO" sz="115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6"/>
                  </a:ext>
                </a:extLst>
              </a:tr>
            </a:tbl>
          </a:graphicData>
        </a:graphic>
      </p:graphicFrame>
      <p:sp>
        <p:nvSpPr>
          <p:cNvPr id="7" name="Text 8"/>
          <p:cNvSpPr/>
          <p:nvPr/>
        </p:nvSpPr>
        <p:spPr>
          <a:xfrm>
            <a:off x="822960" y="5943600"/>
            <a:ext cx="4572000" cy="274320"/>
          </a:xfrm>
          <a:prstGeom prst="rect">
            <a:avLst/>
          </a:prstGeom>
          <a:noFill/>
          <a:ln/>
        </p:spPr>
        <p:txBody>
          <a:bodyPr wrap="square" lIns="0" tIns="0" rIns="0" bIns="0" rtlCol="0" anchor="ctr"/>
          <a:lstStyle/>
          <a:p>
            <a:pPr marL="0" indent="0">
              <a:buNone/>
            </a:pPr>
            <a:r>
              <a:rPr lang="es-CO" sz="1000" i="1" noProof="0" dirty="0">
                <a:solidFill>
                  <a:srgbClr val="5B6472"/>
                </a:solidFill>
                <a:latin typeface="Calibri" pitchFamily="34" charset="0"/>
                <a:ea typeface="Calibri" pitchFamily="34" charset="-122"/>
                <a:cs typeface="Calibri" pitchFamily="34" charset="-120"/>
              </a:rPr>
              <a:t>Fuente: Tablas 09 y 10.</a:t>
            </a:r>
            <a:endParaRPr lang="es-CO" sz="1000" noProof="0" dirty="0"/>
          </a:p>
        </p:txBody>
      </p:sp>
      <p:sp>
        <p:nvSpPr>
          <p:cNvPr id="13" name="CuadroTexto 12">
            <a:extLst>
              <a:ext uri="{FF2B5EF4-FFF2-40B4-BE49-F238E27FC236}">
                <a16:creationId xmlns:a16="http://schemas.microsoft.com/office/drawing/2014/main" id="{A487BD28-A0C9-A629-B843-75F5B7806F20}"/>
              </a:ext>
            </a:extLst>
          </p:cNvPr>
          <p:cNvSpPr txBox="1"/>
          <p:nvPr/>
        </p:nvSpPr>
        <p:spPr>
          <a:xfrm>
            <a:off x="691243" y="1268486"/>
            <a:ext cx="10411968" cy="461665"/>
          </a:xfrm>
          <a:prstGeom prst="rect">
            <a:avLst/>
          </a:prstGeom>
          <a:noFill/>
        </p:spPr>
        <p:txBody>
          <a:bodyPr wrap="square">
            <a:spAutoFit/>
          </a:bodyPr>
          <a:lstStyle/>
          <a:p>
            <a:r>
              <a:rPr lang="es-CO" sz="1200" dirty="0"/>
              <a:t>Una vez comprobamos que el muestreo presenta un patrón agrupado, el siguiente paso fue identificar cuáles de esas muestras representan anomalías de cobre. Para ello primero fue necesario definir un valor umbral que separara el fondo geoquímico de las concentraciones anómalas.</a:t>
            </a:r>
          </a:p>
        </p:txBody>
      </p:sp>
      <p:sp>
        <p:nvSpPr>
          <p:cNvPr id="15" name="CuadroTexto 14">
            <a:extLst>
              <a:ext uri="{FF2B5EF4-FFF2-40B4-BE49-F238E27FC236}">
                <a16:creationId xmlns:a16="http://schemas.microsoft.com/office/drawing/2014/main" id="{6C31A3E6-16D7-B4B4-7F72-ECC97A5D38A3}"/>
              </a:ext>
            </a:extLst>
          </p:cNvPr>
          <p:cNvSpPr txBox="1"/>
          <p:nvPr/>
        </p:nvSpPr>
        <p:spPr>
          <a:xfrm>
            <a:off x="6572577" y="5273623"/>
            <a:ext cx="5086023" cy="646331"/>
          </a:xfrm>
          <a:prstGeom prst="rect">
            <a:avLst/>
          </a:prstGeom>
          <a:noFill/>
        </p:spPr>
        <p:txBody>
          <a:bodyPr wrap="square">
            <a:spAutoFit/>
          </a:bodyPr>
          <a:lstStyle/>
          <a:p>
            <a:pPr>
              <a:buNone/>
            </a:pPr>
            <a:r>
              <a:rPr lang="es-CO" sz="1200" dirty="0"/>
              <a:t>A cada muestra con cobre mayor o igual a 150 ppm se le asignó el valor uno, es decir, anomalía. Las muestras por debajo de ese valor recibieron cero y representan el fondo geoquímico.</a:t>
            </a:r>
          </a:p>
        </p:txBody>
      </p:sp>
      <p:sp>
        <p:nvSpPr>
          <p:cNvPr id="17" name="CuadroTexto 16">
            <a:extLst>
              <a:ext uri="{FF2B5EF4-FFF2-40B4-BE49-F238E27FC236}">
                <a16:creationId xmlns:a16="http://schemas.microsoft.com/office/drawing/2014/main" id="{85D4CCF7-FBEF-C479-0E14-0E26274B48B5}"/>
              </a:ext>
            </a:extLst>
          </p:cNvPr>
          <p:cNvSpPr txBox="1"/>
          <p:nvPr/>
        </p:nvSpPr>
        <p:spPr>
          <a:xfrm>
            <a:off x="6680564" y="2258154"/>
            <a:ext cx="5212079" cy="261610"/>
          </a:xfrm>
          <a:prstGeom prst="rect">
            <a:avLst/>
          </a:prstGeom>
          <a:noFill/>
        </p:spPr>
        <p:txBody>
          <a:bodyPr wrap="square">
            <a:spAutoFit/>
          </a:bodyPr>
          <a:lstStyle/>
          <a:p>
            <a:pPr algn="ctr">
              <a:buNone/>
            </a:pPr>
            <a:r>
              <a:rPr lang="es-CO" sz="1100" dirty="0"/>
              <a:t>Esta transformación consiste en convertir una variable continua en una variable binaria.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12</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4 · ANOMALÍAS DE COBRE</a:t>
            </a:r>
            <a:endParaRPr lang="es-CO" sz="1100" noProof="0" dirty="0"/>
          </a:p>
        </p:txBody>
      </p:sp>
      <p:sp>
        <p:nvSpPr>
          <p:cNvPr id="5" name="Text 3"/>
          <p:cNvSpPr/>
          <p:nvPr/>
        </p:nvSpPr>
        <p:spPr>
          <a:xfrm>
            <a:off x="502920" y="566928"/>
            <a:ext cx="621792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Distribución espacial de las anomalías</a:t>
            </a:r>
            <a:endParaRPr lang="es-CO" sz="2600" noProof="0" dirty="0"/>
          </a:p>
        </p:txBody>
      </p:sp>
      <p:pic>
        <p:nvPicPr>
          <p:cNvPr id="6" name="Image 0" descr="img/Figura_11_Distribucion_Anomalias.png"/>
          <p:cNvPicPr>
            <a:picLocks noChangeAspect="1"/>
          </p:cNvPicPr>
          <p:nvPr/>
        </p:nvPicPr>
        <p:blipFill>
          <a:blip r:embed="rId3"/>
          <a:stretch>
            <a:fillRect/>
          </a:stretch>
        </p:blipFill>
        <p:spPr>
          <a:xfrm>
            <a:off x="6070264" y="502920"/>
            <a:ext cx="5781712" cy="5943600"/>
          </a:xfrm>
          <a:prstGeom prst="rect">
            <a:avLst/>
          </a:prstGeom>
        </p:spPr>
      </p:pic>
      <p:sp>
        <p:nvSpPr>
          <p:cNvPr id="7" name="Text 4"/>
          <p:cNvSpPr/>
          <p:nvPr/>
        </p:nvSpPr>
        <p:spPr>
          <a:xfrm>
            <a:off x="502920" y="1645920"/>
            <a:ext cx="2377440" cy="502920"/>
          </a:xfrm>
          <a:prstGeom prst="rect">
            <a:avLst/>
          </a:prstGeom>
          <a:noFill/>
          <a:ln/>
        </p:spPr>
        <p:txBody>
          <a:bodyPr wrap="square" lIns="0" tIns="0" rIns="0" bIns="0" rtlCol="0" anchor="ctr"/>
          <a:lstStyle/>
          <a:p>
            <a:pPr marL="0" indent="0">
              <a:buNone/>
            </a:pPr>
            <a:r>
              <a:rPr lang="es-CO" sz="2600" b="1" noProof="0" dirty="0">
                <a:solidFill>
                  <a:srgbClr val="A9531F"/>
                </a:solidFill>
                <a:latin typeface="Calibri" pitchFamily="34" charset="0"/>
                <a:ea typeface="Calibri" pitchFamily="34" charset="-122"/>
                <a:cs typeface="Calibri" pitchFamily="34" charset="-120"/>
              </a:rPr>
              <a:t>283</a:t>
            </a:r>
            <a:endParaRPr lang="es-CO" sz="2600" noProof="0" dirty="0"/>
          </a:p>
        </p:txBody>
      </p:sp>
      <p:sp>
        <p:nvSpPr>
          <p:cNvPr id="8" name="Text 5"/>
          <p:cNvSpPr/>
          <p:nvPr/>
        </p:nvSpPr>
        <p:spPr>
          <a:xfrm>
            <a:off x="502920" y="2121408"/>
            <a:ext cx="2377440" cy="594360"/>
          </a:xfrm>
          <a:prstGeom prst="rect">
            <a:avLst/>
          </a:prstGeom>
          <a:noFill/>
          <a:ln/>
        </p:spPr>
        <p:txBody>
          <a:bodyPr wrap="square" lIns="0" tIns="0" rIns="0" bIns="0" rtlCol="0" anchor="ctr"/>
          <a:lstStyle/>
          <a:p>
            <a:pPr marL="0" indent="0">
              <a:buNone/>
            </a:pPr>
            <a:r>
              <a:rPr lang="es-CO" sz="1150" noProof="0" dirty="0">
                <a:solidFill>
                  <a:srgbClr val="5B6472"/>
                </a:solidFill>
                <a:latin typeface="Calibri" pitchFamily="34" charset="0"/>
                <a:ea typeface="Calibri" pitchFamily="34" charset="-122"/>
                <a:cs typeface="Calibri" pitchFamily="34" charset="-120"/>
              </a:rPr>
              <a:t>anomalías (13.95 % de las muestras)</a:t>
            </a:r>
            <a:endParaRPr lang="es-CO" sz="1150" noProof="0" dirty="0"/>
          </a:p>
        </p:txBody>
      </p:sp>
      <p:sp>
        <p:nvSpPr>
          <p:cNvPr id="9" name="Text 6"/>
          <p:cNvSpPr/>
          <p:nvPr/>
        </p:nvSpPr>
        <p:spPr>
          <a:xfrm>
            <a:off x="3017520" y="1645920"/>
            <a:ext cx="2377440" cy="502920"/>
          </a:xfrm>
          <a:prstGeom prst="rect">
            <a:avLst/>
          </a:prstGeom>
          <a:noFill/>
          <a:ln/>
        </p:spPr>
        <p:txBody>
          <a:bodyPr wrap="square" lIns="0" tIns="0" rIns="0" bIns="0" rtlCol="0" anchor="ctr"/>
          <a:lstStyle/>
          <a:p>
            <a:pPr marL="0" indent="0">
              <a:buNone/>
            </a:pPr>
            <a:r>
              <a:rPr lang="es-CO" sz="2600" b="1" noProof="0" dirty="0">
                <a:solidFill>
                  <a:srgbClr val="A9531F"/>
                </a:solidFill>
                <a:latin typeface="Calibri" pitchFamily="34" charset="0"/>
                <a:ea typeface="Calibri" pitchFamily="34" charset="-122"/>
                <a:cs typeface="Calibri" pitchFamily="34" charset="-120"/>
              </a:rPr>
              <a:t>5</a:t>
            </a:r>
            <a:endParaRPr lang="es-CO" sz="2600" noProof="0" dirty="0"/>
          </a:p>
        </p:txBody>
      </p:sp>
      <p:sp>
        <p:nvSpPr>
          <p:cNvPr id="10" name="Text 7"/>
          <p:cNvSpPr/>
          <p:nvPr/>
        </p:nvSpPr>
        <p:spPr>
          <a:xfrm>
            <a:off x="3017520" y="2121408"/>
            <a:ext cx="2377440" cy="594360"/>
          </a:xfrm>
          <a:prstGeom prst="rect">
            <a:avLst/>
          </a:prstGeom>
          <a:noFill/>
          <a:ln/>
        </p:spPr>
        <p:txBody>
          <a:bodyPr wrap="square" lIns="0" tIns="0" rIns="0" bIns="0" rtlCol="0" anchor="ctr"/>
          <a:lstStyle/>
          <a:p>
            <a:pPr marL="0" indent="0">
              <a:buNone/>
            </a:pPr>
            <a:r>
              <a:rPr lang="es-CO" sz="1150" noProof="0" dirty="0">
                <a:solidFill>
                  <a:srgbClr val="5B6472"/>
                </a:solidFill>
                <a:latin typeface="Calibri" pitchFamily="34" charset="0"/>
                <a:ea typeface="Calibri" pitchFamily="34" charset="-122"/>
                <a:cs typeface="Calibri" pitchFamily="34" charset="-120"/>
              </a:rPr>
              <a:t>sitios extremos entre 500 y 1,000 ppm</a:t>
            </a:r>
            <a:endParaRPr lang="es-CO" sz="1150" noProof="0" dirty="0"/>
          </a:p>
        </p:txBody>
      </p:sp>
      <p:sp>
        <p:nvSpPr>
          <p:cNvPr id="11" name="Text 8"/>
          <p:cNvSpPr/>
          <p:nvPr/>
        </p:nvSpPr>
        <p:spPr>
          <a:xfrm>
            <a:off x="502920" y="3063240"/>
            <a:ext cx="5212080" cy="2743200"/>
          </a:xfrm>
          <a:prstGeom prst="rect">
            <a:avLst/>
          </a:prstGeom>
          <a:noFill/>
          <a:ln/>
        </p:spPr>
        <p:txBody>
          <a:bodyPr wrap="square" lIns="0" tIns="0" rIns="0" bIns="0" rtlCol="0" anchor="t"/>
          <a:lstStyle/>
          <a:p>
            <a:pPr marL="152400" indent="-152400">
              <a:spcAft>
                <a:spcPts val="800"/>
              </a:spcAft>
              <a:buSzPct val="100000"/>
              <a:buChar char="•"/>
            </a:pPr>
            <a:r>
              <a:rPr lang="es-CO" sz="1300" noProof="0" dirty="0">
                <a:solidFill>
                  <a:srgbClr val="1F2430"/>
                </a:solidFill>
                <a:latin typeface="Calibri" pitchFamily="34" charset="0"/>
                <a:ea typeface="Calibri" pitchFamily="34" charset="-122"/>
                <a:cs typeface="Calibri" pitchFamily="34" charset="-120"/>
              </a:rPr>
              <a:t>Clases de concentración: 150 ppm (n = 223), 200 ppm (n = 43), 300 ppm (n = 12) y 500–1,000 ppm (n = 5).</a:t>
            </a:r>
            <a:endParaRPr lang="es-CO" sz="1300" noProof="0" dirty="0"/>
          </a:p>
          <a:p>
            <a:pPr marL="152400" indent="-152400">
              <a:spcAft>
                <a:spcPts val="800"/>
              </a:spcAft>
              <a:buSzPct val="100000"/>
              <a:buChar char="•"/>
            </a:pPr>
            <a:r>
              <a:rPr lang="es-CO" sz="1300" noProof="0" dirty="0">
                <a:solidFill>
                  <a:srgbClr val="1F2430"/>
                </a:solidFill>
                <a:latin typeface="Calibri" pitchFamily="34" charset="0"/>
                <a:ea typeface="Calibri" pitchFamily="34" charset="-122"/>
                <a:cs typeface="Calibri" pitchFamily="34" charset="-120"/>
              </a:rPr>
              <a:t>Las anomalías no se reparten de forma homogénea: se concentran en el noroccidente y en el corredor central Pueblorrico–Jericó–Támesis.</a:t>
            </a:r>
            <a:endParaRPr lang="es-CO" sz="1300" noProof="0" dirty="0"/>
          </a:p>
          <a:p>
            <a:pPr marL="152400" indent="-152400">
              <a:spcAft>
                <a:spcPts val="800"/>
              </a:spcAft>
              <a:buSzPct val="100000"/>
              <a:buChar char="•"/>
            </a:pPr>
            <a:r>
              <a:rPr lang="es-CO" sz="1300" noProof="0" dirty="0">
                <a:solidFill>
                  <a:srgbClr val="1F2430"/>
                </a:solidFill>
                <a:latin typeface="Calibri" pitchFamily="34" charset="0"/>
                <a:ea typeface="Calibri" pitchFamily="34" charset="-122"/>
                <a:cs typeface="Calibri" pitchFamily="34" charset="-120"/>
              </a:rPr>
              <a:t>El fondo geoquímico (n = 1,746) ocupa el resto del área con Cu &lt; 150 ppm.</a:t>
            </a:r>
            <a:endParaRPr lang="es-CO" sz="13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13</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4 · ANOMALÍAS DE COBRE</a:t>
            </a:r>
            <a:endParaRPr lang="es-CO" sz="1100" noProof="0" dirty="0"/>
          </a:p>
        </p:txBody>
      </p:sp>
      <p:sp>
        <p:nvSpPr>
          <p:cNvPr id="5" name="Text 3"/>
          <p:cNvSpPr/>
          <p:nvPr/>
        </p:nvSpPr>
        <p:spPr>
          <a:xfrm>
            <a:off x="502920" y="566928"/>
            <a:ext cx="621792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Densidad Kernel del patrón de anomalías</a:t>
            </a:r>
            <a:endParaRPr lang="es-CO" sz="2600" noProof="0" dirty="0"/>
          </a:p>
        </p:txBody>
      </p:sp>
      <p:pic>
        <p:nvPicPr>
          <p:cNvPr id="6" name="Image 0" descr="img/Figura_12_Densidad_Kernel_Anomalias.png"/>
          <p:cNvPicPr>
            <a:picLocks noChangeAspect="1"/>
          </p:cNvPicPr>
          <p:nvPr/>
        </p:nvPicPr>
        <p:blipFill>
          <a:blip r:embed="rId3"/>
          <a:stretch>
            <a:fillRect/>
          </a:stretch>
        </p:blipFill>
        <p:spPr>
          <a:xfrm>
            <a:off x="6313714" y="1005983"/>
            <a:ext cx="5548449" cy="5232188"/>
          </a:xfrm>
          <a:prstGeom prst="rect">
            <a:avLst/>
          </a:prstGeom>
        </p:spPr>
      </p:pic>
      <p:sp>
        <p:nvSpPr>
          <p:cNvPr id="7" name="Text 4"/>
          <p:cNvSpPr/>
          <p:nvPr/>
        </p:nvSpPr>
        <p:spPr>
          <a:xfrm>
            <a:off x="502919" y="1691640"/>
            <a:ext cx="5375367" cy="2926080"/>
          </a:xfrm>
          <a:prstGeom prst="rect">
            <a:avLst/>
          </a:prstGeom>
          <a:noFill/>
          <a:ln/>
        </p:spPr>
        <p:txBody>
          <a:bodyPr wrap="square" lIns="0" tIns="0" rIns="0" bIns="0" rtlCol="0" anchor="t"/>
          <a:lstStyle/>
          <a:p>
            <a:pPr marL="152400" indent="-152400">
              <a:spcAft>
                <a:spcPts val="800"/>
              </a:spcAft>
              <a:buSzPct val="100000"/>
              <a:buChar char="•"/>
            </a:pPr>
            <a:r>
              <a:rPr lang="es-CO" sz="1350" noProof="0" dirty="0">
                <a:solidFill>
                  <a:srgbClr val="1F2430"/>
                </a:solidFill>
                <a:latin typeface="Calibri" pitchFamily="34" charset="0"/>
                <a:ea typeface="Calibri" pitchFamily="34" charset="-122"/>
                <a:cs typeface="Calibri" pitchFamily="34" charset="-120"/>
              </a:rPr>
              <a:t>Kernel gaussiano, banda de Scott: ~11.5 km en promedio (10.1 km Este · 12.9 km Norte), malla de 300 × 300 celdas.</a:t>
            </a:r>
            <a:endParaRPr lang="es-CO" sz="1350" noProof="0" dirty="0"/>
          </a:p>
          <a:p>
            <a:pPr marL="152400" indent="-152400">
              <a:spcAft>
                <a:spcPts val="800"/>
              </a:spcAft>
              <a:buSzPct val="100000"/>
              <a:buChar char="•"/>
            </a:pPr>
            <a:r>
              <a:rPr lang="es-CO" sz="1350" noProof="0" dirty="0">
                <a:solidFill>
                  <a:srgbClr val="1F2430"/>
                </a:solidFill>
                <a:latin typeface="Calibri" pitchFamily="34" charset="0"/>
                <a:ea typeface="Calibri" pitchFamily="34" charset="-122"/>
                <a:cs typeface="Calibri" pitchFamily="34" charset="-120"/>
              </a:rPr>
              <a:t>Emergen tres núcleos de alta densidad: el noroccidente (dos focos en el entorno de Urrao–Frontino), el corredor central Pueblorrico–Jericó y un núcleo sur en Andes.</a:t>
            </a:r>
            <a:endParaRPr lang="es-CO" sz="1350" noProof="0" dirty="0"/>
          </a:p>
          <a:p>
            <a:pPr marL="152400" indent="-152400">
              <a:spcAft>
                <a:spcPts val="800"/>
              </a:spcAft>
              <a:buSzPct val="100000"/>
              <a:buChar char="•"/>
            </a:pPr>
            <a:r>
              <a:rPr lang="es-CO" sz="1350" noProof="0" dirty="0">
                <a:solidFill>
                  <a:srgbClr val="1F2430"/>
                </a:solidFill>
                <a:latin typeface="Calibri" pitchFamily="34" charset="0"/>
                <a:ea typeface="Calibri" pitchFamily="34" charset="-122"/>
                <a:cs typeface="Calibri" pitchFamily="34" charset="-120"/>
              </a:rPr>
              <a:t>El costado oriental permanece con densidades mínimas de anomalías.</a:t>
            </a:r>
            <a:endParaRPr lang="es-CO" sz="1350" noProof="0" dirty="0"/>
          </a:p>
        </p:txBody>
      </p:sp>
      <p:sp>
        <p:nvSpPr>
          <p:cNvPr id="8" name="Text 5"/>
          <p:cNvSpPr/>
          <p:nvPr/>
        </p:nvSpPr>
        <p:spPr>
          <a:xfrm>
            <a:off x="502920" y="4754880"/>
            <a:ext cx="4937760" cy="274320"/>
          </a:xfrm>
          <a:prstGeom prst="rect">
            <a:avLst/>
          </a:prstGeom>
          <a:noFill/>
          <a:ln/>
        </p:spPr>
        <p:txBody>
          <a:bodyPr wrap="square" lIns="0" tIns="0" rIns="0" bIns="0" rtlCol="0" anchor="ctr"/>
          <a:lstStyle/>
          <a:p>
            <a:pPr marL="0" indent="0">
              <a:buNone/>
            </a:pPr>
            <a:r>
              <a:rPr lang="es-CO" sz="1000" i="1" noProof="0" dirty="0">
                <a:solidFill>
                  <a:srgbClr val="5B6472"/>
                </a:solidFill>
                <a:latin typeface="Calibri" pitchFamily="34" charset="0"/>
                <a:ea typeface="Calibri" pitchFamily="34" charset="-122"/>
                <a:cs typeface="Calibri" pitchFamily="34" charset="-120"/>
              </a:rPr>
              <a:t>Fuente: Tabla 11 y Figura 12.</a:t>
            </a:r>
            <a:endParaRPr lang="es-CO" sz="10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D0B2AC5-F313-3643-9778-DC1BB563E5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7A94E1E-D489-EEC1-8A81-B5D5E2A7D09C}"/>
              </a:ext>
            </a:extLst>
          </p:cNvPr>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a:extLst>
              <a:ext uri="{FF2B5EF4-FFF2-40B4-BE49-F238E27FC236}">
                <a16:creationId xmlns:a16="http://schemas.microsoft.com/office/drawing/2014/main" id="{A7922AF1-617B-948E-FD97-ABFF1EBE1636}"/>
              </a:ext>
            </a:extLst>
          </p:cNvPr>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13</a:t>
            </a:r>
            <a:endParaRPr lang="es-CO" sz="900" noProof="0" dirty="0"/>
          </a:p>
        </p:txBody>
      </p:sp>
      <p:sp>
        <p:nvSpPr>
          <p:cNvPr id="4" name="Text 2">
            <a:extLst>
              <a:ext uri="{FF2B5EF4-FFF2-40B4-BE49-F238E27FC236}">
                <a16:creationId xmlns:a16="http://schemas.microsoft.com/office/drawing/2014/main" id="{FD90C19C-2750-8357-008B-E3903C4D0A26}"/>
              </a:ext>
            </a:extLst>
          </p:cNvPr>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4 · ANOMALÍAS DE COBRE</a:t>
            </a:r>
            <a:endParaRPr lang="es-CO" sz="1100" noProof="0" dirty="0"/>
          </a:p>
        </p:txBody>
      </p:sp>
      <p:sp>
        <p:nvSpPr>
          <p:cNvPr id="5" name="Text 3">
            <a:extLst>
              <a:ext uri="{FF2B5EF4-FFF2-40B4-BE49-F238E27FC236}">
                <a16:creationId xmlns:a16="http://schemas.microsoft.com/office/drawing/2014/main" id="{D29B82EF-3662-2B82-7CA2-2FB11EA5F740}"/>
              </a:ext>
            </a:extLst>
          </p:cNvPr>
          <p:cNvSpPr/>
          <p:nvPr/>
        </p:nvSpPr>
        <p:spPr>
          <a:xfrm>
            <a:off x="502919" y="671694"/>
            <a:ext cx="11231576"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Comparación </a:t>
            </a:r>
            <a:r>
              <a:rPr lang="es-CO" sz="2600" b="1" dirty="0">
                <a:solidFill>
                  <a:srgbClr val="1F2430"/>
                </a:solidFill>
                <a:latin typeface="Calibri" pitchFamily="34" charset="0"/>
                <a:ea typeface="Calibri" pitchFamily="34" charset="-122"/>
                <a:cs typeface="Calibri" pitchFamily="34" charset="-120"/>
              </a:rPr>
              <a:t>d</a:t>
            </a:r>
            <a:r>
              <a:rPr lang="es-CO" sz="2600" b="1" noProof="0" dirty="0" err="1">
                <a:solidFill>
                  <a:srgbClr val="1F2430"/>
                </a:solidFill>
                <a:latin typeface="Calibri" pitchFamily="34" charset="0"/>
                <a:ea typeface="Calibri" pitchFamily="34" charset="-122"/>
                <a:cs typeface="Calibri" pitchFamily="34" charset="-120"/>
              </a:rPr>
              <a:t>ensidad</a:t>
            </a:r>
            <a:r>
              <a:rPr lang="es-CO" sz="2600" b="1" noProof="0" dirty="0">
                <a:solidFill>
                  <a:srgbClr val="1F2430"/>
                </a:solidFill>
                <a:latin typeface="Calibri" pitchFamily="34" charset="0"/>
                <a:ea typeface="Calibri" pitchFamily="34" charset="-122"/>
                <a:cs typeface="Calibri" pitchFamily="34" charset="-120"/>
              </a:rPr>
              <a:t> Kernel del patrón de muestreo y del patrón de anomalías</a:t>
            </a:r>
            <a:endParaRPr lang="es-CO" sz="2600" noProof="0" dirty="0"/>
          </a:p>
        </p:txBody>
      </p:sp>
      <p:pic>
        <p:nvPicPr>
          <p:cNvPr id="6" name="Image 0" descr="img/Figura_12_Densidad_Kernel_Anomalias.png">
            <a:extLst>
              <a:ext uri="{FF2B5EF4-FFF2-40B4-BE49-F238E27FC236}">
                <a16:creationId xmlns:a16="http://schemas.microsoft.com/office/drawing/2014/main" id="{A7FA6C6A-47D6-45F2-04E0-24556869521B}"/>
              </a:ext>
            </a:extLst>
          </p:cNvPr>
          <p:cNvPicPr>
            <a:picLocks noChangeAspect="1"/>
          </p:cNvPicPr>
          <p:nvPr/>
        </p:nvPicPr>
        <p:blipFill>
          <a:blip r:embed="rId3"/>
          <a:stretch>
            <a:fillRect/>
          </a:stretch>
        </p:blipFill>
        <p:spPr>
          <a:xfrm>
            <a:off x="5939945" y="1770445"/>
            <a:ext cx="5133262" cy="4840667"/>
          </a:xfrm>
          <a:prstGeom prst="rect">
            <a:avLst/>
          </a:prstGeom>
        </p:spPr>
      </p:pic>
      <p:pic>
        <p:nvPicPr>
          <p:cNvPr id="10" name="Image 0" descr="img/Figura_09_Densidad_Kernel_Patron_Muestreo.png">
            <a:extLst>
              <a:ext uri="{FF2B5EF4-FFF2-40B4-BE49-F238E27FC236}">
                <a16:creationId xmlns:a16="http://schemas.microsoft.com/office/drawing/2014/main" id="{48A13C8A-BAF2-0CB2-D797-48A6D3FEEF54}"/>
              </a:ext>
            </a:extLst>
          </p:cNvPr>
          <p:cNvPicPr>
            <a:picLocks noChangeAspect="1"/>
          </p:cNvPicPr>
          <p:nvPr/>
        </p:nvPicPr>
        <p:blipFill>
          <a:blip r:embed="rId4"/>
          <a:stretch>
            <a:fillRect/>
          </a:stretch>
        </p:blipFill>
        <p:spPr>
          <a:xfrm>
            <a:off x="768451" y="1839260"/>
            <a:ext cx="4905964" cy="4378573"/>
          </a:xfrm>
          <a:prstGeom prst="rect">
            <a:avLst/>
          </a:prstGeom>
        </p:spPr>
      </p:pic>
      <p:sp>
        <p:nvSpPr>
          <p:cNvPr id="12" name="CuadroTexto 11">
            <a:extLst>
              <a:ext uri="{FF2B5EF4-FFF2-40B4-BE49-F238E27FC236}">
                <a16:creationId xmlns:a16="http://schemas.microsoft.com/office/drawing/2014/main" id="{D36ED84B-7B0B-9EC0-A1EE-27B032DD48DE}"/>
              </a:ext>
            </a:extLst>
          </p:cNvPr>
          <p:cNvSpPr txBox="1"/>
          <p:nvPr/>
        </p:nvSpPr>
        <p:spPr>
          <a:xfrm>
            <a:off x="967345" y="1408373"/>
            <a:ext cx="3955175" cy="261610"/>
          </a:xfrm>
          <a:prstGeom prst="rect">
            <a:avLst/>
          </a:prstGeom>
          <a:noFill/>
        </p:spPr>
        <p:txBody>
          <a:bodyPr wrap="square">
            <a:spAutoFit/>
          </a:bodyPr>
          <a:lstStyle/>
          <a:p>
            <a:pPr algn="ctr"/>
            <a:r>
              <a:rPr lang="es-CO" sz="1100" noProof="0" dirty="0"/>
              <a:t>La centrografía nos dijo hacia dónde se orienta el muestreo</a:t>
            </a:r>
          </a:p>
        </p:txBody>
      </p:sp>
      <p:sp>
        <p:nvSpPr>
          <p:cNvPr id="14" name="CuadroTexto 13">
            <a:extLst>
              <a:ext uri="{FF2B5EF4-FFF2-40B4-BE49-F238E27FC236}">
                <a16:creationId xmlns:a16="http://schemas.microsoft.com/office/drawing/2014/main" id="{23C3A58E-F342-7DD3-7FF6-53383BBB9205}"/>
              </a:ext>
            </a:extLst>
          </p:cNvPr>
          <p:cNvSpPr txBox="1"/>
          <p:nvPr/>
        </p:nvSpPr>
        <p:spPr>
          <a:xfrm>
            <a:off x="6313715" y="1408373"/>
            <a:ext cx="6096000" cy="261610"/>
          </a:xfrm>
          <a:prstGeom prst="rect">
            <a:avLst/>
          </a:prstGeom>
          <a:noFill/>
        </p:spPr>
        <p:txBody>
          <a:bodyPr wrap="square">
            <a:spAutoFit/>
          </a:bodyPr>
          <a:lstStyle/>
          <a:p>
            <a:r>
              <a:rPr lang="es-CO" sz="1100" dirty="0"/>
              <a:t>L</a:t>
            </a:r>
            <a:r>
              <a:rPr lang="es-CO" sz="1100" noProof="0" dirty="0"/>
              <a:t>a densidad </a:t>
            </a:r>
            <a:r>
              <a:rPr lang="es-CO" sz="1100" noProof="0" dirty="0" err="1"/>
              <a:t>Kernel</a:t>
            </a:r>
            <a:r>
              <a:rPr lang="es-CO" sz="1100" noProof="0" dirty="0"/>
              <a:t> nos muestra dónde realmente se concentra</a:t>
            </a:r>
            <a:endParaRPr lang="es-CO" dirty="0"/>
          </a:p>
        </p:txBody>
      </p:sp>
    </p:spTree>
    <p:extLst>
      <p:ext uri="{BB962C8B-B14F-4D97-AF65-F5344CB8AC3E}">
        <p14:creationId xmlns:p14="http://schemas.microsoft.com/office/powerpoint/2010/main" val="2423532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14</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4 · ANOMALÍAS DE COBRE</a:t>
            </a:r>
            <a:endParaRPr lang="es-CO" sz="1100" noProof="0" dirty="0"/>
          </a:p>
        </p:txBody>
      </p:sp>
      <p:sp>
        <p:nvSpPr>
          <p:cNvPr id="5" name="Text 3"/>
          <p:cNvSpPr/>
          <p:nvPr/>
        </p:nvSpPr>
        <p:spPr>
          <a:xfrm>
            <a:off x="502920" y="566928"/>
            <a:ext cx="1115568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Vecino más cercano de las anomalías (n = 283)</a:t>
            </a:r>
            <a:endParaRPr lang="es-CO" sz="2600" noProof="0" dirty="0"/>
          </a:p>
        </p:txBody>
      </p:sp>
      <p:graphicFrame>
        <p:nvGraphicFramePr>
          <p:cNvPr id="15" name="Table 0"/>
          <p:cNvGraphicFramePr>
            <a:graphicFrameLocks noGrp="1"/>
          </p:cNvGraphicFramePr>
          <p:nvPr>
            <p:extLst>
              <p:ext uri="{D42A27DB-BD31-4B8C-83A1-F6EECF244321}">
                <p14:modId xmlns:p14="http://schemas.microsoft.com/office/powerpoint/2010/main" val="1477966707"/>
              </p:ext>
            </p:extLst>
          </p:nvPr>
        </p:nvGraphicFramePr>
        <p:xfrm>
          <a:off x="822960" y="1847088"/>
          <a:ext cx="6583680" cy="2944368"/>
        </p:xfrm>
        <a:graphic>
          <a:graphicData uri="http://schemas.openxmlformats.org/drawingml/2006/table">
            <a:tbl>
              <a:tblPr/>
              <a:tblGrid>
                <a:gridCol w="38404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420624">
                <a:tc>
                  <a:txBody>
                    <a:bodyPr/>
                    <a:lstStyle/>
                    <a:p>
                      <a:pPr marL="0" indent="0" algn="l">
                        <a:buNone/>
                      </a:pPr>
                      <a:r>
                        <a:rPr lang="es-CO" sz="1300" b="1" noProof="0" dirty="0">
                          <a:solidFill>
                            <a:srgbClr val="FFFFFF"/>
                          </a:solidFill>
                          <a:latin typeface="Calibri" pitchFamily="34" charset="0"/>
                          <a:ea typeface="Calibri" pitchFamily="34" charset="-122"/>
                          <a:cs typeface="Calibri" pitchFamily="34" charset="-120"/>
                        </a:rPr>
                        <a:t>Parámetro</a:t>
                      </a:r>
                      <a:endParaRPr lang="es-CO" sz="13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l">
                        <a:buNone/>
                      </a:pPr>
                      <a:r>
                        <a:rPr lang="es-CO" sz="1300" b="1" noProof="0" dirty="0">
                          <a:solidFill>
                            <a:srgbClr val="FFFFFF"/>
                          </a:solidFill>
                          <a:latin typeface="Calibri" pitchFamily="34" charset="0"/>
                          <a:ea typeface="Calibri" pitchFamily="34" charset="-122"/>
                          <a:cs typeface="Calibri" pitchFamily="34" charset="-120"/>
                        </a:rPr>
                        <a:t>Valor</a:t>
                      </a:r>
                      <a:endParaRPr lang="es-CO" sz="13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extLst>
                  <a:ext uri="{0D108BD9-81ED-4DB2-BD59-A6C34878D82A}">
                    <a16:rowId xmlns:a16="http://schemas.microsoft.com/office/drawing/2014/main" val="10000"/>
                  </a:ext>
                </a:extLst>
              </a:tr>
              <a:tr h="420624">
                <a:tc>
                  <a:txBody>
                    <a:bodyPr/>
                    <a:lstStyle/>
                    <a:p>
                      <a:pPr marL="0" indent="0" algn="l">
                        <a:buNone/>
                      </a:pPr>
                      <a:r>
                        <a:rPr lang="es-CO" sz="1300" noProof="0" dirty="0">
                          <a:solidFill>
                            <a:srgbClr val="1F2430"/>
                          </a:solidFill>
                          <a:latin typeface="Calibri" pitchFamily="34" charset="0"/>
                          <a:ea typeface="Calibri" pitchFamily="34" charset="-122"/>
                          <a:cs typeface="Calibri" pitchFamily="34" charset="-120"/>
                        </a:rPr>
                        <a:t>Densidad de anomalías</a:t>
                      </a:r>
                      <a:endParaRPr lang="es-CO" sz="13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300" noProof="0" dirty="0">
                          <a:solidFill>
                            <a:srgbClr val="1F2430"/>
                          </a:solidFill>
                          <a:latin typeface="Calibri" pitchFamily="34" charset="0"/>
                          <a:ea typeface="Calibri" pitchFamily="34" charset="-122"/>
                          <a:cs typeface="Calibri" pitchFamily="34" charset="-120"/>
                        </a:rPr>
                        <a:t>0.0445 anomalías/km²</a:t>
                      </a:r>
                      <a:endParaRPr lang="es-CO" sz="13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s-CO" sz="1300" noProof="0" dirty="0">
                          <a:solidFill>
                            <a:srgbClr val="1F2430"/>
                          </a:solidFill>
                          <a:highlight>
                            <a:srgbClr val="FFFF00"/>
                          </a:highlight>
                          <a:latin typeface="Calibri" pitchFamily="34" charset="0"/>
                          <a:ea typeface="Calibri" pitchFamily="34" charset="-122"/>
                          <a:cs typeface="Calibri" pitchFamily="34" charset="-120"/>
                        </a:rPr>
                        <a:t>Distancia media observada</a:t>
                      </a:r>
                      <a:endParaRPr lang="es-CO" sz="1300" noProof="0" dirty="0">
                        <a:highlight>
                          <a:srgbClr val="FFFF00"/>
                        </a:highlight>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300" noProof="0" dirty="0">
                          <a:solidFill>
                            <a:srgbClr val="1F2430"/>
                          </a:solidFill>
                          <a:highlight>
                            <a:srgbClr val="FFFF00"/>
                          </a:highlight>
                          <a:latin typeface="Calibri" pitchFamily="34" charset="0"/>
                          <a:ea typeface="Calibri" pitchFamily="34" charset="-122"/>
                          <a:cs typeface="Calibri" pitchFamily="34" charset="-120"/>
                        </a:rPr>
                        <a:t>1,067.7 m</a:t>
                      </a:r>
                      <a:endParaRPr lang="es-CO" sz="1300" noProof="0" dirty="0">
                        <a:highlight>
                          <a:srgbClr val="FFFF00"/>
                        </a:highlight>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2"/>
                  </a:ext>
                </a:extLst>
              </a:tr>
              <a:tr h="420624">
                <a:tc>
                  <a:txBody>
                    <a:bodyPr/>
                    <a:lstStyle/>
                    <a:p>
                      <a:pPr marL="0" indent="0" algn="l">
                        <a:buNone/>
                      </a:pPr>
                      <a:r>
                        <a:rPr lang="es-CO" sz="1100" noProof="0" dirty="0">
                          <a:solidFill>
                            <a:srgbClr val="1F2430"/>
                          </a:solidFill>
                          <a:latin typeface="Calibri" pitchFamily="34" charset="0"/>
                          <a:ea typeface="Calibri" pitchFamily="34" charset="-122"/>
                          <a:cs typeface="Calibri" pitchFamily="34" charset="-120"/>
                        </a:rPr>
                        <a:t>Distancia media esperada </a:t>
                      </a:r>
                      <a:r>
                        <a:rPr lang="es-CO" sz="1100" kern="1200" noProof="0" dirty="0">
                          <a:solidFill>
                            <a:srgbClr val="1F2430"/>
                          </a:solidFill>
                          <a:latin typeface="Calibri" pitchFamily="34" charset="0"/>
                          <a:ea typeface="Calibri" pitchFamily="34" charset="-122"/>
                          <a:cs typeface="Calibri" pitchFamily="34" charset="-120"/>
                        </a:rPr>
                        <a:t>a</a:t>
                      </a:r>
                      <a:r>
                        <a:rPr lang="es-CO" sz="1100" kern="1200" dirty="0" err="1">
                          <a:solidFill>
                            <a:srgbClr val="1F2430"/>
                          </a:solidFill>
                          <a:latin typeface="Calibri" pitchFamily="34" charset="0"/>
                          <a:ea typeface="Calibri" pitchFamily="34" charset="-122"/>
                          <a:cs typeface="Calibri" pitchFamily="34" charset="-120"/>
                        </a:rPr>
                        <a:t>leatoriedad</a:t>
                      </a:r>
                      <a:r>
                        <a:rPr lang="es-CO" sz="1100" kern="1200" dirty="0">
                          <a:solidFill>
                            <a:srgbClr val="1F2430"/>
                          </a:solidFill>
                          <a:latin typeface="Calibri" pitchFamily="34" charset="0"/>
                          <a:ea typeface="Calibri" pitchFamily="34" charset="-122"/>
                          <a:cs typeface="Calibri" pitchFamily="34" charset="-120"/>
                        </a:rPr>
                        <a:t> espacial Completa </a:t>
                      </a:r>
                      <a:r>
                        <a:rPr lang="es-CO" sz="1100" noProof="0" dirty="0">
                          <a:solidFill>
                            <a:srgbClr val="1F2430"/>
                          </a:solidFill>
                          <a:latin typeface="Calibri" pitchFamily="34" charset="0"/>
                          <a:ea typeface="Calibri" pitchFamily="34" charset="-122"/>
                          <a:cs typeface="Calibri" pitchFamily="34" charset="-120"/>
                        </a:rPr>
                        <a:t>(CSR) </a:t>
                      </a:r>
                      <a:endParaRPr lang="es-CO" sz="11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300" noProof="0" dirty="0">
                          <a:solidFill>
                            <a:srgbClr val="1F2430"/>
                          </a:solidFill>
                          <a:latin typeface="Calibri" pitchFamily="34" charset="0"/>
                          <a:ea typeface="Calibri" pitchFamily="34" charset="-122"/>
                          <a:cs typeface="Calibri" pitchFamily="34" charset="-120"/>
                        </a:rPr>
                        <a:t>2,371.4 m</a:t>
                      </a:r>
                      <a:endParaRPr lang="es-CO" sz="13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s-CO" sz="1300" noProof="0" dirty="0">
                          <a:solidFill>
                            <a:srgbClr val="1F2430"/>
                          </a:solidFill>
                          <a:latin typeface="Calibri" pitchFamily="34" charset="0"/>
                          <a:ea typeface="Calibri" pitchFamily="34" charset="-122"/>
                          <a:cs typeface="Calibri" pitchFamily="34" charset="-120"/>
                        </a:rPr>
                        <a:t>Índice R de Clark y Evans</a:t>
                      </a:r>
                      <a:endParaRPr lang="es-CO" sz="13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300" noProof="0" dirty="0">
                          <a:solidFill>
                            <a:srgbClr val="1F2430"/>
                          </a:solidFill>
                          <a:latin typeface="Calibri" pitchFamily="34" charset="0"/>
                          <a:ea typeface="Calibri" pitchFamily="34" charset="-122"/>
                          <a:cs typeface="Calibri" pitchFamily="34" charset="-120"/>
                        </a:rPr>
                        <a:t>0.450</a:t>
                      </a:r>
                      <a:endParaRPr lang="es-CO" sz="13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4"/>
                  </a:ext>
                </a:extLst>
              </a:tr>
              <a:tr h="420624">
                <a:tc>
                  <a:txBody>
                    <a:bodyPr/>
                    <a:lstStyle/>
                    <a:p>
                      <a:pPr marL="0" indent="0" algn="l">
                        <a:buNone/>
                      </a:pPr>
                      <a:r>
                        <a:rPr lang="es-CO" sz="1300" noProof="0" dirty="0">
                          <a:solidFill>
                            <a:srgbClr val="1F2430"/>
                          </a:solidFill>
                          <a:latin typeface="Calibri" pitchFamily="34" charset="0"/>
                          <a:ea typeface="Calibri" pitchFamily="34" charset="-122"/>
                          <a:cs typeface="Calibri" pitchFamily="34" charset="-120"/>
                        </a:rPr>
                        <a:t>Estadístico Z</a:t>
                      </a:r>
                      <a:endParaRPr lang="es-CO" sz="13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s-CO" sz="1300" noProof="0" dirty="0">
                          <a:solidFill>
                            <a:srgbClr val="1F2430"/>
                          </a:solidFill>
                          <a:latin typeface="Calibri" pitchFamily="34" charset="0"/>
                          <a:ea typeface="Calibri" pitchFamily="34" charset="-122"/>
                          <a:cs typeface="Calibri" pitchFamily="34" charset="-120"/>
                        </a:rPr>
                        <a:t>−17.69</a:t>
                      </a:r>
                      <a:endParaRPr lang="es-CO" sz="13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lgn="l">
                        <a:buNone/>
                      </a:pPr>
                      <a:r>
                        <a:rPr lang="es-CO" sz="1300" noProof="0" dirty="0">
                          <a:solidFill>
                            <a:srgbClr val="1F2430"/>
                          </a:solidFill>
                          <a:latin typeface="Calibri" pitchFamily="34" charset="0"/>
                          <a:ea typeface="Calibri" pitchFamily="34" charset="-122"/>
                          <a:cs typeface="Calibri" pitchFamily="34" charset="-120"/>
                        </a:rPr>
                        <a:t>Valor p</a:t>
                      </a:r>
                      <a:endParaRPr lang="es-CO" sz="13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s-CO" sz="1300" noProof="0" dirty="0">
                          <a:solidFill>
                            <a:srgbClr val="1F2430"/>
                          </a:solidFill>
                          <a:latin typeface="Calibri" pitchFamily="34" charset="0"/>
                          <a:ea typeface="Calibri" pitchFamily="34" charset="-122"/>
                          <a:cs typeface="Calibri" pitchFamily="34" charset="-120"/>
                        </a:rPr>
                        <a:t>≈ 0</a:t>
                      </a:r>
                      <a:endParaRPr lang="es-CO" sz="13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6"/>
                  </a:ext>
                </a:extLst>
              </a:tr>
            </a:tbl>
          </a:graphicData>
        </a:graphic>
      </p:graphicFrame>
      <p:sp>
        <p:nvSpPr>
          <p:cNvPr id="7" name="Text 4"/>
          <p:cNvSpPr/>
          <p:nvPr/>
        </p:nvSpPr>
        <p:spPr>
          <a:xfrm>
            <a:off x="8046720" y="1828800"/>
            <a:ext cx="3291840" cy="502920"/>
          </a:xfrm>
          <a:prstGeom prst="rect">
            <a:avLst/>
          </a:prstGeom>
          <a:noFill/>
          <a:ln/>
        </p:spPr>
        <p:txBody>
          <a:bodyPr wrap="square" lIns="0" tIns="0" rIns="0" bIns="0" rtlCol="0" anchor="ctr"/>
          <a:lstStyle/>
          <a:p>
            <a:pPr marL="0" indent="0">
              <a:buNone/>
            </a:pPr>
            <a:r>
              <a:rPr lang="es-CO" sz="2600" b="1" noProof="0" dirty="0">
                <a:solidFill>
                  <a:srgbClr val="A9531F"/>
                </a:solidFill>
                <a:latin typeface="Calibri" pitchFamily="34" charset="0"/>
                <a:ea typeface="Calibri" pitchFamily="34" charset="-122"/>
                <a:cs typeface="Calibri" pitchFamily="34" charset="-120"/>
              </a:rPr>
              <a:t>R = 0.450</a:t>
            </a:r>
            <a:endParaRPr lang="es-CO" sz="2600" noProof="0" dirty="0"/>
          </a:p>
        </p:txBody>
      </p:sp>
      <p:sp>
        <p:nvSpPr>
          <p:cNvPr id="8" name="Text 5"/>
          <p:cNvSpPr/>
          <p:nvPr/>
        </p:nvSpPr>
        <p:spPr>
          <a:xfrm>
            <a:off x="8046720" y="2304287"/>
            <a:ext cx="3291840" cy="766309"/>
          </a:xfrm>
          <a:prstGeom prst="rect">
            <a:avLst/>
          </a:prstGeom>
          <a:noFill/>
          <a:ln/>
        </p:spPr>
        <p:txBody>
          <a:bodyPr wrap="square" lIns="0" tIns="0" rIns="0" bIns="0" rtlCol="0" anchor="ctr"/>
          <a:lstStyle/>
          <a:p>
            <a:r>
              <a:rPr lang="es-CO" sz="1150" dirty="0">
                <a:solidFill>
                  <a:srgbClr val="5B6472"/>
                </a:solidFill>
                <a:latin typeface="Calibri" pitchFamily="34" charset="0"/>
                <a:ea typeface="Calibri" pitchFamily="34" charset="-122"/>
                <a:cs typeface="Calibri" pitchFamily="34" charset="-120"/>
              </a:rPr>
              <a:t>el índice de Clark y Evans nos muestra que las </a:t>
            </a:r>
            <a:r>
              <a:rPr lang="es-CO" sz="1150" noProof="0" dirty="0">
                <a:solidFill>
                  <a:srgbClr val="5B6472"/>
                </a:solidFill>
                <a:latin typeface="Calibri" pitchFamily="34" charset="0"/>
                <a:ea typeface="Calibri" pitchFamily="34" charset="-122"/>
                <a:cs typeface="Calibri" pitchFamily="34" charset="-120"/>
              </a:rPr>
              <a:t>anomalías están, en promedio, a menos de la mitad de la distancia esperada bajo aleatoriedad</a:t>
            </a:r>
            <a:br>
              <a:rPr lang="es-CO" sz="1150" noProof="0" dirty="0">
                <a:solidFill>
                  <a:srgbClr val="5B6472"/>
                </a:solidFill>
                <a:latin typeface="Calibri" pitchFamily="34" charset="0"/>
                <a:ea typeface="Calibri" pitchFamily="34" charset="-122"/>
                <a:cs typeface="Calibri" pitchFamily="34" charset="-120"/>
              </a:rPr>
            </a:br>
            <a:r>
              <a:rPr lang="es-CO" sz="1150" noProof="0" dirty="0">
                <a:solidFill>
                  <a:srgbClr val="5B6472"/>
                </a:solidFill>
                <a:latin typeface="Calibri" pitchFamily="34" charset="0"/>
                <a:ea typeface="Calibri" pitchFamily="34" charset="-122"/>
                <a:cs typeface="Calibri" pitchFamily="34" charset="-120"/>
              </a:rPr>
              <a:t> (</a:t>
            </a:r>
            <a:r>
              <a:rPr lang="es-CO" sz="1150" dirty="0">
                <a:solidFill>
                  <a:srgbClr val="5B6472"/>
                </a:solidFill>
                <a:latin typeface="Calibri" pitchFamily="34" charset="0"/>
                <a:ea typeface="Calibri" pitchFamily="34" charset="-122"/>
                <a:cs typeface="Calibri" pitchFamily="34" charset="-120"/>
              </a:rPr>
              <a:t>Patrón espacial </a:t>
            </a:r>
            <a:r>
              <a:rPr lang="es-CO" sz="1150" noProof="0" dirty="0">
                <a:solidFill>
                  <a:srgbClr val="5B6472"/>
                </a:solidFill>
                <a:latin typeface="Calibri" pitchFamily="34" charset="0"/>
                <a:ea typeface="Calibri" pitchFamily="34" charset="-122"/>
                <a:cs typeface="Calibri" pitchFamily="34" charset="-120"/>
              </a:rPr>
              <a:t>agrupados)</a:t>
            </a:r>
            <a:endParaRPr lang="es-CO" sz="1150" noProof="0" dirty="0"/>
          </a:p>
        </p:txBody>
      </p:sp>
      <p:sp>
        <p:nvSpPr>
          <p:cNvPr id="9" name="Text 6"/>
          <p:cNvSpPr/>
          <p:nvPr/>
        </p:nvSpPr>
        <p:spPr>
          <a:xfrm>
            <a:off x="8046720" y="3291840"/>
            <a:ext cx="3291840" cy="502920"/>
          </a:xfrm>
          <a:prstGeom prst="rect">
            <a:avLst/>
          </a:prstGeom>
          <a:noFill/>
          <a:ln/>
        </p:spPr>
        <p:txBody>
          <a:bodyPr wrap="square" lIns="0" tIns="0" rIns="0" bIns="0" rtlCol="0" anchor="ctr"/>
          <a:lstStyle/>
          <a:p>
            <a:pPr marL="0" indent="0">
              <a:buNone/>
            </a:pPr>
            <a:r>
              <a:rPr lang="es-CO" sz="2600" b="1" noProof="0" dirty="0">
                <a:solidFill>
                  <a:srgbClr val="A9531F"/>
                </a:solidFill>
                <a:latin typeface="Calibri" pitchFamily="34" charset="0"/>
                <a:ea typeface="Calibri" pitchFamily="34" charset="-122"/>
                <a:cs typeface="Calibri" pitchFamily="34" charset="-120"/>
              </a:rPr>
              <a:t>Z = −17.69</a:t>
            </a:r>
            <a:endParaRPr lang="es-CO" sz="2600" noProof="0" dirty="0"/>
          </a:p>
        </p:txBody>
      </p:sp>
      <p:sp>
        <p:nvSpPr>
          <p:cNvPr id="10" name="Text 7"/>
          <p:cNvSpPr/>
          <p:nvPr/>
        </p:nvSpPr>
        <p:spPr>
          <a:xfrm>
            <a:off x="8046720" y="3767328"/>
            <a:ext cx="3291840" cy="594360"/>
          </a:xfrm>
          <a:prstGeom prst="rect">
            <a:avLst/>
          </a:prstGeom>
          <a:noFill/>
          <a:ln/>
        </p:spPr>
        <p:txBody>
          <a:bodyPr wrap="square" lIns="0" tIns="0" rIns="0" bIns="0" rtlCol="0" anchor="ctr"/>
          <a:lstStyle/>
          <a:p>
            <a:r>
              <a:rPr lang="es-CO" sz="1150" noProof="0" dirty="0">
                <a:solidFill>
                  <a:srgbClr val="5B6472"/>
                </a:solidFill>
                <a:latin typeface="Calibri" pitchFamily="34" charset="0"/>
                <a:ea typeface="Calibri" pitchFamily="34" charset="-122"/>
                <a:cs typeface="Calibri" pitchFamily="34" charset="-120"/>
              </a:rPr>
              <a:t>desviación fuertemente significativa frente a la hipótesis de CSR. </a:t>
            </a:r>
            <a:br>
              <a:rPr lang="es-CO" sz="1150" noProof="0" dirty="0">
                <a:solidFill>
                  <a:srgbClr val="5B6472"/>
                </a:solidFill>
                <a:latin typeface="Calibri" pitchFamily="34" charset="0"/>
                <a:ea typeface="Calibri" pitchFamily="34" charset="-122"/>
                <a:cs typeface="Calibri" pitchFamily="34" charset="-120"/>
              </a:rPr>
            </a:br>
            <a:r>
              <a:rPr lang="es-CO" sz="1150" dirty="0">
                <a:solidFill>
                  <a:srgbClr val="5B6472"/>
                </a:solidFill>
                <a:latin typeface="Calibri" pitchFamily="34" charset="0"/>
                <a:ea typeface="Calibri" pitchFamily="34" charset="-122"/>
                <a:cs typeface="Calibri" pitchFamily="34" charset="-120"/>
              </a:rPr>
              <a:t>Esto indica que el agrupamiento observado no puede atribuirse al azar.</a:t>
            </a:r>
          </a:p>
        </p:txBody>
      </p:sp>
      <p:sp>
        <p:nvSpPr>
          <p:cNvPr id="11" name="Shape 8"/>
          <p:cNvSpPr/>
          <p:nvPr/>
        </p:nvSpPr>
        <p:spPr>
          <a:xfrm>
            <a:off x="822960" y="5212080"/>
            <a:ext cx="10515600" cy="566928"/>
          </a:xfrm>
          <a:prstGeom prst="roundRect">
            <a:avLst>
              <a:gd name="adj" fmla="val 9677"/>
            </a:avLst>
          </a:prstGeom>
          <a:solidFill>
            <a:srgbClr val="F4F1EE"/>
          </a:solidFill>
          <a:ln w="9525">
            <a:solidFill>
              <a:srgbClr val="D8D2CC"/>
            </a:solidFill>
            <a:prstDash val="solid"/>
          </a:ln>
        </p:spPr>
        <p:txBody>
          <a:bodyPr/>
          <a:lstStyle/>
          <a:p>
            <a:endParaRPr lang="es-CO" noProof="0" dirty="0"/>
          </a:p>
        </p:txBody>
      </p:sp>
      <p:sp>
        <p:nvSpPr>
          <p:cNvPr id="12" name="Text 9"/>
          <p:cNvSpPr/>
          <p:nvPr/>
        </p:nvSpPr>
        <p:spPr>
          <a:xfrm>
            <a:off x="987552" y="5212080"/>
            <a:ext cx="10186416" cy="566928"/>
          </a:xfrm>
          <a:prstGeom prst="rect">
            <a:avLst/>
          </a:prstGeom>
          <a:noFill/>
          <a:ln/>
        </p:spPr>
        <p:txBody>
          <a:bodyPr wrap="square" lIns="0" tIns="0" rIns="0" bIns="0" rtlCol="0" anchor="ctr"/>
          <a:lstStyle/>
          <a:p>
            <a:pPr marL="0" indent="0">
              <a:buNone/>
            </a:pPr>
            <a:r>
              <a:rPr lang="es-CO" sz="1250" b="1" noProof="0" dirty="0">
                <a:solidFill>
                  <a:srgbClr val="7E3D15"/>
                </a:solidFill>
                <a:latin typeface="Calibri" pitchFamily="34" charset="0"/>
                <a:ea typeface="Calibri" pitchFamily="34" charset="-122"/>
                <a:cs typeface="Calibri" pitchFamily="34" charset="-120"/>
              </a:rPr>
              <a:t>Lectura:  </a:t>
            </a:r>
            <a:r>
              <a:rPr lang="es-CO" sz="1250" noProof="0" dirty="0">
                <a:solidFill>
                  <a:srgbClr val="1F2430"/>
                </a:solidFill>
                <a:latin typeface="Calibri" pitchFamily="34" charset="0"/>
                <a:ea typeface="Calibri" pitchFamily="34" charset="-122"/>
                <a:cs typeface="Calibri" pitchFamily="34" charset="-120"/>
              </a:rPr>
              <a:t>Patrón significativamente agrupado.</a:t>
            </a:r>
            <a:br>
              <a:rPr lang="es-CO" sz="1250" noProof="0" dirty="0">
                <a:solidFill>
                  <a:srgbClr val="1F2430"/>
                </a:solidFill>
                <a:latin typeface="Calibri" pitchFamily="34" charset="0"/>
                <a:ea typeface="Calibri" pitchFamily="34" charset="-122"/>
                <a:cs typeface="Calibri" pitchFamily="34" charset="-120"/>
              </a:rPr>
            </a:br>
            <a:r>
              <a:rPr lang="es-CO" sz="1250" noProof="0" dirty="0">
                <a:solidFill>
                  <a:srgbClr val="1F2430"/>
                </a:solidFill>
                <a:latin typeface="Calibri" pitchFamily="34" charset="0"/>
                <a:ea typeface="Calibri" pitchFamily="34" charset="-122"/>
                <a:cs typeface="Calibri" pitchFamily="34" charset="-120"/>
              </a:rPr>
              <a:t>el agrupamiento de las anomalías replica —e intensifica— el comportamiento ya visto en el muestreo completo.</a:t>
            </a:r>
            <a:endParaRPr lang="es-CO" sz="1250" noProof="0" dirty="0"/>
          </a:p>
        </p:txBody>
      </p:sp>
      <p:sp>
        <p:nvSpPr>
          <p:cNvPr id="13" name="Text 10"/>
          <p:cNvSpPr/>
          <p:nvPr/>
        </p:nvSpPr>
        <p:spPr>
          <a:xfrm>
            <a:off x="822960" y="5943600"/>
            <a:ext cx="4572000" cy="274320"/>
          </a:xfrm>
          <a:prstGeom prst="rect">
            <a:avLst/>
          </a:prstGeom>
          <a:noFill/>
          <a:ln/>
        </p:spPr>
        <p:txBody>
          <a:bodyPr wrap="square" lIns="0" tIns="0" rIns="0" bIns="0" rtlCol="0" anchor="ctr"/>
          <a:lstStyle/>
          <a:p>
            <a:pPr marL="0" indent="0">
              <a:buNone/>
            </a:pPr>
            <a:r>
              <a:rPr lang="es-CO" sz="1000" i="1" noProof="0" dirty="0">
                <a:solidFill>
                  <a:srgbClr val="5B6472"/>
                </a:solidFill>
                <a:latin typeface="Calibri" pitchFamily="34" charset="0"/>
                <a:ea typeface="Calibri" pitchFamily="34" charset="-122"/>
                <a:cs typeface="Calibri" pitchFamily="34" charset="-120"/>
              </a:rPr>
              <a:t>Fuente: Tabla 12.</a:t>
            </a:r>
            <a:endParaRPr lang="es-CO" sz="1000" noProof="0" dirty="0"/>
          </a:p>
        </p:txBody>
      </p:sp>
      <p:sp>
        <p:nvSpPr>
          <p:cNvPr id="14" name="CuadroTexto 13">
            <a:extLst>
              <a:ext uri="{FF2B5EF4-FFF2-40B4-BE49-F238E27FC236}">
                <a16:creationId xmlns:a16="http://schemas.microsoft.com/office/drawing/2014/main" id="{F62BFDCF-A2CD-443E-4621-F0D6D5505633}"/>
              </a:ext>
            </a:extLst>
          </p:cNvPr>
          <p:cNvSpPr txBox="1"/>
          <p:nvPr/>
        </p:nvSpPr>
        <p:spPr>
          <a:xfrm>
            <a:off x="620486" y="1191612"/>
            <a:ext cx="10874828" cy="461665"/>
          </a:xfrm>
          <a:prstGeom prst="rect">
            <a:avLst/>
          </a:prstGeom>
          <a:noFill/>
        </p:spPr>
        <p:txBody>
          <a:bodyPr wrap="square">
            <a:spAutoFit/>
          </a:bodyPr>
          <a:lstStyle/>
          <a:p>
            <a:r>
              <a:rPr lang="es-CO" sz="1200" dirty="0"/>
              <a:t>Una vez identificadas las 283 anomalías de cobre, aplicamos el mismo análisis del vecino más cercano, pero ahora únicamente sobre estas anomalías. </a:t>
            </a:r>
            <a:br>
              <a:rPr lang="es-CO" sz="1200" dirty="0"/>
            </a:br>
            <a:r>
              <a:rPr lang="es-CO" sz="1200" dirty="0"/>
              <a:t>El objetivo fue determinar si su distribución espacial es aleatoria o si, por el contrario, forman agrupaciones.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C144F80-F9FB-C4FC-4BAC-56A0AB6E651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7C68E0E-F0B5-E67B-B0F5-B50DAC32CB35}"/>
              </a:ext>
            </a:extLst>
          </p:cNvPr>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a:extLst>
              <a:ext uri="{FF2B5EF4-FFF2-40B4-BE49-F238E27FC236}">
                <a16:creationId xmlns:a16="http://schemas.microsoft.com/office/drawing/2014/main" id="{D8545EB8-FF08-04B0-CDA1-940FA488C7CD}"/>
              </a:ext>
            </a:extLst>
          </p:cNvPr>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14</a:t>
            </a:r>
            <a:endParaRPr lang="es-CO" sz="900" noProof="0" dirty="0"/>
          </a:p>
        </p:txBody>
      </p:sp>
      <p:sp>
        <p:nvSpPr>
          <p:cNvPr id="4" name="Text 2">
            <a:extLst>
              <a:ext uri="{FF2B5EF4-FFF2-40B4-BE49-F238E27FC236}">
                <a16:creationId xmlns:a16="http://schemas.microsoft.com/office/drawing/2014/main" id="{C1DEE4EF-91D6-F7CA-3A4D-410D22A5BF50}"/>
              </a:ext>
            </a:extLst>
          </p:cNvPr>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4 · ANOMALÍAS DE COBRE</a:t>
            </a:r>
            <a:endParaRPr lang="es-CO" sz="1100" noProof="0" dirty="0"/>
          </a:p>
        </p:txBody>
      </p:sp>
      <p:sp>
        <p:nvSpPr>
          <p:cNvPr id="5" name="Text 3">
            <a:extLst>
              <a:ext uri="{FF2B5EF4-FFF2-40B4-BE49-F238E27FC236}">
                <a16:creationId xmlns:a16="http://schemas.microsoft.com/office/drawing/2014/main" id="{788235A5-6E6E-C968-D226-5F5FD56D9FEB}"/>
              </a:ext>
            </a:extLst>
          </p:cNvPr>
          <p:cNvSpPr/>
          <p:nvPr/>
        </p:nvSpPr>
        <p:spPr>
          <a:xfrm>
            <a:off x="502920" y="566928"/>
            <a:ext cx="1115568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Comparación vecino más cercano de las anomalías</a:t>
            </a:r>
            <a:endParaRPr lang="es-CO" sz="2600" noProof="0" dirty="0"/>
          </a:p>
        </p:txBody>
      </p:sp>
      <p:graphicFrame>
        <p:nvGraphicFramePr>
          <p:cNvPr id="6" name="Tabla 5">
            <a:extLst>
              <a:ext uri="{FF2B5EF4-FFF2-40B4-BE49-F238E27FC236}">
                <a16:creationId xmlns:a16="http://schemas.microsoft.com/office/drawing/2014/main" id="{BC9EFC02-9F95-17F1-9391-37693A934FE0}"/>
              </a:ext>
            </a:extLst>
          </p:cNvPr>
          <p:cNvGraphicFramePr>
            <a:graphicFrameLocks noGrp="1"/>
          </p:cNvGraphicFramePr>
          <p:nvPr>
            <p:extLst>
              <p:ext uri="{D42A27DB-BD31-4B8C-83A1-F6EECF244321}">
                <p14:modId xmlns:p14="http://schemas.microsoft.com/office/powerpoint/2010/main" val="2631020677"/>
              </p:ext>
            </p:extLst>
          </p:nvPr>
        </p:nvGraphicFramePr>
        <p:xfrm>
          <a:off x="1027896" y="1283608"/>
          <a:ext cx="9895919" cy="4407675"/>
        </p:xfrm>
        <a:graphic>
          <a:graphicData uri="http://schemas.openxmlformats.org/drawingml/2006/table">
            <a:tbl>
              <a:tblPr/>
              <a:tblGrid>
                <a:gridCol w="2473980">
                  <a:extLst>
                    <a:ext uri="{9D8B030D-6E8A-4147-A177-3AD203B41FA5}">
                      <a16:colId xmlns:a16="http://schemas.microsoft.com/office/drawing/2014/main" val="758207994"/>
                    </a:ext>
                  </a:extLst>
                </a:gridCol>
                <a:gridCol w="1728641">
                  <a:extLst>
                    <a:ext uri="{9D8B030D-6E8A-4147-A177-3AD203B41FA5}">
                      <a16:colId xmlns:a16="http://schemas.microsoft.com/office/drawing/2014/main" val="3355273828"/>
                    </a:ext>
                  </a:extLst>
                </a:gridCol>
                <a:gridCol w="1752669">
                  <a:extLst>
                    <a:ext uri="{9D8B030D-6E8A-4147-A177-3AD203B41FA5}">
                      <a16:colId xmlns:a16="http://schemas.microsoft.com/office/drawing/2014/main" val="2655847453"/>
                    </a:ext>
                  </a:extLst>
                </a:gridCol>
                <a:gridCol w="3940629">
                  <a:extLst>
                    <a:ext uri="{9D8B030D-6E8A-4147-A177-3AD203B41FA5}">
                      <a16:colId xmlns:a16="http://schemas.microsoft.com/office/drawing/2014/main" val="358731384"/>
                    </a:ext>
                  </a:extLst>
                </a:gridCol>
              </a:tblGrid>
              <a:tr h="505388">
                <a:tc>
                  <a:txBody>
                    <a:bodyPr/>
                    <a:lstStyle/>
                    <a:p>
                      <a:pPr>
                        <a:buNone/>
                      </a:pPr>
                      <a:r>
                        <a:rPr lang="es-CO" sz="1400" dirty="0">
                          <a:solidFill>
                            <a:schemeClr val="bg1"/>
                          </a:solidFill>
                        </a:rPr>
                        <a:t>Parámetro</a:t>
                      </a:r>
                    </a:p>
                  </a:txBody>
                  <a:tcPr marL="72522" marR="72522" marT="36261" marB="36261" anchor="ctr">
                    <a:lnL>
                      <a:noFill/>
                    </a:lnL>
                    <a:lnR>
                      <a:noFill/>
                    </a:lnR>
                    <a:lnT>
                      <a:noFill/>
                    </a:lnT>
                    <a:lnB>
                      <a:noFill/>
                    </a:lnB>
                    <a:solidFill>
                      <a:schemeClr val="accent2">
                        <a:lumMod val="50000"/>
                      </a:schemeClr>
                    </a:solidFill>
                  </a:tcPr>
                </a:tc>
                <a:tc>
                  <a:txBody>
                    <a:bodyPr/>
                    <a:lstStyle/>
                    <a:p>
                      <a:pPr algn="ctr">
                        <a:buNone/>
                      </a:pPr>
                      <a:r>
                        <a:rPr lang="es-CO" sz="1400" dirty="0">
                          <a:solidFill>
                            <a:schemeClr val="bg1"/>
                          </a:solidFill>
                        </a:rPr>
                        <a:t>Muestreo</a:t>
                      </a:r>
                      <a:br>
                        <a:rPr lang="es-CO" sz="1400" dirty="0">
                          <a:solidFill>
                            <a:schemeClr val="bg1"/>
                          </a:solidFill>
                        </a:rPr>
                      </a:br>
                      <a:r>
                        <a:rPr lang="es-CO" sz="1400" dirty="0">
                          <a:solidFill>
                            <a:schemeClr val="bg1"/>
                          </a:solidFill>
                        </a:rPr>
                        <a:t> (n = 2,029)</a:t>
                      </a:r>
                    </a:p>
                  </a:txBody>
                  <a:tcPr marL="72522" marR="72522" marT="36261" marB="36261" anchor="ctr">
                    <a:lnL>
                      <a:noFill/>
                    </a:lnL>
                    <a:lnR>
                      <a:noFill/>
                    </a:lnR>
                    <a:lnT>
                      <a:noFill/>
                    </a:lnT>
                    <a:lnB>
                      <a:noFill/>
                    </a:lnB>
                    <a:solidFill>
                      <a:schemeClr val="accent2">
                        <a:lumMod val="50000"/>
                      </a:schemeClr>
                    </a:solidFill>
                  </a:tcPr>
                </a:tc>
                <a:tc>
                  <a:txBody>
                    <a:bodyPr/>
                    <a:lstStyle/>
                    <a:p>
                      <a:pPr algn="ctr">
                        <a:buNone/>
                      </a:pPr>
                      <a:r>
                        <a:rPr lang="es-CO" sz="1400" dirty="0">
                          <a:solidFill>
                            <a:schemeClr val="bg1"/>
                          </a:solidFill>
                        </a:rPr>
                        <a:t>Anomalías</a:t>
                      </a:r>
                      <a:br>
                        <a:rPr lang="es-CO" sz="1400" dirty="0">
                          <a:solidFill>
                            <a:schemeClr val="bg1"/>
                          </a:solidFill>
                        </a:rPr>
                      </a:br>
                      <a:r>
                        <a:rPr lang="es-CO" sz="1400" dirty="0">
                          <a:solidFill>
                            <a:schemeClr val="bg1"/>
                          </a:solidFill>
                        </a:rPr>
                        <a:t> (n = 283)</a:t>
                      </a:r>
                    </a:p>
                  </a:txBody>
                  <a:tcPr marL="72522" marR="72522" marT="36261" marB="36261" anchor="ctr">
                    <a:lnL>
                      <a:noFill/>
                    </a:lnL>
                    <a:lnR>
                      <a:noFill/>
                    </a:lnR>
                    <a:lnT>
                      <a:noFill/>
                    </a:lnT>
                    <a:lnB>
                      <a:noFill/>
                    </a:lnB>
                    <a:solidFill>
                      <a:schemeClr val="accent2">
                        <a:lumMod val="50000"/>
                      </a:schemeClr>
                    </a:solidFill>
                  </a:tcPr>
                </a:tc>
                <a:tc>
                  <a:txBody>
                    <a:bodyPr/>
                    <a:lstStyle/>
                    <a:p>
                      <a:pPr>
                        <a:buNone/>
                      </a:pPr>
                      <a:r>
                        <a:rPr lang="es-CO" sz="1400" dirty="0">
                          <a:solidFill>
                            <a:schemeClr val="bg1"/>
                          </a:solidFill>
                        </a:rPr>
                        <a:t>Interpretación</a:t>
                      </a:r>
                    </a:p>
                  </a:txBody>
                  <a:tcPr marL="72522" marR="72522" marT="36261" marB="36261" anchor="ctr">
                    <a:lnL>
                      <a:noFill/>
                    </a:lnL>
                    <a:lnR>
                      <a:noFill/>
                    </a:lnR>
                    <a:lnT>
                      <a:noFill/>
                    </a:lnT>
                    <a:lnB>
                      <a:noFill/>
                    </a:lnB>
                    <a:solidFill>
                      <a:schemeClr val="accent2">
                        <a:lumMod val="50000"/>
                      </a:schemeClr>
                    </a:solidFill>
                  </a:tcPr>
                </a:tc>
                <a:extLst>
                  <a:ext uri="{0D108BD9-81ED-4DB2-BD59-A6C34878D82A}">
                    <a16:rowId xmlns:a16="http://schemas.microsoft.com/office/drawing/2014/main" val="1923510344"/>
                  </a:ext>
                </a:extLst>
              </a:tr>
              <a:tr h="696837">
                <a:tc>
                  <a:txBody>
                    <a:bodyPr/>
                    <a:lstStyle/>
                    <a:p>
                      <a:pPr>
                        <a:buNone/>
                      </a:pPr>
                      <a:r>
                        <a:rPr lang="es-CO" sz="1400" dirty="0"/>
                        <a:t>Distancia media observada</a:t>
                      </a:r>
                    </a:p>
                  </a:txBody>
                  <a:tcPr marL="72522" marR="72522" marT="36261" marB="36261" anchor="ctr">
                    <a:lnL>
                      <a:noFill/>
                    </a:lnL>
                    <a:lnR>
                      <a:noFill/>
                    </a:lnR>
                    <a:lnT>
                      <a:noFill/>
                    </a:lnT>
                    <a:lnB>
                      <a:noFill/>
                    </a:lnB>
                    <a:noFill/>
                  </a:tcPr>
                </a:tc>
                <a:tc>
                  <a:txBody>
                    <a:bodyPr/>
                    <a:lstStyle/>
                    <a:p>
                      <a:pPr algn="ctr">
                        <a:buNone/>
                      </a:pPr>
                      <a:r>
                        <a:rPr lang="es-CO" sz="1400" b="1" dirty="0"/>
                        <a:t>408.9 m</a:t>
                      </a:r>
                      <a:endParaRPr lang="es-CO" sz="1400" dirty="0"/>
                    </a:p>
                  </a:txBody>
                  <a:tcPr marL="72522" marR="72522" marT="36261" marB="36261" anchor="ctr">
                    <a:lnL>
                      <a:noFill/>
                    </a:lnL>
                    <a:lnR>
                      <a:noFill/>
                    </a:lnR>
                    <a:lnT>
                      <a:noFill/>
                    </a:lnT>
                    <a:lnB>
                      <a:noFill/>
                    </a:lnB>
                    <a:noFill/>
                  </a:tcPr>
                </a:tc>
                <a:tc>
                  <a:txBody>
                    <a:bodyPr/>
                    <a:lstStyle/>
                    <a:p>
                      <a:pPr algn="ctr">
                        <a:buNone/>
                      </a:pPr>
                      <a:r>
                        <a:rPr lang="es-CO" sz="1400" b="1" dirty="0"/>
                        <a:t>1,067.7 m</a:t>
                      </a:r>
                      <a:endParaRPr lang="es-CO" sz="1400" dirty="0"/>
                    </a:p>
                  </a:txBody>
                  <a:tcPr marL="72522" marR="72522" marT="36261" marB="36261" anchor="ctr">
                    <a:lnL>
                      <a:noFill/>
                    </a:lnL>
                    <a:lnR>
                      <a:noFill/>
                    </a:lnR>
                    <a:lnT>
                      <a:noFill/>
                    </a:lnT>
                    <a:lnB>
                      <a:noFill/>
                    </a:lnB>
                    <a:noFill/>
                  </a:tcPr>
                </a:tc>
                <a:tc>
                  <a:txBody>
                    <a:bodyPr/>
                    <a:lstStyle/>
                    <a:p>
                      <a:pPr>
                        <a:buNone/>
                      </a:pPr>
                      <a:r>
                        <a:rPr lang="es-CO" sz="1400" dirty="0"/>
                        <a:t>Mayor en anomalías porque hay menos puntos.</a:t>
                      </a:r>
                    </a:p>
                  </a:txBody>
                  <a:tcPr marL="72522" marR="72522" marT="36261" marB="36261" anchor="ctr">
                    <a:lnL>
                      <a:noFill/>
                    </a:lnL>
                    <a:lnR>
                      <a:noFill/>
                    </a:lnR>
                    <a:lnT>
                      <a:noFill/>
                    </a:lnT>
                    <a:lnB>
                      <a:noFill/>
                    </a:lnB>
                    <a:noFill/>
                  </a:tcPr>
                </a:tc>
                <a:extLst>
                  <a:ext uri="{0D108BD9-81ED-4DB2-BD59-A6C34878D82A}">
                    <a16:rowId xmlns:a16="http://schemas.microsoft.com/office/drawing/2014/main" val="3605297369"/>
                  </a:ext>
                </a:extLst>
              </a:tr>
              <a:tr h="696837">
                <a:tc>
                  <a:txBody>
                    <a:bodyPr/>
                    <a:lstStyle/>
                    <a:p>
                      <a:pPr>
                        <a:buNone/>
                      </a:pPr>
                      <a:r>
                        <a:rPr lang="es-CO" sz="1400" dirty="0"/>
                        <a:t>Distancia media esperada (CSR)</a:t>
                      </a:r>
                    </a:p>
                  </a:txBody>
                  <a:tcPr marL="72522" marR="72522" marT="36261" marB="36261" anchor="ctr">
                    <a:lnL>
                      <a:noFill/>
                    </a:lnL>
                    <a:lnR>
                      <a:noFill/>
                    </a:lnR>
                    <a:lnT>
                      <a:noFill/>
                    </a:lnT>
                    <a:lnB>
                      <a:noFill/>
                    </a:lnB>
                    <a:noFill/>
                  </a:tcPr>
                </a:tc>
                <a:tc>
                  <a:txBody>
                    <a:bodyPr/>
                    <a:lstStyle/>
                    <a:p>
                      <a:pPr algn="ctr">
                        <a:buNone/>
                      </a:pPr>
                      <a:r>
                        <a:rPr lang="es-CO" sz="1400" b="1" dirty="0"/>
                        <a:t>885.7 m</a:t>
                      </a:r>
                      <a:endParaRPr lang="es-CO" sz="1400" dirty="0"/>
                    </a:p>
                  </a:txBody>
                  <a:tcPr marL="72522" marR="72522" marT="36261" marB="36261" anchor="ctr">
                    <a:lnL>
                      <a:noFill/>
                    </a:lnL>
                    <a:lnR>
                      <a:noFill/>
                    </a:lnR>
                    <a:lnT>
                      <a:noFill/>
                    </a:lnT>
                    <a:lnB>
                      <a:noFill/>
                    </a:lnB>
                    <a:noFill/>
                  </a:tcPr>
                </a:tc>
                <a:tc>
                  <a:txBody>
                    <a:bodyPr/>
                    <a:lstStyle/>
                    <a:p>
                      <a:pPr algn="ctr">
                        <a:buNone/>
                      </a:pPr>
                      <a:r>
                        <a:rPr lang="es-CO" sz="1400" b="1" dirty="0"/>
                        <a:t>2,371.4 m</a:t>
                      </a:r>
                      <a:endParaRPr lang="es-CO" sz="1400" dirty="0"/>
                    </a:p>
                  </a:txBody>
                  <a:tcPr marL="72522" marR="72522" marT="36261" marB="36261" anchor="ctr">
                    <a:lnL>
                      <a:noFill/>
                    </a:lnL>
                    <a:lnR>
                      <a:noFill/>
                    </a:lnR>
                    <a:lnT>
                      <a:noFill/>
                    </a:lnT>
                    <a:lnB>
                      <a:noFill/>
                    </a:lnB>
                    <a:noFill/>
                  </a:tcPr>
                </a:tc>
                <a:tc>
                  <a:txBody>
                    <a:bodyPr/>
                    <a:lstStyle/>
                    <a:p>
                      <a:pPr>
                        <a:buNone/>
                      </a:pPr>
                      <a:r>
                        <a:rPr lang="es-CO" sz="1400" dirty="0"/>
                        <a:t>También aumenta por la menor densidad de puntos.</a:t>
                      </a:r>
                    </a:p>
                  </a:txBody>
                  <a:tcPr marL="72522" marR="72522" marT="36261" marB="36261" anchor="ctr">
                    <a:lnL>
                      <a:noFill/>
                    </a:lnL>
                    <a:lnR>
                      <a:noFill/>
                    </a:lnR>
                    <a:lnT>
                      <a:noFill/>
                    </a:lnT>
                    <a:lnB>
                      <a:noFill/>
                    </a:lnB>
                    <a:noFill/>
                  </a:tcPr>
                </a:tc>
                <a:extLst>
                  <a:ext uri="{0D108BD9-81ED-4DB2-BD59-A6C34878D82A}">
                    <a16:rowId xmlns:a16="http://schemas.microsoft.com/office/drawing/2014/main" val="1304632835"/>
                  </a:ext>
                </a:extLst>
              </a:tr>
              <a:tr h="1114939">
                <a:tc>
                  <a:txBody>
                    <a:bodyPr/>
                    <a:lstStyle/>
                    <a:p>
                      <a:pPr>
                        <a:buNone/>
                      </a:pPr>
                      <a:r>
                        <a:rPr lang="es-CO" sz="1400"/>
                        <a:t>Índice R (Clark y Evans)</a:t>
                      </a:r>
                    </a:p>
                  </a:txBody>
                  <a:tcPr marL="72522" marR="72522" marT="36261" marB="36261" anchor="ctr">
                    <a:lnL>
                      <a:noFill/>
                    </a:lnL>
                    <a:lnR>
                      <a:noFill/>
                    </a:lnR>
                    <a:lnT>
                      <a:noFill/>
                    </a:lnT>
                    <a:lnB>
                      <a:noFill/>
                    </a:lnB>
                    <a:noFill/>
                  </a:tcPr>
                </a:tc>
                <a:tc>
                  <a:txBody>
                    <a:bodyPr/>
                    <a:lstStyle/>
                    <a:p>
                      <a:pPr algn="ctr">
                        <a:buNone/>
                      </a:pPr>
                      <a:r>
                        <a:rPr lang="es-CO" sz="1400" b="1" dirty="0"/>
                        <a:t>0.462</a:t>
                      </a:r>
                      <a:endParaRPr lang="es-CO" sz="1400" dirty="0"/>
                    </a:p>
                  </a:txBody>
                  <a:tcPr marL="72522" marR="72522" marT="36261" marB="36261" anchor="ctr">
                    <a:lnL>
                      <a:noFill/>
                    </a:lnL>
                    <a:lnR>
                      <a:noFill/>
                    </a:lnR>
                    <a:lnT>
                      <a:noFill/>
                    </a:lnT>
                    <a:lnB>
                      <a:noFill/>
                    </a:lnB>
                    <a:noFill/>
                  </a:tcPr>
                </a:tc>
                <a:tc>
                  <a:txBody>
                    <a:bodyPr/>
                    <a:lstStyle/>
                    <a:p>
                      <a:pPr algn="ctr">
                        <a:buNone/>
                      </a:pPr>
                      <a:r>
                        <a:rPr lang="es-CO" sz="1400" b="1" dirty="0"/>
                        <a:t>0.450</a:t>
                      </a:r>
                      <a:endParaRPr lang="es-CO" sz="1400" dirty="0"/>
                    </a:p>
                  </a:txBody>
                  <a:tcPr marL="72522" marR="72522" marT="36261" marB="36261" anchor="ctr">
                    <a:lnL>
                      <a:noFill/>
                    </a:lnL>
                    <a:lnR>
                      <a:noFill/>
                    </a:lnR>
                    <a:lnT>
                      <a:noFill/>
                    </a:lnT>
                    <a:lnB>
                      <a:noFill/>
                    </a:lnB>
                    <a:noFill/>
                  </a:tcPr>
                </a:tc>
                <a:tc>
                  <a:txBody>
                    <a:bodyPr/>
                    <a:lstStyle/>
                    <a:p>
                      <a:pPr>
                        <a:buNone/>
                      </a:pPr>
                      <a:r>
                        <a:rPr lang="es-CO" sz="1400" dirty="0"/>
                        <a:t>Ambos indican un patrón claramente agrupado; las anomalías presentan un agrupamiento ligeramente mayor.</a:t>
                      </a:r>
                    </a:p>
                  </a:txBody>
                  <a:tcPr marL="72522" marR="72522" marT="36261" marB="36261" anchor="ctr">
                    <a:lnL>
                      <a:noFill/>
                    </a:lnL>
                    <a:lnR>
                      <a:noFill/>
                    </a:lnR>
                    <a:lnT>
                      <a:noFill/>
                    </a:lnT>
                    <a:lnB>
                      <a:noFill/>
                    </a:lnB>
                    <a:noFill/>
                  </a:tcPr>
                </a:tc>
                <a:extLst>
                  <a:ext uri="{0D108BD9-81ED-4DB2-BD59-A6C34878D82A}">
                    <a16:rowId xmlns:a16="http://schemas.microsoft.com/office/drawing/2014/main" val="2206075195"/>
                  </a:ext>
                </a:extLst>
              </a:tr>
              <a:tr h="696837">
                <a:tc>
                  <a:txBody>
                    <a:bodyPr/>
                    <a:lstStyle/>
                    <a:p>
                      <a:pPr>
                        <a:buNone/>
                      </a:pPr>
                      <a:r>
                        <a:rPr lang="es-CO" sz="1400"/>
                        <a:t>Estadístico Z</a:t>
                      </a:r>
                    </a:p>
                  </a:txBody>
                  <a:tcPr marL="72522" marR="72522" marT="36261" marB="36261" anchor="ctr">
                    <a:lnL>
                      <a:noFill/>
                    </a:lnL>
                    <a:lnR>
                      <a:noFill/>
                    </a:lnR>
                    <a:lnT>
                      <a:noFill/>
                    </a:lnT>
                    <a:lnB>
                      <a:noFill/>
                    </a:lnB>
                    <a:noFill/>
                  </a:tcPr>
                </a:tc>
                <a:tc>
                  <a:txBody>
                    <a:bodyPr/>
                    <a:lstStyle/>
                    <a:p>
                      <a:pPr algn="ctr">
                        <a:buNone/>
                      </a:pPr>
                      <a:r>
                        <a:rPr lang="es-CO" sz="1400" b="1"/>
                        <a:t>−46.39</a:t>
                      </a:r>
                      <a:endParaRPr lang="es-CO" sz="1400"/>
                    </a:p>
                  </a:txBody>
                  <a:tcPr marL="72522" marR="72522" marT="36261" marB="36261" anchor="ctr">
                    <a:lnL>
                      <a:noFill/>
                    </a:lnL>
                    <a:lnR>
                      <a:noFill/>
                    </a:lnR>
                    <a:lnT>
                      <a:noFill/>
                    </a:lnT>
                    <a:lnB>
                      <a:noFill/>
                    </a:lnB>
                    <a:noFill/>
                  </a:tcPr>
                </a:tc>
                <a:tc>
                  <a:txBody>
                    <a:bodyPr/>
                    <a:lstStyle/>
                    <a:p>
                      <a:pPr algn="ctr">
                        <a:buNone/>
                      </a:pPr>
                      <a:r>
                        <a:rPr lang="es-CO" sz="1400" b="1"/>
                        <a:t>−17.69</a:t>
                      </a:r>
                      <a:endParaRPr lang="es-CO" sz="1400"/>
                    </a:p>
                  </a:txBody>
                  <a:tcPr marL="72522" marR="72522" marT="36261" marB="36261" anchor="ctr">
                    <a:lnL>
                      <a:noFill/>
                    </a:lnL>
                    <a:lnR>
                      <a:noFill/>
                    </a:lnR>
                    <a:lnT>
                      <a:noFill/>
                    </a:lnT>
                    <a:lnB>
                      <a:noFill/>
                    </a:lnB>
                    <a:noFill/>
                  </a:tcPr>
                </a:tc>
                <a:tc>
                  <a:txBody>
                    <a:bodyPr/>
                    <a:lstStyle/>
                    <a:p>
                      <a:pPr>
                        <a:buNone/>
                      </a:pPr>
                      <a:r>
                        <a:rPr lang="es-CO" sz="1400" dirty="0"/>
                        <a:t>En ambos casos el agrupamiento es altamente significativo.</a:t>
                      </a:r>
                    </a:p>
                  </a:txBody>
                  <a:tcPr marL="72522" marR="72522" marT="36261" marB="36261" anchor="ctr">
                    <a:lnL>
                      <a:noFill/>
                    </a:lnL>
                    <a:lnR>
                      <a:noFill/>
                    </a:lnR>
                    <a:lnT>
                      <a:noFill/>
                    </a:lnT>
                    <a:lnB>
                      <a:noFill/>
                    </a:lnB>
                    <a:noFill/>
                  </a:tcPr>
                </a:tc>
                <a:extLst>
                  <a:ext uri="{0D108BD9-81ED-4DB2-BD59-A6C34878D82A}">
                    <a16:rowId xmlns:a16="http://schemas.microsoft.com/office/drawing/2014/main" val="657348985"/>
                  </a:ext>
                </a:extLst>
              </a:tr>
              <a:tr h="696837">
                <a:tc>
                  <a:txBody>
                    <a:bodyPr/>
                    <a:lstStyle/>
                    <a:p>
                      <a:pPr>
                        <a:buNone/>
                      </a:pPr>
                      <a:r>
                        <a:rPr lang="es-CO" sz="1400"/>
                        <a:t>Valor p</a:t>
                      </a:r>
                    </a:p>
                  </a:txBody>
                  <a:tcPr marL="72522" marR="72522" marT="36261" marB="36261" anchor="ctr">
                    <a:lnL>
                      <a:noFill/>
                    </a:lnL>
                    <a:lnR>
                      <a:noFill/>
                    </a:lnR>
                    <a:lnT>
                      <a:noFill/>
                    </a:lnT>
                    <a:lnB>
                      <a:noFill/>
                    </a:lnB>
                    <a:noFill/>
                  </a:tcPr>
                </a:tc>
                <a:tc>
                  <a:txBody>
                    <a:bodyPr/>
                    <a:lstStyle/>
                    <a:p>
                      <a:pPr algn="ctr">
                        <a:buNone/>
                      </a:pPr>
                      <a:r>
                        <a:rPr lang="es-CO" sz="1400" b="1" dirty="0"/>
                        <a:t>≈ 0</a:t>
                      </a:r>
                      <a:endParaRPr lang="es-CO" sz="1400" dirty="0"/>
                    </a:p>
                  </a:txBody>
                  <a:tcPr marL="72522" marR="72522" marT="36261" marB="36261" anchor="ctr">
                    <a:lnL>
                      <a:noFill/>
                    </a:lnL>
                    <a:lnR>
                      <a:noFill/>
                    </a:lnR>
                    <a:lnT>
                      <a:noFill/>
                    </a:lnT>
                    <a:lnB>
                      <a:noFill/>
                    </a:lnB>
                    <a:noFill/>
                  </a:tcPr>
                </a:tc>
                <a:tc>
                  <a:txBody>
                    <a:bodyPr/>
                    <a:lstStyle/>
                    <a:p>
                      <a:pPr algn="ctr">
                        <a:buNone/>
                      </a:pPr>
                      <a:r>
                        <a:rPr lang="es-CO" sz="1400" b="1" dirty="0"/>
                        <a:t>≈ 0</a:t>
                      </a:r>
                      <a:endParaRPr lang="es-CO" sz="1400" dirty="0"/>
                    </a:p>
                  </a:txBody>
                  <a:tcPr marL="72522" marR="72522" marT="36261" marB="36261" anchor="ctr">
                    <a:lnL>
                      <a:noFill/>
                    </a:lnL>
                    <a:lnR>
                      <a:noFill/>
                    </a:lnR>
                    <a:lnT>
                      <a:noFill/>
                    </a:lnT>
                    <a:lnB>
                      <a:noFill/>
                    </a:lnB>
                    <a:noFill/>
                  </a:tcPr>
                </a:tc>
                <a:tc>
                  <a:txBody>
                    <a:bodyPr/>
                    <a:lstStyle/>
                    <a:p>
                      <a:pPr>
                        <a:buNone/>
                      </a:pPr>
                      <a:r>
                        <a:rPr lang="es-CO" sz="1400" dirty="0"/>
                        <a:t>Se rechaza la hipótesis de aleatoriedad espacial completa (CSR).</a:t>
                      </a:r>
                    </a:p>
                  </a:txBody>
                  <a:tcPr marL="72522" marR="72522" marT="36261" marB="36261" anchor="ctr">
                    <a:lnL>
                      <a:noFill/>
                    </a:lnL>
                    <a:lnR>
                      <a:noFill/>
                    </a:lnR>
                    <a:lnT>
                      <a:noFill/>
                    </a:lnT>
                    <a:lnB>
                      <a:noFill/>
                    </a:lnB>
                    <a:noFill/>
                  </a:tcPr>
                </a:tc>
                <a:extLst>
                  <a:ext uri="{0D108BD9-81ED-4DB2-BD59-A6C34878D82A}">
                    <a16:rowId xmlns:a16="http://schemas.microsoft.com/office/drawing/2014/main" val="1063548157"/>
                  </a:ext>
                </a:extLst>
              </a:tr>
            </a:tbl>
          </a:graphicData>
        </a:graphic>
      </p:graphicFrame>
      <p:sp>
        <p:nvSpPr>
          <p:cNvPr id="17" name="CuadroTexto 16">
            <a:extLst>
              <a:ext uri="{FF2B5EF4-FFF2-40B4-BE49-F238E27FC236}">
                <a16:creationId xmlns:a16="http://schemas.microsoft.com/office/drawing/2014/main" id="{A5872089-C96F-7736-0986-4F328650EDE9}"/>
              </a:ext>
            </a:extLst>
          </p:cNvPr>
          <p:cNvSpPr txBox="1"/>
          <p:nvPr/>
        </p:nvSpPr>
        <p:spPr>
          <a:xfrm>
            <a:off x="572589" y="5889843"/>
            <a:ext cx="11016342" cy="523220"/>
          </a:xfrm>
          <a:prstGeom prst="rect">
            <a:avLst/>
          </a:prstGeom>
          <a:noFill/>
        </p:spPr>
        <p:txBody>
          <a:bodyPr wrap="square">
            <a:spAutoFit/>
          </a:bodyPr>
          <a:lstStyle/>
          <a:p>
            <a:r>
              <a:rPr lang="es-CO" sz="1400" dirty="0"/>
              <a:t>En síntesis, ambos análisis convergen en la misma conclusión: ni el muestreo ni las anomalías presentan una distribución aleatoria. Los dos muestran un patrón espacial significativamente agrupado y, en el caso de las anomalías, ese agrupamiento es ligeramente más intenso.</a:t>
            </a:r>
          </a:p>
        </p:txBody>
      </p:sp>
    </p:spTree>
    <p:extLst>
      <p:ext uri="{BB962C8B-B14F-4D97-AF65-F5344CB8AC3E}">
        <p14:creationId xmlns:p14="http://schemas.microsoft.com/office/powerpoint/2010/main" val="2062729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15</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4 · ANOMALÍAS DE COBRE</a:t>
            </a:r>
            <a:endParaRPr lang="es-CO" sz="1100" noProof="0" dirty="0"/>
          </a:p>
        </p:txBody>
      </p:sp>
      <p:sp>
        <p:nvSpPr>
          <p:cNvPr id="5" name="Text 3"/>
          <p:cNvSpPr/>
          <p:nvPr/>
        </p:nvSpPr>
        <p:spPr>
          <a:xfrm>
            <a:off x="502920" y="566928"/>
            <a:ext cx="1115568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Conteo por cuadrantes y prueba de Monte Carlo</a:t>
            </a:r>
            <a:endParaRPr lang="es-CO" sz="2600" noProof="0" dirty="0"/>
          </a:p>
        </p:txBody>
      </p:sp>
      <p:pic>
        <p:nvPicPr>
          <p:cNvPr id="6" name="Image 0" descr="img/Figura_13_Conteo_Cuadrantes.png"/>
          <p:cNvPicPr>
            <a:picLocks noChangeAspect="1"/>
          </p:cNvPicPr>
          <p:nvPr/>
        </p:nvPicPr>
        <p:blipFill>
          <a:blip r:embed="rId3"/>
          <a:stretch>
            <a:fillRect/>
          </a:stretch>
        </p:blipFill>
        <p:spPr>
          <a:xfrm>
            <a:off x="1888791" y="1890606"/>
            <a:ext cx="7973666" cy="3350025"/>
          </a:xfrm>
          <a:prstGeom prst="rect">
            <a:avLst/>
          </a:prstGeom>
        </p:spPr>
      </p:pic>
      <p:sp>
        <p:nvSpPr>
          <p:cNvPr id="7" name="Shape 4"/>
          <p:cNvSpPr/>
          <p:nvPr/>
        </p:nvSpPr>
        <p:spPr>
          <a:xfrm>
            <a:off x="822960" y="5212080"/>
            <a:ext cx="10515600" cy="566928"/>
          </a:xfrm>
          <a:prstGeom prst="roundRect">
            <a:avLst>
              <a:gd name="adj" fmla="val 9677"/>
            </a:avLst>
          </a:prstGeom>
          <a:solidFill>
            <a:srgbClr val="F4F1EE"/>
          </a:solidFill>
          <a:ln w="9525">
            <a:solidFill>
              <a:srgbClr val="D8D2CC"/>
            </a:solidFill>
            <a:prstDash val="solid"/>
          </a:ln>
        </p:spPr>
        <p:txBody>
          <a:bodyPr/>
          <a:lstStyle/>
          <a:p>
            <a:endParaRPr lang="es-CO" noProof="0" dirty="0"/>
          </a:p>
        </p:txBody>
      </p:sp>
      <p:sp>
        <p:nvSpPr>
          <p:cNvPr id="8" name="Text 5"/>
          <p:cNvSpPr/>
          <p:nvPr/>
        </p:nvSpPr>
        <p:spPr>
          <a:xfrm>
            <a:off x="987552" y="5212080"/>
            <a:ext cx="10186416" cy="566928"/>
          </a:xfrm>
          <a:prstGeom prst="rect">
            <a:avLst/>
          </a:prstGeom>
          <a:noFill/>
          <a:ln/>
        </p:spPr>
        <p:txBody>
          <a:bodyPr wrap="square" lIns="0" tIns="0" rIns="0" bIns="0" rtlCol="0" anchor="ctr"/>
          <a:lstStyle/>
          <a:p>
            <a:r>
              <a:rPr lang="es-CO" sz="1250" b="1" noProof="0" dirty="0">
                <a:solidFill>
                  <a:srgbClr val="7E3D15"/>
                </a:solidFill>
                <a:latin typeface="Calibri" pitchFamily="34" charset="0"/>
                <a:ea typeface="Calibri" pitchFamily="34" charset="-122"/>
                <a:cs typeface="Calibri" pitchFamily="34" charset="-120"/>
              </a:rPr>
              <a:t>Lectura: </a:t>
            </a:r>
            <a:r>
              <a:rPr lang="es-CO" sz="1200" dirty="0"/>
              <a:t>dividimos el área de estudio en una malla de </a:t>
            </a:r>
            <a:r>
              <a:rPr lang="es-CO" sz="1200" b="1" dirty="0"/>
              <a:t>4 × 4 cuadrantes</a:t>
            </a:r>
            <a:r>
              <a:rPr lang="es-CO" sz="1200" dirty="0"/>
              <a:t> y contamos cuántas anomalías había en cada uno. A la izquierda observamos la distribución real, donde algunos cuadrantes concentran muchas anomalías mientras que otros no presentan ninguna.</a:t>
            </a:r>
            <a:endParaRPr lang="es-CO" sz="1250" noProof="0" dirty="0"/>
          </a:p>
        </p:txBody>
      </p:sp>
      <p:sp>
        <p:nvSpPr>
          <p:cNvPr id="9" name="Text 6"/>
          <p:cNvSpPr/>
          <p:nvPr/>
        </p:nvSpPr>
        <p:spPr>
          <a:xfrm>
            <a:off x="822960" y="5943600"/>
            <a:ext cx="4572000" cy="274320"/>
          </a:xfrm>
          <a:prstGeom prst="rect">
            <a:avLst/>
          </a:prstGeom>
          <a:noFill/>
          <a:ln/>
        </p:spPr>
        <p:txBody>
          <a:bodyPr wrap="square" lIns="0" tIns="0" rIns="0" bIns="0" rtlCol="0" anchor="ctr"/>
          <a:lstStyle/>
          <a:p>
            <a:pPr marL="0" indent="0">
              <a:buNone/>
            </a:pPr>
            <a:r>
              <a:rPr lang="es-CO" sz="1000" i="1" noProof="0" dirty="0">
                <a:solidFill>
                  <a:srgbClr val="5B6472"/>
                </a:solidFill>
                <a:latin typeface="Calibri" pitchFamily="34" charset="0"/>
                <a:ea typeface="Calibri" pitchFamily="34" charset="-122"/>
                <a:cs typeface="Calibri" pitchFamily="34" charset="-120"/>
              </a:rPr>
              <a:t>Fuente: Tabla 13 y Figura 13.</a:t>
            </a:r>
            <a:endParaRPr lang="es-CO" sz="1000" noProof="0" dirty="0"/>
          </a:p>
        </p:txBody>
      </p:sp>
      <p:sp>
        <p:nvSpPr>
          <p:cNvPr id="11" name="CuadroTexto 10">
            <a:extLst>
              <a:ext uri="{FF2B5EF4-FFF2-40B4-BE49-F238E27FC236}">
                <a16:creationId xmlns:a16="http://schemas.microsoft.com/office/drawing/2014/main" id="{83458AF4-EB78-DC03-8830-0916C9A7FAEB}"/>
              </a:ext>
            </a:extLst>
          </p:cNvPr>
          <p:cNvSpPr txBox="1"/>
          <p:nvPr/>
        </p:nvSpPr>
        <p:spPr>
          <a:xfrm>
            <a:off x="502920" y="1203687"/>
            <a:ext cx="10399123" cy="430887"/>
          </a:xfrm>
          <a:prstGeom prst="rect">
            <a:avLst/>
          </a:prstGeom>
          <a:noFill/>
        </p:spPr>
        <p:txBody>
          <a:bodyPr wrap="square">
            <a:spAutoFit/>
          </a:bodyPr>
          <a:lstStyle/>
          <a:p>
            <a:r>
              <a:rPr lang="es-CO" sz="1100" dirty="0"/>
              <a:t>Hasta ahora, el análisis del vecino más cercano indicó que las anomalías presentan un patrón agrupado. Para comprobar que esa conclusión no depende de un solo método, aplicamos una segunda prueba basada en el conteo por cuadrantes y simulaciones de Monte Carlo.</a:t>
            </a:r>
          </a:p>
        </p:txBody>
      </p:sp>
      <p:sp>
        <p:nvSpPr>
          <p:cNvPr id="13" name="CuadroTexto 12">
            <a:extLst>
              <a:ext uri="{FF2B5EF4-FFF2-40B4-BE49-F238E27FC236}">
                <a16:creationId xmlns:a16="http://schemas.microsoft.com/office/drawing/2014/main" id="{B77B0D86-9815-CD6D-3AE8-DF6495BEBB2F}"/>
              </a:ext>
            </a:extLst>
          </p:cNvPr>
          <p:cNvSpPr txBox="1"/>
          <p:nvPr/>
        </p:nvSpPr>
        <p:spPr>
          <a:xfrm>
            <a:off x="5195533" y="5779008"/>
            <a:ext cx="6626047" cy="461665"/>
          </a:xfrm>
          <a:prstGeom prst="rect">
            <a:avLst/>
          </a:prstGeom>
          <a:noFill/>
        </p:spPr>
        <p:txBody>
          <a:bodyPr wrap="square">
            <a:spAutoFit/>
          </a:bodyPr>
          <a:lstStyle/>
          <a:p>
            <a:pPr algn="ctr"/>
            <a:r>
              <a:rPr lang="es-CO" sz="1200" dirty="0"/>
              <a:t>Esta diapositiva demuestra </a:t>
            </a:r>
            <a:r>
              <a:rPr lang="es-CO" sz="1200" b="1" dirty="0"/>
              <a:t>con otra prueba independiente</a:t>
            </a:r>
            <a:r>
              <a:rPr lang="es-CO" sz="1200" dirty="0"/>
              <a:t> que las anomalías</a:t>
            </a:r>
            <a:br>
              <a:rPr lang="es-CO" sz="1200" dirty="0"/>
            </a:br>
            <a:r>
              <a:rPr lang="es-CO" sz="1200" dirty="0"/>
              <a:t> </a:t>
            </a:r>
            <a:r>
              <a:rPr lang="es-CO" sz="1200" b="1" dirty="0"/>
              <a:t>no están distribuidas al azar</a:t>
            </a:r>
            <a:r>
              <a:rPr lang="es-CO" sz="1200"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16</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4 · ANOMALÍAS DE COBRE</a:t>
            </a:r>
            <a:endParaRPr lang="es-CO" sz="1100" noProof="0" dirty="0"/>
          </a:p>
        </p:txBody>
      </p:sp>
      <p:sp>
        <p:nvSpPr>
          <p:cNvPr id="5" name="Text 3"/>
          <p:cNvSpPr/>
          <p:nvPr/>
        </p:nvSpPr>
        <p:spPr>
          <a:xfrm>
            <a:off x="502920" y="566928"/>
            <a:ext cx="11155680" cy="658368"/>
          </a:xfrm>
          <a:prstGeom prst="rect">
            <a:avLst/>
          </a:prstGeom>
          <a:noFill/>
          <a:ln/>
        </p:spPr>
        <p:txBody>
          <a:bodyPr wrap="square" lIns="0" tIns="0" rIns="0" bIns="0" rtlCol="0" anchor="ctr"/>
          <a:lstStyle/>
          <a:p>
            <a:pPr marL="0" indent="0">
              <a:buNone/>
            </a:pPr>
            <a:r>
              <a:rPr lang="en-US" sz="2800" dirty="0" err="1"/>
              <a:t>Confirmación</a:t>
            </a:r>
            <a:r>
              <a:rPr lang="en-US" sz="2800" dirty="0"/>
              <a:t> del </a:t>
            </a:r>
            <a:r>
              <a:rPr lang="en-US" sz="2800" dirty="0" err="1"/>
              <a:t>patrón</a:t>
            </a:r>
            <a:r>
              <a:rPr lang="en-US" sz="2800" dirty="0"/>
              <a:t> </a:t>
            </a:r>
            <a:r>
              <a:rPr lang="en-US" sz="2800" dirty="0" err="1"/>
              <a:t>agrupado</a:t>
            </a:r>
            <a:r>
              <a:rPr lang="en-US" sz="2800" dirty="0"/>
              <a:t> </a:t>
            </a:r>
            <a:r>
              <a:rPr lang="en-US" sz="2800" dirty="0" err="1"/>
              <a:t>mediante</a:t>
            </a:r>
            <a:r>
              <a:rPr lang="en-US" sz="2800" dirty="0"/>
              <a:t> las </a:t>
            </a:r>
            <a:r>
              <a:rPr lang="en-US" sz="2800" dirty="0" err="1"/>
              <a:t>funciones</a:t>
            </a:r>
            <a:r>
              <a:rPr lang="en-US" sz="2800" dirty="0"/>
              <a:t> G, F y K</a:t>
            </a:r>
            <a:endParaRPr lang="es-CO" sz="2600" noProof="0" dirty="0"/>
          </a:p>
        </p:txBody>
      </p:sp>
      <p:pic>
        <p:nvPicPr>
          <p:cNvPr id="6" name="Image 0" descr="img/Figura_14_Funciones_GFK_Anomalias.png"/>
          <p:cNvPicPr>
            <a:picLocks noChangeAspect="1"/>
          </p:cNvPicPr>
          <p:nvPr/>
        </p:nvPicPr>
        <p:blipFill>
          <a:blip r:embed="rId3"/>
          <a:stretch>
            <a:fillRect/>
          </a:stretch>
        </p:blipFill>
        <p:spPr>
          <a:xfrm>
            <a:off x="1333500" y="1549040"/>
            <a:ext cx="9227253" cy="3017312"/>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2463180791"/>
              </p:ext>
            </p:extLst>
          </p:nvPr>
        </p:nvGraphicFramePr>
        <p:xfrm>
          <a:off x="607695" y="4729196"/>
          <a:ext cx="11201400" cy="1463040"/>
        </p:xfrm>
        <a:graphic>
          <a:graphicData uri="http://schemas.openxmlformats.org/drawingml/2006/table">
            <a:tbl>
              <a:tblPr/>
              <a:tblGrid>
                <a:gridCol w="2194560">
                  <a:extLst>
                    <a:ext uri="{9D8B030D-6E8A-4147-A177-3AD203B41FA5}">
                      <a16:colId xmlns:a16="http://schemas.microsoft.com/office/drawing/2014/main" val="20000"/>
                    </a:ext>
                  </a:extLst>
                </a:gridCol>
                <a:gridCol w="3327083">
                  <a:extLst>
                    <a:ext uri="{9D8B030D-6E8A-4147-A177-3AD203B41FA5}">
                      <a16:colId xmlns:a16="http://schemas.microsoft.com/office/drawing/2014/main" val="20001"/>
                    </a:ext>
                  </a:extLst>
                </a:gridCol>
                <a:gridCol w="5679757">
                  <a:extLst>
                    <a:ext uri="{9D8B030D-6E8A-4147-A177-3AD203B41FA5}">
                      <a16:colId xmlns:a16="http://schemas.microsoft.com/office/drawing/2014/main" val="20002"/>
                    </a:ext>
                  </a:extLst>
                </a:gridCol>
              </a:tblGrid>
              <a:tr h="365760">
                <a:tc>
                  <a:txBody>
                    <a:bodyPr/>
                    <a:lstStyle/>
                    <a:p>
                      <a:pPr marL="0" indent="0" algn="ctr">
                        <a:buNone/>
                      </a:pPr>
                      <a:r>
                        <a:rPr lang="es-CO" sz="1100" b="1" noProof="0" dirty="0">
                          <a:solidFill>
                            <a:srgbClr val="FFFFFF"/>
                          </a:solidFill>
                          <a:latin typeface="Calibri" pitchFamily="34" charset="0"/>
                          <a:ea typeface="Calibri" pitchFamily="34" charset="-122"/>
                          <a:cs typeface="Calibri" pitchFamily="34" charset="-120"/>
                        </a:rPr>
                        <a:t>Función</a:t>
                      </a:r>
                      <a:endParaRPr lang="es-CO" sz="11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ctr">
                        <a:buNone/>
                      </a:pPr>
                      <a:r>
                        <a:rPr lang="es-CO" sz="1100" b="1" noProof="0" dirty="0">
                          <a:solidFill>
                            <a:srgbClr val="FFFFFF"/>
                          </a:solidFill>
                          <a:latin typeface="Calibri" pitchFamily="34" charset="0"/>
                          <a:ea typeface="Calibri" pitchFamily="34" charset="-122"/>
                          <a:cs typeface="Calibri" pitchFamily="34" charset="-120"/>
                        </a:rPr>
                        <a:t>Que analiza</a:t>
                      </a:r>
                      <a:endParaRPr lang="es-CO" sz="11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tc>
                  <a:txBody>
                    <a:bodyPr/>
                    <a:lstStyle/>
                    <a:p>
                      <a:pPr marL="0" indent="0" algn="ctr">
                        <a:buNone/>
                      </a:pPr>
                      <a:r>
                        <a:rPr lang="es-CO" sz="1100" b="1" noProof="0" dirty="0">
                          <a:solidFill>
                            <a:srgbClr val="FFFFFF"/>
                          </a:solidFill>
                          <a:latin typeface="Calibri" pitchFamily="34" charset="0"/>
                          <a:ea typeface="Calibri" pitchFamily="34" charset="-122"/>
                          <a:cs typeface="Calibri" pitchFamily="34" charset="-120"/>
                        </a:rPr>
                        <a:t>Lectura</a:t>
                      </a:r>
                      <a:endParaRPr lang="es-CO" sz="11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A9531F"/>
                    </a:solidFill>
                  </a:tcPr>
                </a:tc>
                <a:extLst>
                  <a:ext uri="{0D108BD9-81ED-4DB2-BD59-A6C34878D82A}">
                    <a16:rowId xmlns:a16="http://schemas.microsoft.com/office/drawing/2014/main" val="10000"/>
                  </a:ext>
                </a:extLst>
              </a:tr>
              <a:tr h="365760">
                <a:tc>
                  <a:txBody>
                    <a:bodyPr/>
                    <a:lstStyle/>
                    <a:p>
                      <a:pPr marL="0" indent="0" algn="l">
                        <a:buNone/>
                      </a:pPr>
                      <a:r>
                        <a:rPr lang="es-CO" sz="1100" noProof="0" dirty="0">
                          <a:solidFill>
                            <a:srgbClr val="1F2430"/>
                          </a:solidFill>
                          <a:latin typeface="Calibri" pitchFamily="34" charset="0"/>
                          <a:ea typeface="Calibri" pitchFamily="34" charset="-122"/>
                          <a:cs typeface="Calibri" pitchFamily="34" charset="-120"/>
                        </a:rPr>
                        <a:t>G </a:t>
                      </a:r>
                      <a:endParaRPr lang="es-CO" sz="11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n-US" sz="1100" dirty="0"/>
                        <a:t>Distancia entre </a:t>
                      </a:r>
                      <a:r>
                        <a:rPr lang="en-US" sz="1100" dirty="0" err="1"/>
                        <a:t>anomalías</a:t>
                      </a:r>
                      <a:r>
                        <a:rPr lang="en-US" sz="1100" dirty="0"/>
                        <a:t> </a:t>
                      </a:r>
                      <a:r>
                        <a:rPr lang="en-US" sz="1100" dirty="0" err="1"/>
                        <a:t>vecinas</a:t>
                      </a:r>
                      <a:endParaRPr lang="es-CO" sz="11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rowSpan="3">
                  <a:txBody>
                    <a:bodyPr/>
                    <a:lstStyle/>
                    <a:p>
                      <a:pPr marL="0" indent="0" algn="ctr">
                        <a:buNone/>
                      </a:pPr>
                      <a:r>
                        <a:rPr lang="en-US" sz="1100" dirty="0"/>
                        <a:t>AGRUPAMIENTO </a:t>
                      </a:r>
                    </a:p>
                    <a:p>
                      <a:pPr marL="0" indent="0" algn="ctr">
                        <a:buNone/>
                      </a:pPr>
                      <a:endParaRPr lang="es-CO" sz="11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s-CO" sz="1100" noProof="0" dirty="0">
                          <a:solidFill>
                            <a:srgbClr val="1F2430"/>
                          </a:solidFill>
                          <a:latin typeface="Calibri" pitchFamily="34" charset="0"/>
                          <a:ea typeface="Calibri" pitchFamily="34" charset="-122"/>
                          <a:cs typeface="Calibri" pitchFamily="34" charset="-120"/>
                        </a:rPr>
                        <a:t>F </a:t>
                      </a:r>
                      <a:endParaRPr lang="es-CO" sz="11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a:txBody>
                    <a:bodyPr/>
                    <a:lstStyle/>
                    <a:p>
                      <a:pPr marL="0" indent="0" algn="l">
                        <a:buNone/>
                      </a:pPr>
                      <a:r>
                        <a:rPr lang="en-US" sz="1100" dirty="0" err="1"/>
                        <a:t>Espacios</a:t>
                      </a:r>
                      <a:r>
                        <a:rPr lang="en-US" sz="1100" dirty="0"/>
                        <a:t> </a:t>
                      </a:r>
                      <a:r>
                        <a:rPr lang="en-US" sz="1100" dirty="0" err="1"/>
                        <a:t>vacíos</a:t>
                      </a:r>
                      <a:endParaRPr lang="es-CO" sz="11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tc vMerge="1">
                  <a:txBody>
                    <a:bodyPr/>
                    <a:lstStyle/>
                    <a:p>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4F1EE"/>
                    </a:solidFill>
                  </a:tcPr>
                </a:tc>
                <a:extLst>
                  <a:ext uri="{0D108BD9-81ED-4DB2-BD59-A6C34878D82A}">
                    <a16:rowId xmlns:a16="http://schemas.microsoft.com/office/drawing/2014/main" val="10002"/>
                  </a:ext>
                </a:extLst>
              </a:tr>
              <a:tr h="365760">
                <a:tc>
                  <a:txBody>
                    <a:bodyPr/>
                    <a:lstStyle/>
                    <a:p>
                      <a:pPr marL="0" indent="0" algn="l">
                        <a:buNone/>
                      </a:pPr>
                      <a:r>
                        <a:rPr lang="es-CO" sz="1100" noProof="0" dirty="0">
                          <a:solidFill>
                            <a:srgbClr val="1F2430"/>
                          </a:solidFill>
                          <a:latin typeface="Calibri" pitchFamily="34" charset="0"/>
                          <a:ea typeface="Calibri" pitchFamily="34" charset="-122"/>
                          <a:cs typeface="Calibri" pitchFamily="34" charset="-120"/>
                        </a:rPr>
                        <a:t>K de Ripley</a:t>
                      </a:r>
                      <a:endParaRPr lang="es-CO" sz="11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a:txBody>
                    <a:bodyPr/>
                    <a:lstStyle/>
                    <a:p>
                      <a:pPr marL="0" indent="0" algn="l">
                        <a:buNone/>
                      </a:pPr>
                      <a:r>
                        <a:rPr lang="en-US" sz="1100" dirty="0" err="1"/>
                        <a:t>Patrón</a:t>
                      </a:r>
                      <a:r>
                        <a:rPr lang="en-US" sz="1100" dirty="0"/>
                        <a:t> a </a:t>
                      </a:r>
                      <a:r>
                        <a:rPr lang="en-US" sz="1100" dirty="0" err="1"/>
                        <a:t>todas</a:t>
                      </a:r>
                      <a:r>
                        <a:rPr lang="en-US" sz="1100" dirty="0"/>
                        <a:t> las </a:t>
                      </a:r>
                      <a:r>
                        <a:rPr lang="en-US" sz="1100" dirty="0" err="1"/>
                        <a:t>escalas</a:t>
                      </a:r>
                      <a:endParaRPr lang="es-CO" sz="1100" noProof="0" dirty="0">
                        <a:latin typeface="Calibri" charset="0"/>
                        <a:ea typeface="Calibri" charset="0"/>
                        <a:cs typeface="Calibri" charset="0"/>
                      </a:endParaRPr>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tc vMerge="1">
                  <a:txBody>
                    <a:bodyPr/>
                    <a:lstStyle/>
                    <a:p>
                      <a:endParaRPr dirty="0"/>
                    </a:p>
                  </a:txBody>
                  <a:tcPr marL="54864" marR="54864" marT="54864" marB="54864" anchor="ctr">
                    <a:lnL w="9525" cap="flat" cmpd="sng" algn="ctr">
                      <a:solidFill>
                        <a:srgbClr val="D8D2CC"/>
                      </a:solidFill>
                      <a:prstDash val="solid"/>
                      <a:round/>
                      <a:headEnd type="none" w="med" len="med"/>
                      <a:tailEnd type="none" w="med" len="med"/>
                    </a:lnL>
                    <a:lnR w="9525" cap="flat" cmpd="sng" algn="ctr">
                      <a:solidFill>
                        <a:srgbClr val="D8D2CC"/>
                      </a:solidFill>
                      <a:prstDash val="solid"/>
                      <a:round/>
                      <a:headEnd type="none" w="med" len="med"/>
                      <a:tailEnd type="none" w="med" len="med"/>
                    </a:lnR>
                    <a:lnT w="9525" cap="flat" cmpd="sng" algn="ctr">
                      <a:solidFill>
                        <a:srgbClr val="D8D2CC"/>
                      </a:solidFill>
                      <a:prstDash val="solid"/>
                      <a:round/>
                      <a:headEnd type="none" w="med" len="med"/>
                      <a:tailEnd type="none" w="med" len="med"/>
                    </a:lnT>
                    <a:lnB w="9525" cap="flat" cmpd="sng" algn="ctr">
                      <a:solidFill>
                        <a:srgbClr val="D8D2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4"/>
          <p:cNvSpPr/>
          <p:nvPr/>
        </p:nvSpPr>
        <p:spPr>
          <a:xfrm>
            <a:off x="502920" y="6355080"/>
            <a:ext cx="8229600" cy="274320"/>
          </a:xfrm>
          <a:prstGeom prst="rect">
            <a:avLst/>
          </a:prstGeom>
          <a:noFill/>
          <a:ln/>
        </p:spPr>
        <p:txBody>
          <a:bodyPr wrap="square" lIns="0" tIns="0" rIns="0" bIns="0" rtlCol="0" anchor="ctr"/>
          <a:lstStyle/>
          <a:p>
            <a:pPr marL="0" indent="0">
              <a:buNone/>
            </a:pPr>
            <a:r>
              <a:rPr lang="es-CO" sz="1000" i="1" noProof="0" dirty="0">
                <a:solidFill>
                  <a:srgbClr val="5B6472"/>
                </a:solidFill>
                <a:latin typeface="Calibri" pitchFamily="34" charset="0"/>
                <a:ea typeface="Calibri" pitchFamily="34" charset="-122"/>
                <a:cs typeface="Calibri" pitchFamily="34" charset="-120"/>
              </a:rPr>
              <a:t>Fuente: Tabla 14 y Figura 14</a:t>
            </a:r>
            <a:endParaRPr lang="es-CO" sz="1000" noProof="0" dirty="0"/>
          </a:p>
        </p:txBody>
      </p:sp>
      <p:sp>
        <p:nvSpPr>
          <p:cNvPr id="9" name="CuadroTexto 8">
            <a:extLst>
              <a:ext uri="{FF2B5EF4-FFF2-40B4-BE49-F238E27FC236}">
                <a16:creationId xmlns:a16="http://schemas.microsoft.com/office/drawing/2014/main" id="{5BBA1302-9AB1-6699-6DC7-ED228B624FFE}"/>
              </a:ext>
            </a:extLst>
          </p:cNvPr>
          <p:cNvSpPr txBox="1"/>
          <p:nvPr/>
        </p:nvSpPr>
        <p:spPr>
          <a:xfrm>
            <a:off x="723899" y="1219284"/>
            <a:ext cx="8901114" cy="261610"/>
          </a:xfrm>
          <a:prstGeom prst="rect">
            <a:avLst/>
          </a:prstGeom>
          <a:noFill/>
        </p:spPr>
        <p:txBody>
          <a:bodyPr wrap="square">
            <a:spAutoFit/>
          </a:bodyPr>
          <a:lstStyle/>
          <a:p>
            <a:r>
              <a:rPr lang="en-US" sz="1100" dirty="0"/>
              <a:t>Hasta </a:t>
            </a:r>
            <a:r>
              <a:rPr lang="en-US" sz="1100" dirty="0" err="1"/>
              <a:t>ahora</a:t>
            </a:r>
            <a:r>
              <a:rPr lang="en-US" sz="1100" dirty="0"/>
              <a:t> </a:t>
            </a:r>
            <a:r>
              <a:rPr lang="en-US" sz="1100" dirty="0" err="1"/>
              <a:t>ya</a:t>
            </a:r>
            <a:r>
              <a:rPr lang="en-US" sz="1100" dirty="0"/>
              <a:t> </a:t>
            </a:r>
            <a:r>
              <a:rPr lang="en-US" sz="1100" dirty="0" err="1"/>
              <a:t>teníamos</a:t>
            </a:r>
            <a:r>
              <a:rPr lang="en-US" sz="1100" dirty="0"/>
              <a:t> </a:t>
            </a:r>
            <a:r>
              <a:rPr lang="en-US" sz="1100" dirty="0" err="1"/>
              <a:t>evidencia</a:t>
            </a:r>
            <a:r>
              <a:rPr lang="en-US" sz="1100" dirty="0"/>
              <a:t> de </a:t>
            </a:r>
            <a:r>
              <a:rPr lang="en-US" sz="1100" dirty="0" err="1"/>
              <a:t>que</a:t>
            </a:r>
            <a:r>
              <a:rPr lang="en-US" sz="1100" dirty="0"/>
              <a:t> las </a:t>
            </a:r>
            <a:r>
              <a:rPr lang="en-US" sz="1100" dirty="0" err="1"/>
              <a:t>anomalías</a:t>
            </a:r>
            <a:r>
              <a:rPr lang="en-US" sz="1100" dirty="0"/>
              <a:t> </a:t>
            </a:r>
            <a:r>
              <a:rPr lang="en-US" sz="1100" dirty="0" err="1"/>
              <a:t>estaban</a:t>
            </a:r>
            <a:r>
              <a:rPr lang="en-US" sz="1100" dirty="0"/>
              <a:t> </a:t>
            </a:r>
            <a:r>
              <a:rPr lang="en-US" sz="1100" dirty="0" err="1"/>
              <a:t>agrupadas</a:t>
            </a:r>
            <a:r>
              <a:rPr lang="en-US" sz="1100" dirty="0"/>
              <a:t>. Sin embargo, se </a:t>
            </a:r>
            <a:r>
              <a:rPr lang="en-US" sz="1100" dirty="0" err="1"/>
              <a:t>comprueba</a:t>
            </a:r>
            <a:r>
              <a:rPr lang="en-US" sz="1100" dirty="0"/>
              <a:t> ese </a:t>
            </a:r>
            <a:r>
              <a:rPr lang="en-US" sz="1100" dirty="0" err="1"/>
              <a:t>resultado</a:t>
            </a:r>
            <a:r>
              <a:rPr lang="en-US" sz="1100" dirty="0"/>
              <a:t> </a:t>
            </a:r>
            <a:r>
              <a:rPr lang="en-US" sz="1100" dirty="0" err="1"/>
              <a:t>utilizando</a:t>
            </a:r>
            <a:r>
              <a:rPr lang="en-US" sz="1100" dirty="0"/>
              <a:t> </a:t>
            </a:r>
            <a:r>
              <a:rPr lang="en-US" sz="1100" dirty="0" err="1"/>
              <a:t>otro</a:t>
            </a:r>
            <a:r>
              <a:rPr lang="en-US" sz="1100" dirty="0"/>
              <a:t> </a:t>
            </a:r>
            <a:r>
              <a:rPr lang="en-US" sz="1100" dirty="0" err="1"/>
              <a:t>enfoque</a:t>
            </a:r>
            <a:r>
              <a:rPr lang="en-US" sz="1100" dirty="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17</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4 · ANOMALÍAS DE COBRE</a:t>
            </a:r>
            <a:endParaRPr lang="es-CO" sz="1100" noProof="0" dirty="0"/>
          </a:p>
        </p:txBody>
      </p:sp>
      <p:sp>
        <p:nvSpPr>
          <p:cNvPr id="5" name="Text 3"/>
          <p:cNvSpPr/>
          <p:nvPr/>
        </p:nvSpPr>
        <p:spPr>
          <a:xfrm>
            <a:off x="502920" y="566928"/>
            <a:ext cx="1115568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Relación del patrón de anomalías con las unidades geológicas</a:t>
            </a:r>
            <a:endParaRPr lang="es-CO" sz="2600" noProof="0" dirty="0"/>
          </a:p>
        </p:txBody>
      </p:sp>
      <p:pic>
        <p:nvPicPr>
          <p:cNvPr id="6" name="Image 0" descr="img/Figura_15_Enriquecimiento_Unidades.png"/>
          <p:cNvPicPr>
            <a:picLocks noChangeAspect="1"/>
          </p:cNvPicPr>
          <p:nvPr/>
        </p:nvPicPr>
        <p:blipFill>
          <a:blip r:embed="rId3"/>
          <a:stretch>
            <a:fillRect/>
          </a:stretch>
        </p:blipFill>
        <p:spPr>
          <a:xfrm>
            <a:off x="2108301" y="1693110"/>
            <a:ext cx="7325792" cy="3794760"/>
          </a:xfrm>
          <a:prstGeom prst="rect">
            <a:avLst/>
          </a:prstGeom>
        </p:spPr>
      </p:pic>
      <p:sp>
        <p:nvSpPr>
          <p:cNvPr id="9" name="Text 6"/>
          <p:cNvSpPr/>
          <p:nvPr/>
        </p:nvSpPr>
        <p:spPr>
          <a:xfrm>
            <a:off x="502920" y="6271831"/>
            <a:ext cx="9601200" cy="274320"/>
          </a:xfrm>
          <a:prstGeom prst="rect">
            <a:avLst/>
          </a:prstGeom>
          <a:noFill/>
          <a:ln/>
        </p:spPr>
        <p:txBody>
          <a:bodyPr wrap="square" lIns="0" tIns="0" rIns="0" bIns="0" rtlCol="0" anchor="ctr"/>
          <a:lstStyle/>
          <a:p>
            <a:pPr marL="0" indent="0">
              <a:buNone/>
            </a:pPr>
            <a:r>
              <a:rPr lang="es-CO" sz="1000" i="1" noProof="0" dirty="0">
                <a:solidFill>
                  <a:srgbClr val="5B6472"/>
                </a:solidFill>
                <a:latin typeface="Calibri" pitchFamily="34" charset="0"/>
                <a:ea typeface="Calibri" pitchFamily="34" charset="-122"/>
                <a:cs typeface="Calibri" pitchFamily="34" charset="-120"/>
              </a:rPr>
              <a:t>Fuente: Tabla 15 y Figura 15. Enriquecimiento = % de anomalías / % de muestras por unidad (≥ 10 muestras).</a:t>
            </a:r>
            <a:endParaRPr lang="es-CO" sz="1000" noProof="0" dirty="0"/>
          </a:p>
        </p:txBody>
      </p:sp>
      <p:sp>
        <p:nvSpPr>
          <p:cNvPr id="11" name="CuadroTexto 10">
            <a:extLst>
              <a:ext uri="{FF2B5EF4-FFF2-40B4-BE49-F238E27FC236}">
                <a16:creationId xmlns:a16="http://schemas.microsoft.com/office/drawing/2014/main" id="{B6393783-CD02-D5AA-F96A-ABC87D2B52A9}"/>
              </a:ext>
            </a:extLst>
          </p:cNvPr>
          <p:cNvSpPr txBox="1"/>
          <p:nvPr/>
        </p:nvSpPr>
        <p:spPr>
          <a:xfrm>
            <a:off x="727710" y="1157716"/>
            <a:ext cx="11045190" cy="523220"/>
          </a:xfrm>
          <a:prstGeom prst="rect">
            <a:avLst/>
          </a:prstGeom>
          <a:noFill/>
        </p:spPr>
        <p:txBody>
          <a:bodyPr wrap="square">
            <a:spAutoFit/>
          </a:bodyPr>
          <a:lstStyle/>
          <a:p>
            <a:r>
              <a:rPr lang="en-US" sz="1400" dirty="0"/>
              <a:t>Hasta </a:t>
            </a:r>
            <a:r>
              <a:rPr lang="en-US" sz="1400" dirty="0" err="1"/>
              <a:t>ahora</a:t>
            </a:r>
            <a:r>
              <a:rPr lang="en-US" sz="1400" dirty="0"/>
              <a:t> </a:t>
            </a:r>
            <a:r>
              <a:rPr lang="en-US" sz="1400" dirty="0" err="1"/>
              <a:t>demostramos</a:t>
            </a:r>
            <a:r>
              <a:rPr lang="en-US" sz="1400" dirty="0"/>
              <a:t> </a:t>
            </a:r>
            <a:r>
              <a:rPr lang="en-US" sz="1400" dirty="0" err="1"/>
              <a:t>que</a:t>
            </a:r>
            <a:r>
              <a:rPr lang="en-US" sz="1400" dirty="0"/>
              <a:t> las </a:t>
            </a:r>
            <a:r>
              <a:rPr lang="en-US" sz="1400" dirty="0" err="1"/>
              <a:t>anomalías</a:t>
            </a:r>
            <a:r>
              <a:rPr lang="en-US" sz="1400" dirty="0"/>
              <a:t> </a:t>
            </a:r>
            <a:r>
              <a:rPr lang="en-US" sz="1400" dirty="0" err="1"/>
              <a:t>están</a:t>
            </a:r>
            <a:r>
              <a:rPr lang="en-US" sz="1400" dirty="0"/>
              <a:t> </a:t>
            </a:r>
            <a:r>
              <a:rPr lang="en-US" sz="1400" dirty="0" err="1"/>
              <a:t>agrupadas</a:t>
            </a:r>
            <a:r>
              <a:rPr lang="en-US" sz="1400" dirty="0"/>
              <a:t>. La </a:t>
            </a:r>
            <a:r>
              <a:rPr lang="en-US" sz="1400" dirty="0" err="1"/>
              <a:t>siguiente</a:t>
            </a:r>
            <a:r>
              <a:rPr lang="en-US" sz="1400" dirty="0"/>
              <a:t> </a:t>
            </a:r>
            <a:r>
              <a:rPr lang="en-US" sz="1400" dirty="0" err="1"/>
              <a:t>pregunta</a:t>
            </a:r>
            <a:r>
              <a:rPr lang="en-US" sz="1400" dirty="0"/>
              <a:t> es </a:t>
            </a:r>
            <a:r>
              <a:rPr lang="en-US" sz="1400" dirty="0" err="1"/>
              <a:t>si</a:t>
            </a:r>
            <a:r>
              <a:rPr lang="en-US" sz="1400" dirty="0"/>
              <a:t> ese </a:t>
            </a:r>
            <a:r>
              <a:rPr lang="en-US" sz="1400" dirty="0" err="1"/>
              <a:t>agrupamiento</a:t>
            </a:r>
            <a:r>
              <a:rPr lang="en-US" sz="1400" dirty="0"/>
              <a:t> </a:t>
            </a:r>
            <a:r>
              <a:rPr lang="en-US" sz="1400" dirty="0" err="1"/>
              <a:t>ocurre</a:t>
            </a:r>
            <a:r>
              <a:rPr lang="en-US" sz="1400" dirty="0"/>
              <a:t> en </a:t>
            </a:r>
            <a:br>
              <a:rPr lang="en-US" sz="1400" dirty="0"/>
            </a:br>
            <a:r>
              <a:rPr lang="en-US" sz="1400" dirty="0" err="1"/>
              <a:t>cualquier</a:t>
            </a:r>
            <a:r>
              <a:rPr lang="en-US" sz="1400" dirty="0"/>
              <a:t> </a:t>
            </a:r>
            <a:r>
              <a:rPr lang="en-US" sz="1400" dirty="0" err="1"/>
              <a:t>roca</a:t>
            </a:r>
            <a:r>
              <a:rPr lang="en-US" sz="1400" dirty="0"/>
              <a:t> o </a:t>
            </a:r>
            <a:r>
              <a:rPr lang="en-US" sz="1400" dirty="0" err="1"/>
              <a:t>si</a:t>
            </a:r>
            <a:r>
              <a:rPr lang="en-US" sz="1400" dirty="0"/>
              <a:t> </a:t>
            </a:r>
            <a:r>
              <a:rPr lang="en-US" sz="1400" dirty="0" err="1"/>
              <a:t>algunas</a:t>
            </a:r>
            <a:r>
              <a:rPr lang="en-US" sz="1400" dirty="0"/>
              <a:t> </a:t>
            </a:r>
            <a:r>
              <a:rPr lang="en-US" sz="1400" dirty="0" err="1"/>
              <a:t>unidades</a:t>
            </a:r>
            <a:r>
              <a:rPr lang="en-US" sz="1400" dirty="0"/>
              <a:t> </a:t>
            </a:r>
            <a:r>
              <a:rPr lang="en-US" sz="1400" dirty="0" err="1"/>
              <a:t>geológicas</a:t>
            </a:r>
            <a:r>
              <a:rPr lang="en-US" sz="1400" dirty="0"/>
              <a:t> </a:t>
            </a:r>
            <a:r>
              <a:rPr lang="en-US" sz="1400" dirty="0" err="1"/>
              <a:t>concentran</a:t>
            </a:r>
            <a:r>
              <a:rPr lang="en-US" sz="1400" dirty="0"/>
              <a:t> </a:t>
            </a:r>
            <a:r>
              <a:rPr lang="en-US" sz="1400" dirty="0" err="1"/>
              <a:t>más</a:t>
            </a:r>
            <a:r>
              <a:rPr lang="en-US" sz="1400" dirty="0"/>
              <a:t> </a:t>
            </a:r>
            <a:r>
              <a:rPr lang="en-US" sz="1400" dirty="0" err="1"/>
              <a:t>anomalías</a:t>
            </a:r>
            <a:r>
              <a:rPr lang="en-US" sz="1400" dirty="0"/>
              <a:t> </a:t>
            </a:r>
            <a:r>
              <a:rPr lang="en-US" sz="1400" dirty="0" err="1"/>
              <a:t>que</a:t>
            </a:r>
            <a:r>
              <a:rPr lang="en-US" sz="1400" dirty="0"/>
              <a:t> </a:t>
            </a:r>
            <a:r>
              <a:rPr lang="en-US" sz="1400" dirty="0" err="1"/>
              <a:t>otras</a:t>
            </a:r>
            <a:r>
              <a:rPr lang="en-US" sz="1400" dirty="0"/>
              <a:t>.</a:t>
            </a:r>
            <a:endParaRPr lang="es-CO" sz="1400" dirty="0"/>
          </a:p>
        </p:txBody>
      </p:sp>
      <p:sp>
        <p:nvSpPr>
          <p:cNvPr id="13" name="CuadroTexto 12">
            <a:extLst>
              <a:ext uri="{FF2B5EF4-FFF2-40B4-BE49-F238E27FC236}">
                <a16:creationId xmlns:a16="http://schemas.microsoft.com/office/drawing/2014/main" id="{E39CE414-1E1B-0059-DB5D-C2E508D97EC5}"/>
              </a:ext>
            </a:extLst>
          </p:cNvPr>
          <p:cNvSpPr txBox="1"/>
          <p:nvPr/>
        </p:nvSpPr>
        <p:spPr>
          <a:xfrm>
            <a:off x="5703570" y="5533262"/>
            <a:ext cx="5129518" cy="584775"/>
          </a:xfrm>
          <a:prstGeom prst="rect">
            <a:avLst/>
          </a:prstGeom>
          <a:noFill/>
        </p:spPr>
        <p:txBody>
          <a:bodyPr wrap="square">
            <a:spAutoFit/>
          </a:bodyPr>
          <a:lstStyle/>
          <a:p>
            <a:r>
              <a:rPr lang="en-US" sz="800" dirty="0"/>
              <a:t>La </a:t>
            </a:r>
            <a:r>
              <a:rPr lang="en-US" sz="800" dirty="0" err="1"/>
              <a:t>línea</a:t>
            </a:r>
            <a:r>
              <a:rPr lang="en-US" sz="800" dirty="0"/>
              <a:t> </a:t>
            </a:r>
            <a:r>
              <a:rPr lang="en-US" sz="800" dirty="0" err="1"/>
              <a:t>punteada</a:t>
            </a:r>
            <a:r>
              <a:rPr lang="en-US" sz="800" dirty="0"/>
              <a:t> </a:t>
            </a:r>
            <a:r>
              <a:rPr lang="en-US" sz="800" dirty="0" err="1"/>
              <a:t>representa</a:t>
            </a:r>
            <a:r>
              <a:rPr lang="en-US" sz="800" dirty="0"/>
              <a:t> el valor 1. </a:t>
            </a:r>
            <a:br>
              <a:rPr lang="en-US" sz="800" dirty="0"/>
            </a:br>
            <a:r>
              <a:rPr lang="en-US" sz="800" dirty="0"/>
              <a:t>Si </a:t>
            </a:r>
            <a:r>
              <a:rPr lang="en-US" sz="800" dirty="0" err="1"/>
              <a:t>una</a:t>
            </a:r>
            <a:r>
              <a:rPr lang="en-US" sz="800" dirty="0"/>
              <a:t> </a:t>
            </a:r>
            <a:r>
              <a:rPr lang="en-US" sz="800" dirty="0" err="1"/>
              <a:t>unidad</a:t>
            </a:r>
            <a:r>
              <a:rPr lang="en-US" sz="800" dirty="0"/>
              <a:t> </a:t>
            </a:r>
            <a:r>
              <a:rPr lang="en-US" sz="800" dirty="0" err="1"/>
              <a:t>tiene</a:t>
            </a:r>
            <a:r>
              <a:rPr lang="en-US" sz="800" dirty="0"/>
              <a:t> un </a:t>
            </a:r>
            <a:r>
              <a:rPr lang="en-US" sz="800" dirty="0" err="1"/>
              <a:t>enriquecimiento</a:t>
            </a:r>
            <a:r>
              <a:rPr lang="en-US" sz="800" dirty="0"/>
              <a:t> </a:t>
            </a:r>
            <a:r>
              <a:rPr lang="en-US" sz="800" dirty="0" err="1"/>
              <a:t>igual</a:t>
            </a:r>
            <a:r>
              <a:rPr lang="en-US" sz="800" dirty="0"/>
              <a:t> a 1, </a:t>
            </a:r>
            <a:r>
              <a:rPr lang="en-US" sz="800" dirty="0" err="1"/>
              <a:t>significa</a:t>
            </a:r>
            <a:r>
              <a:rPr lang="en-US" sz="800" dirty="0"/>
              <a:t> </a:t>
            </a:r>
            <a:r>
              <a:rPr lang="en-US" sz="800" dirty="0" err="1"/>
              <a:t>que</a:t>
            </a:r>
            <a:r>
              <a:rPr lang="en-US" sz="800" dirty="0"/>
              <a:t> </a:t>
            </a:r>
            <a:r>
              <a:rPr lang="en-US" sz="800" dirty="0" err="1"/>
              <a:t>tiene</a:t>
            </a:r>
            <a:r>
              <a:rPr lang="en-US" sz="800" dirty="0"/>
              <a:t> la </a:t>
            </a:r>
            <a:r>
              <a:rPr lang="en-US" sz="800" dirty="0" err="1"/>
              <a:t>cantidad</a:t>
            </a:r>
            <a:r>
              <a:rPr lang="en-US" sz="800" dirty="0"/>
              <a:t> de </a:t>
            </a:r>
            <a:br>
              <a:rPr lang="en-US" sz="800" dirty="0"/>
            </a:br>
            <a:r>
              <a:rPr lang="en-US" sz="800" dirty="0" err="1"/>
              <a:t>anomalías</a:t>
            </a:r>
            <a:r>
              <a:rPr lang="en-US" sz="800" dirty="0"/>
              <a:t> </a:t>
            </a:r>
            <a:r>
              <a:rPr lang="en-US" sz="800" dirty="0" err="1"/>
              <a:t>que</a:t>
            </a:r>
            <a:r>
              <a:rPr lang="en-US" sz="800" dirty="0"/>
              <a:t> </a:t>
            </a:r>
            <a:r>
              <a:rPr lang="en-US" sz="800" dirty="0" err="1"/>
              <a:t>esperaríamos</a:t>
            </a:r>
            <a:r>
              <a:rPr lang="en-US" sz="800" dirty="0"/>
              <a:t> </a:t>
            </a:r>
            <a:r>
              <a:rPr lang="en-US" sz="800" dirty="0" err="1"/>
              <a:t>según</a:t>
            </a:r>
            <a:r>
              <a:rPr lang="en-US" sz="800" dirty="0"/>
              <a:t> el </a:t>
            </a:r>
            <a:r>
              <a:rPr lang="en-US" sz="800" dirty="0" err="1"/>
              <a:t>número</a:t>
            </a:r>
            <a:r>
              <a:rPr lang="en-US" sz="800" dirty="0"/>
              <a:t> de muestras </a:t>
            </a:r>
            <a:r>
              <a:rPr lang="en-US" sz="800" dirty="0" err="1"/>
              <a:t>tomadas</a:t>
            </a:r>
            <a:r>
              <a:rPr lang="en-US" sz="800" dirty="0"/>
              <a:t>. </a:t>
            </a:r>
            <a:br>
              <a:rPr lang="en-US" sz="800" dirty="0"/>
            </a:br>
            <a:r>
              <a:rPr lang="en-US" sz="800" dirty="0"/>
              <a:t>Valores </a:t>
            </a:r>
            <a:r>
              <a:rPr lang="en-US" sz="800" dirty="0" err="1"/>
              <a:t>mayores</a:t>
            </a:r>
            <a:r>
              <a:rPr lang="en-US" sz="800" dirty="0"/>
              <a:t> </a:t>
            </a:r>
            <a:r>
              <a:rPr lang="en-US" sz="800" dirty="0" err="1"/>
              <a:t>que</a:t>
            </a:r>
            <a:r>
              <a:rPr lang="en-US" sz="800" dirty="0"/>
              <a:t> 1 indican </a:t>
            </a:r>
            <a:r>
              <a:rPr lang="en-US" sz="800" dirty="0" err="1"/>
              <a:t>que</a:t>
            </a:r>
            <a:r>
              <a:rPr lang="en-US" sz="800" dirty="0"/>
              <a:t> </a:t>
            </a:r>
            <a:r>
              <a:rPr lang="en-US" sz="800" dirty="0" err="1"/>
              <a:t>esa</a:t>
            </a:r>
            <a:r>
              <a:rPr lang="en-US" sz="800" dirty="0"/>
              <a:t> </a:t>
            </a:r>
            <a:r>
              <a:rPr lang="en-US" sz="800" dirty="0" err="1"/>
              <a:t>unidad</a:t>
            </a:r>
            <a:r>
              <a:rPr lang="en-US" sz="800" dirty="0"/>
              <a:t> </a:t>
            </a:r>
            <a:r>
              <a:rPr lang="en-US" sz="800" dirty="0" err="1"/>
              <a:t>concentra</a:t>
            </a:r>
            <a:r>
              <a:rPr lang="en-US" sz="800" dirty="0"/>
              <a:t> </a:t>
            </a:r>
            <a:r>
              <a:rPr lang="en-US" sz="800" dirty="0" err="1"/>
              <a:t>más</a:t>
            </a:r>
            <a:r>
              <a:rPr lang="en-US" sz="800" dirty="0"/>
              <a:t> </a:t>
            </a:r>
            <a:r>
              <a:rPr lang="en-US" sz="800" dirty="0" err="1"/>
              <a:t>anomalías</a:t>
            </a:r>
            <a:r>
              <a:rPr lang="en-US" sz="800" dirty="0"/>
              <a:t> de las </a:t>
            </a:r>
            <a:r>
              <a:rPr lang="en-US" sz="800" dirty="0" err="1"/>
              <a:t>esperadas</a:t>
            </a:r>
            <a:endParaRPr lang="es-CO" sz="800" dirty="0"/>
          </a:p>
        </p:txBody>
      </p:sp>
      <p:sp>
        <p:nvSpPr>
          <p:cNvPr id="15" name="CuadroTexto 14">
            <a:extLst>
              <a:ext uri="{FF2B5EF4-FFF2-40B4-BE49-F238E27FC236}">
                <a16:creationId xmlns:a16="http://schemas.microsoft.com/office/drawing/2014/main" id="{A84C3282-326C-6C7A-573C-3D2976330653}"/>
              </a:ext>
            </a:extLst>
          </p:cNvPr>
          <p:cNvSpPr txBox="1"/>
          <p:nvPr/>
        </p:nvSpPr>
        <p:spPr>
          <a:xfrm>
            <a:off x="2026922" y="5071597"/>
            <a:ext cx="3521392" cy="461665"/>
          </a:xfrm>
          <a:prstGeom prst="rect">
            <a:avLst/>
          </a:prstGeom>
          <a:noFill/>
        </p:spPr>
        <p:txBody>
          <a:bodyPr wrap="square">
            <a:spAutoFit/>
          </a:bodyPr>
          <a:lstStyle>
            <a:lvl1pPr>
              <a:defRPr sz="800"/>
            </a:lvl1pPr>
          </a:lstStyle>
          <a:p>
            <a:r>
              <a:rPr lang="en-US" dirty="0"/>
              <a:t>Cuatro </a:t>
            </a:r>
            <a:r>
              <a:rPr lang="en-US" dirty="0" err="1"/>
              <a:t>unidades</a:t>
            </a:r>
            <a:r>
              <a:rPr lang="en-US" dirty="0"/>
              <a:t> </a:t>
            </a:r>
            <a:r>
              <a:rPr lang="en-US" dirty="0" err="1"/>
              <a:t>presentan</a:t>
            </a:r>
            <a:r>
              <a:rPr lang="en-US" dirty="0"/>
              <a:t> un </a:t>
            </a:r>
            <a:r>
              <a:rPr lang="en-US" dirty="0" err="1"/>
              <a:t>enriquecimiento</a:t>
            </a:r>
            <a:r>
              <a:rPr lang="en-US" dirty="0"/>
              <a:t> </a:t>
            </a:r>
            <a:r>
              <a:rPr lang="en-US" dirty="0" err="1"/>
              <a:t>significativamente</a:t>
            </a:r>
            <a:r>
              <a:rPr lang="en-US" dirty="0"/>
              <a:t> mayor al </a:t>
            </a:r>
            <a:r>
              <a:rPr lang="en-US" dirty="0" err="1"/>
              <a:t>esperado</a:t>
            </a:r>
            <a:r>
              <a:rPr lang="en-US" dirty="0"/>
              <a:t> y las </a:t>
            </a:r>
            <a:r>
              <a:rPr lang="en-US" dirty="0" err="1"/>
              <a:t>demás</a:t>
            </a:r>
            <a:r>
              <a:rPr lang="en-US" dirty="0"/>
              <a:t> </a:t>
            </a:r>
            <a:r>
              <a:rPr lang="en-US" dirty="0" err="1"/>
              <a:t>unidades</a:t>
            </a:r>
            <a:r>
              <a:rPr lang="en-US" dirty="0"/>
              <a:t>  </a:t>
            </a:r>
            <a:r>
              <a:rPr lang="en-US" dirty="0" err="1"/>
              <a:t>valores</a:t>
            </a:r>
            <a:r>
              <a:rPr lang="en-US" dirty="0"/>
              <a:t> </a:t>
            </a:r>
            <a:r>
              <a:rPr lang="en-US" dirty="0" err="1"/>
              <a:t>cercanos</a:t>
            </a:r>
            <a:r>
              <a:rPr lang="en-US" dirty="0"/>
              <a:t> a uno o </a:t>
            </a:r>
            <a:r>
              <a:rPr lang="en-US" dirty="0" err="1"/>
              <a:t>inferiores</a:t>
            </a:r>
            <a:r>
              <a:rPr lang="en-US" dirty="0"/>
              <a:t>, lo </a:t>
            </a:r>
            <a:r>
              <a:rPr lang="en-US" dirty="0" err="1"/>
              <a:t>que</a:t>
            </a:r>
            <a:r>
              <a:rPr lang="en-US" dirty="0"/>
              <a:t> indica </a:t>
            </a:r>
            <a:r>
              <a:rPr lang="en-US" dirty="0" err="1"/>
              <a:t>que</a:t>
            </a:r>
            <a:r>
              <a:rPr lang="en-US" dirty="0"/>
              <a:t> no </a:t>
            </a:r>
            <a:r>
              <a:rPr lang="en-US" dirty="0" err="1"/>
              <a:t>muestran</a:t>
            </a:r>
            <a:r>
              <a:rPr lang="en-US" dirty="0"/>
              <a:t> un </a:t>
            </a:r>
            <a:r>
              <a:rPr lang="en-US" dirty="0" err="1"/>
              <a:t>exceso</a:t>
            </a:r>
            <a:r>
              <a:rPr lang="en-US" dirty="0"/>
              <a:t> </a:t>
            </a:r>
            <a:r>
              <a:rPr lang="en-US" dirty="0" err="1"/>
              <a:t>significativo</a:t>
            </a:r>
            <a:r>
              <a:rPr lang="en-US" dirty="0"/>
              <a:t> de </a:t>
            </a:r>
            <a:r>
              <a:rPr lang="en-US" dirty="0" err="1"/>
              <a:t>anomalías</a:t>
            </a:r>
            <a:r>
              <a:rPr lang="en-US" dirty="0"/>
              <a:t>.</a:t>
            </a:r>
            <a:endParaRPr lang="es-CO"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18</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CAPÍTULO 4 · ANOMALÍAS DE COBRE</a:t>
            </a:r>
            <a:endParaRPr lang="es-CO" sz="1100" noProof="0" dirty="0"/>
          </a:p>
        </p:txBody>
      </p:sp>
      <p:sp>
        <p:nvSpPr>
          <p:cNvPr id="5" name="Text 3"/>
          <p:cNvSpPr/>
          <p:nvPr/>
        </p:nvSpPr>
        <p:spPr>
          <a:xfrm>
            <a:off x="502920" y="566928"/>
            <a:ext cx="1115568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Relación del patrón de anomalías con las fallas geológicas</a:t>
            </a:r>
            <a:endParaRPr lang="es-CO" sz="2600" noProof="0" dirty="0"/>
          </a:p>
        </p:txBody>
      </p:sp>
      <p:pic>
        <p:nvPicPr>
          <p:cNvPr id="6" name="Image 0" descr="img/Figura_16_Distancia_Fallas.png"/>
          <p:cNvPicPr>
            <a:picLocks noChangeAspect="1"/>
          </p:cNvPicPr>
          <p:nvPr/>
        </p:nvPicPr>
        <p:blipFill>
          <a:blip r:embed="rId3"/>
          <a:stretch>
            <a:fillRect/>
          </a:stretch>
        </p:blipFill>
        <p:spPr>
          <a:xfrm>
            <a:off x="2028825" y="1728161"/>
            <a:ext cx="7891462" cy="3904543"/>
          </a:xfrm>
          <a:prstGeom prst="rect">
            <a:avLst/>
          </a:prstGeom>
        </p:spPr>
      </p:pic>
      <p:sp>
        <p:nvSpPr>
          <p:cNvPr id="9" name="Text 6"/>
          <p:cNvSpPr/>
          <p:nvPr/>
        </p:nvSpPr>
        <p:spPr>
          <a:xfrm>
            <a:off x="637222" y="6291072"/>
            <a:ext cx="4572000" cy="274320"/>
          </a:xfrm>
          <a:prstGeom prst="rect">
            <a:avLst/>
          </a:prstGeom>
          <a:noFill/>
          <a:ln/>
        </p:spPr>
        <p:txBody>
          <a:bodyPr wrap="square" lIns="0" tIns="0" rIns="0" bIns="0" rtlCol="0" anchor="ctr"/>
          <a:lstStyle/>
          <a:p>
            <a:pPr marL="0" indent="0">
              <a:buNone/>
            </a:pPr>
            <a:r>
              <a:rPr lang="es-CO" sz="1000" i="1" noProof="0" dirty="0">
                <a:solidFill>
                  <a:srgbClr val="5B6472"/>
                </a:solidFill>
                <a:latin typeface="Calibri" pitchFamily="34" charset="0"/>
                <a:ea typeface="Calibri" pitchFamily="34" charset="-122"/>
                <a:cs typeface="Calibri" pitchFamily="34" charset="-120"/>
              </a:rPr>
              <a:t>Fuente: Tabla 16 y Figura 16.</a:t>
            </a:r>
            <a:endParaRPr lang="es-CO" sz="1000" noProof="0" dirty="0"/>
          </a:p>
        </p:txBody>
      </p:sp>
      <p:sp>
        <p:nvSpPr>
          <p:cNvPr id="11" name="CuadroTexto 10">
            <a:extLst>
              <a:ext uri="{FF2B5EF4-FFF2-40B4-BE49-F238E27FC236}">
                <a16:creationId xmlns:a16="http://schemas.microsoft.com/office/drawing/2014/main" id="{8FA70571-9794-CE06-123F-AC0FC6300EB5}"/>
              </a:ext>
            </a:extLst>
          </p:cNvPr>
          <p:cNvSpPr txBox="1"/>
          <p:nvPr/>
        </p:nvSpPr>
        <p:spPr>
          <a:xfrm>
            <a:off x="690563" y="1138535"/>
            <a:ext cx="6096000" cy="461665"/>
          </a:xfrm>
          <a:prstGeom prst="rect">
            <a:avLst/>
          </a:prstGeom>
          <a:noFill/>
        </p:spPr>
        <p:txBody>
          <a:bodyPr wrap="square">
            <a:spAutoFit/>
          </a:bodyPr>
          <a:lstStyle/>
          <a:p>
            <a:r>
              <a:rPr lang="en-US" sz="1200" dirty="0" err="1"/>
              <a:t>Después</a:t>
            </a:r>
            <a:r>
              <a:rPr lang="en-US" sz="1200" dirty="0"/>
              <a:t> de </a:t>
            </a:r>
            <a:r>
              <a:rPr lang="en-US" sz="1200" dirty="0" err="1"/>
              <a:t>evaluar</a:t>
            </a:r>
            <a:r>
              <a:rPr lang="en-US" sz="1200" dirty="0"/>
              <a:t> la </a:t>
            </a:r>
            <a:r>
              <a:rPr lang="en-US" sz="1200" dirty="0" err="1"/>
              <a:t>relación</a:t>
            </a:r>
            <a:r>
              <a:rPr lang="en-US" sz="1200" dirty="0"/>
              <a:t> con las </a:t>
            </a:r>
            <a:r>
              <a:rPr lang="en-US" sz="1200" dirty="0" err="1"/>
              <a:t>unidades</a:t>
            </a:r>
            <a:r>
              <a:rPr lang="en-US" sz="1200" dirty="0"/>
              <a:t> </a:t>
            </a:r>
            <a:r>
              <a:rPr lang="en-US" sz="1200" dirty="0" err="1"/>
              <a:t>geológicas</a:t>
            </a:r>
            <a:r>
              <a:rPr lang="en-US" sz="1200" dirty="0"/>
              <a:t>, </a:t>
            </a:r>
            <a:r>
              <a:rPr lang="en-US" sz="1200" dirty="0" err="1"/>
              <a:t>analizamos</a:t>
            </a:r>
            <a:r>
              <a:rPr lang="en-US" sz="1200" dirty="0"/>
              <a:t> </a:t>
            </a:r>
            <a:r>
              <a:rPr lang="en-US" sz="1200" dirty="0" err="1"/>
              <a:t>si</a:t>
            </a:r>
            <a:r>
              <a:rPr lang="en-US" sz="1200" dirty="0"/>
              <a:t> las </a:t>
            </a:r>
            <a:r>
              <a:rPr lang="en-US" sz="1200" dirty="0" err="1"/>
              <a:t>anomalías</a:t>
            </a:r>
            <a:r>
              <a:rPr lang="en-US" sz="1200" dirty="0"/>
              <a:t> también </a:t>
            </a:r>
            <a:r>
              <a:rPr lang="en-US" sz="1200" dirty="0" err="1"/>
              <a:t>presentan</a:t>
            </a:r>
            <a:r>
              <a:rPr lang="en-US" sz="1200" dirty="0"/>
              <a:t> </a:t>
            </a:r>
            <a:r>
              <a:rPr lang="en-US" sz="1200" dirty="0" err="1"/>
              <a:t>una</a:t>
            </a:r>
            <a:r>
              <a:rPr lang="en-US" sz="1200" dirty="0"/>
              <a:t> mayor </a:t>
            </a:r>
            <a:r>
              <a:rPr lang="en-US" sz="1200" dirty="0" err="1"/>
              <a:t>proximidad</a:t>
            </a:r>
            <a:r>
              <a:rPr lang="en-US" sz="1200" dirty="0"/>
              <a:t> a las </a:t>
            </a:r>
            <a:r>
              <a:rPr lang="en-US" sz="1200" dirty="0" err="1"/>
              <a:t>fallas</a:t>
            </a:r>
            <a:r>
              <a:rPr lang="en-US" sz="1200" dirty="0"/>
              <a:t> </a:t>
            </a:r>
            <a:r>
              <a:rPr lang="en-US" sz="1200" dirty="0" err="1"/>
              <a:t>geológicas</a:t>
            </a:r>
            <a:endParaRPr lang="es-CO" sz="1200" dirty="0"/>
          </a:p>
        </p:txBody>
      </p:sp>
      <p:sp>
        <p:nvSpPr>
          <p:cNvPr id="13" name="CuadroTexto 12">
            <a:extLst>
              <a:ext uri="{FF2B5EF4-FFF2-40B4-BE49-F238E27FC236}">
                <a16:creationId xmlns:a16="http://schemas.microsoft.com/office/drawing/2014/main" id="{8DBBB76E-1CB2-6C21-9395-4F0A6316A7B2}"/>
              </a:ext>
            </a:extLst>
          </p:cNvPr>
          <p:cNvSpPr txBox="1"/>
          <p:nvPr/>
        </p:nvSpPr>
        <p:spPr>
          <a:xfrm>
            <a:off x="690563" y="5768745"/>
            <a:ext cx="10658476" cy="430887"/>
          </a:xfrm>
          <a:prstGeom prst="rect">
            <a:avLst/>
          </a:prstGeom>
          <a:noFill/>
        </p:spPr>
        <p:txBody>
          <a:bodyPr wrap="square">
            <a:spAutoFit/>
          </a:bodyPr>
          <a:lstStyle/>
          <a:p>
            <a:r>
              <a:rPr lang="en-US" sz="1100" dirty="0"/>
              <a:t>los </a:t>
            </a:r>
            <a:r>
              <a:rPr lang="en-US" sz="1100" dirty="0" err="1"/>
              <a:t>resultados</a:t>
            </a:r>
            <a:r>
              <a:rPr lang="en-US" sz="1100" dirty="0"/>
              <a:t> indican </a:t>
            </a:r>
            <a:r>
              <a:rPr lang="en-US" sz="1100" dirty="0" err="1"/>
              <a:t>que</a:t>
            </a:r>
            <a:r>
              <a:rPr lang="en-US" sz="1100" dirty="0"/>
              <a:t> las </a:t>
            </a:r>
            <a:r>
              <a:rPr lang="en-US" sz="1100" dirty="0" err="1"/>
              <a:t>anomalías</a:t>
            </a:r>
            <a:r>
              <a:rPr lang="en-US" sz="1100" dirty="0"/>
              <a:t> de </a:t>
            </a:r>
            <a:r>
              <a:rPr lang="en-US" sz="1100" dirty="0" err="1"/>
              <a:t>cobre</a:t>
            </a:r>
            <a:r>
              <a:rPr lang="en-US" sz="1100" dirty="0"/>
              <a:t> </a:t>
            </a:r>
            <a:r>
              <a:rPr lang="en-US" sz="1100" dirty="0" err="1"/>
              <a:t>presentan</a:t>
            </a:r>
            <a:r>
              <a:rPr lang="en-US" sz="1100" dirty="0"/>
              <a:t> un </a:t>
            </a:r>
            <a:r>
              <a:rPr lang="en-US" sz="1100" dirty="0" err="1"/>
              <a:t>patrón</a:t>
            </a:r>
            <a:r>
              <a:rPr lang="en-US" sz="1100" dirty="0"/>
              <a:t> </a:t>
            </a:r>
            <a:r>
              <a:rPr lang="en-US" sz="1100" dirty="0" err="1"/>
              <a:t>espacial</a:t>
            </a:r>
            <a:r>
              <a:rPr lang="en-US" sz="1100" dirty="0"/>
              <a:t> </a:t>
            </a:r>
            <a:r>
              <a:rPr lang="en-US" sz="1100" dirty="0" err="1"/>
              <a:t>agrupado</a:t>
            </a:r>
            <a:r>
              <a:rPr lang="en-US" sz="1100" dirty="0"/>
              <a:t>, </a:t>
            </a:r>
            <a:r>
              <a:rPr lang="en-US" sz="1100" dirty="0" err="1"/>
              <a:t>asociado</a:t>
            </a:r>
            <a:r>
              <a:rPr lang="en-US" sz="1100" dirty="0"/>
              <a:t> tanto a </a:t>
            </a:r>
            <a:r>
              <a:rPr lang="en-US" sz="1100" dirty="0" err="1"/>
              <a:t>determinadas</a:t>
            </a:r>
            <a:r>
              <a:rPr lang="en-US" sz="1100" dirty="0"/>
              <a:t> </a:t>
            </a:r>
            <a:r>
              <a:rPr lang="en-US" sz="1100" dirty="0" err="1"/>
              <a:t>unidades</a:t>
            </a:r>
            <a:r>
              <a:rPr lang="en-US" sz="1100" dirty="0"/>
              <a:t> </a:t>
            </a:r>
            <a:r>
              <a:rPr lang="en-US" sz="1100" dirty="0" err="1"/>
              <a:t>litológicas</a:t>
            </a:r>
            <a:r>
              <a:rPr lang="en-US" sz="1100" dirty="0"/>
              <a:t> </a:t>
            </a:r>
            <a:r>
              <a:rPr lang="en-US" sz="1100" dirty="0" err="1"/>
              <a:t>como</a:t>
            </a:r>
            <a:r>
              <a:rPr lang="en-US" sz="1100" dirty="0"/>
              <a:t> a la </a:t>
            </a:r>
            <a:r>
              <a:rPr lang="en-US" sz="1100" dirty="0" err="1"/>
              <a:t>proximidad</a:t>
            </a:r>
            <a:r>
              <a:rPr lang="en-US" sz="1100" dirty="0"/>
              <a:t> de </a:t>
            </a:r>
            <a:r>
              <a:rPr lang="en-US" sz="1100" dirty="0" err="1"/>
              <a:t>fallas</a:t>
            </a:r>
            <a:r>
              <a:rPr lang="en-US" sz="1100" dirty="0"/>
              <a:t> </a:t>
            </a:r>
            <a:r>
              <a:rPr lang="en-US" sz="1100" dirty="0" err="1"/>
              <a:t>geológicas</a:t>
            </a:r>
            <a:r>
              <a:rPr lang="en-US" sz="1100" dirty="0"/>
              <a:t>. Esto </a:t>
            </a:r>
            <a:r>
              <a:rPr lang="en-US" sz="1100" dirty="0" err="1"/>
              <a:t>sugiere</a:t>
            </a:r>
            <a:r>
              <a:rPr lang="en-US" sz="1100" dirty="0"/>
              <a:t> </a:t>
            </a:r>
            <a:r>
              <a:rPr lang="en-US" sz="1100" dirty="0" err="1"/>
              <a:t>que</a:t>
            </a:r>
            <a:r>
              <a:rPr lang="en-US" sz="1100" dirty="0"/>
              <a:t> la </a:t>
            </a:r>
            <a:r>
              <a:rPr lang="en-US" sz="1100" dirty="0" err="1"/>
              <a:t>distribución</a:t>
            </a:r>
            <a:r>
              <a:rPr lang="en-US" sz="1100" dirty="0"/>
              <a:t> del </a:t>
            </a:r>
            <a:r>
              <a:rPr lang="en-US" sz="1100" dirty="0" err="1"/>
              <a:t>cobre</a:t>
            </a:r>
            <a:r>
              <a:rPr lang="en-US" sz="1100" dirty="0"/>
              <a:t> en el </a:t>
            </a:r>
            <a:r>
              <a:rPr lang="en-US" sz="1100" dirty="0" err="1"/>
              <a:t>área</a:t>
            </a:r>
            <a:r>
              <a:rPr lang="en-US" sz="1100" dirty="0"/>
              <a:t> de </a:t>
            </a:r>
            <a:r>
              <a:rPr lang="en-US" sz="1100" dirty="0" err="1"/>
              <a:t>estudio</a:t>
            </a:r>
            <a:r>
              <a:rPr lang="en-US" sz="1100" dirty="0"/>
              <a:t> </a:t>
            </a:r>
            <a:r>
              <a:rPr lang="en-US" sz="1100" dirty="0" err="1"/>
              <a:t>está</a:t>
            </a:r>
            <a:r>
              <a:rPr lang="en-US" sz="1100" dirty="0"/>
              <a:t> </a:t>
            </a:r>
            <a:r>
              <a:rPr lang="en-US" sz="1100" dirty="0" err="1"/>
              <a:t>influenciada</a:t>
            </a:r>
            <a:r>
              <a:rPr lang="en-US" sz="1100" dirty="0"/>
              <a:t> </a:t>
            </a:r>
            <a:r>
              <a:rPr lang="en-US" sz="1100" dirty="0" err="1"/>
              <a:t>por</a:t>
            </a:r>
            <a:r>
              <a:rPr lang="en-US" sz="1100" dirty="0"/>
              <a:t> </a:t>
            </a:r>
            <a:r>
              <a:rPr lang="en-US" sz="1100" dirty="0" err="1"/>
              <a:t>controles</a:t>
            </a:r>
            <a:r>
              <a:rPr lang="en-US" sz="1100" dirty="0"/>
              <a:t> </a:t>
            </a:r>
            <a:r>
              <a:rPr lang="en-US" sz="1100" dirty="0" err="1"/>
              <a:t>geológicos</a:t>
            </a:r>
            <a:r>
              <a:rPr lang="en-US" sz="1100" dirty="0"/>
              <a:t> y </a:t>
            </a:r>
            <a:r>
              <a:rPr lang="en-US" sz="1100" dirty="0" err="1"/>
              <a:t>estructurales</a:t>
            </a:r>
            <a:r>
              <a:rPr lang="en-US" sz="1100" dirty="0"/>
              <a:t>, </a:t>
            </a:r>
            <a:r>
              <a:rPr lang="en-US" sz="1100" dirty="0" err="1"/>
              <a:t>más</a:t>
            </a:r>
            <a:r>
              <a:rPr lang="en-US" sz="1100" dirty="0"/>
              <a:t> </a:t>
            </a:r>
            <a:r>
              <a:rPr lang="en-US" sz="1100" dirty="0" err="1"/>
              <a:t>que</a:t>
            </a:r>
            <a:r>
              <a:rPr lang="en-US" sz="1100" dirty="0"/>
              <a:t> </a:t>
            </a:r>
            <a:r>
              <a:rPr lang="en-US" sz="1100" dirty="0" err="1"/>
              <a:t>por</a:t>
            </a:r>
            <a:r>
              <a:rPr lang="en-US" sz="1100" dirty="0"/>
              <a:t> </a:t>
            </a:r>
            <a:r>
              <a:rPr lang="en-US" sz="1100" dirty="0" err="1"/>
              <a:t>una</a:t>
            </a:r>
            <a:r>
              <a:rPr lang="en-US" sz="1100" dirty="0"/>
              <a:t> </a:t>
            </a:r>
            <a:r>
              <a:rPr lang="en-US" sz="1100" dirty="0" err="1"/>
              <a:t>distribución</a:t>
            </a:r>
            <a:r>
              <a:rPr lang="en-US" sz="1100" dirty="0"/>
              <a:t> </a:t>
            </a:r>
            <a:r>
              <a:rPr lang="en-US" sz="1100" dirty="0" err="1"/>
              <a:t>aleatoria</a:t>
            </a:r>
            <a:r>
              <a:rPr lang="en-US" sz="1100" dirty="0"/>
              <a:t>."</a:t>
            </a:r>
            <a:endParaRPr lang="es-CO"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21</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ANEXO B</a:t>
            </a:r>
            <a:endParaRPr lang="es-CO" sz="1100" noProof="0" dirty="0"/>
          </a:p>
        </p:txBody>
      </p:sp>
      <p:sp>
        <p:nvSpPr>
          <p:cNvPr id="5" name="Text 3"/>
          <p:cNvSpPr/>
          <p:nvPr/>
        </p:nvSpPr>
        <p:spPr>
          <a:xfrm>
            <a:off x="502920" y="566928"/>
            <a:ext cx="694944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Anomalías respecto a las fallas geológicas</a:t>
            </a:r>
            <a:endParaRPr lang="es-CO" sz="2600" noProof="0" dirty="0"/>
          </a:p>
        </p:txBody>
      </p:sp>
      <p:pic>
        <p:nvPicPr>
          <p:cNvPr id="6" name="Image 0" descr="img/Figura_11B_Anomalias_Fallas_Geologicas.png"/>
          <p:cNvPicPr>
            <a:picLocks noChangeAspect="1"/>
          </p:cNvPicPr>
          <p:nvPr/>
        </p:nvPicPr>
        <p:blipFill>
          <a:blip r:embed="rId3"/>
          <a:stretch>
            <a:fillRect/>
          </a:stretch>
        </p:blipFill>
        <p:spPr>
          <a:xfrm>
            <a:off x="3688671" y="1371600"/>
            <a:ext cx="4875618" cy="5029200"/>
          </a:xfrm>
          <a:prstGeom prst="rect">
            <a:avLst/>
          </a:prstGeom>
        </p:spPr>
      </p:pic>
      <p:sp>
        <p:nvSpPr>
          <p:cNvPr id="7" name="Text 4"/>
          <p:cNvSpPr/>
          <p:nvPr/>
        </p:nvSpPr>
        <p:spPr>
          <a:xfrm>
            <a:off x="640080" y="6400800"/>
            <a:ext cx="9144000" cy="274320"/>
          </a:xfrm>
          <a:prstGeom prst="rect">
            <a:avLst/>
          </a:prstGeom>
          <a:noFill/>
          <a:ln/>
        </p:spPr>
        <p:txBody>
          <a:bodyPr wrap="square" lIns="0" tIns="0" rIns="0" bIns="0" rtlCol="0" anchor="ctr"/>
          <a:lstStyle/>
          <a:p>
            <a:pPr marL="0" indent="0">
              <a:buNone/>
            </a:pPr>
            <a:r>
              <a:rPr lang="es-CO" sz="1000" i="1" noProof="0" dirty="0">
                <a:solidFill>
                  <a:srgbClr val="5B6472"/>
                </a:solidFill>
                <a:latin typeface="Calibri" pitchFamily="34" charset="0"/>
                <a:ea typeface="Calibri" pitchFamily="34" charset="-122"/>
                <a:cs typeface="Calibri" pitchFamily="34" charset="-120"/>
              </a:rPr>
              <a:t>Figura 11B. Distribución de las </a:t>
            </a:r>
            <a:r>
              <a:rPr lang="es-CO" sz="1000" i="1" noProof="0" dirty="0" err="1">
                <a:solidFill>
                  <a:srgbClr val="5B6472"/>
                </a:solidFill>
                <a:latin typeface="Calibri" pitchFamily="34" charset="0"/>
                <a:ea typeface="Calibri" pitchFamily="34" charset="-122"/>
                <a:cs typeface="Calibri" pitchFamily="34" charset="-120"/>
              </a:rPr>
              <a:t>nomalías</a:t>
            </a:r>
            <a:r>
              <a:rPr lang="es-CO" sz="1000" i="1" noProof="0" dirty="0">
                <a:solidFill>
                  <a:srgbClr val="5B6472"/>
                </a:solidFill>
                <a:latin typeface="Calibri" pitchFamily="34" charset="0"/>
                <a:ea typeface="Calibri" pitchFamily="34" charset="-122"/>
                <a:cs typeface="Calibri" pitchFamily="34" charset="-120"/>
              </a:rPr>
              <a:t> de cobre respecto a las fallas geológicas nombradas.</a:t>
            </a:r>
            <a:endParaRPr lang="es-CO" sz="1000"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473952"/>
            <a:ext cx="5943600" cy="274320"/>
          </a:xfrm>
          <a:prstGeom prst="rect">
            <a:avLst/>
          </a:prstGeom>
          <a:noFill/>
          <a:ln/>
        </p:spPr>
        <p:txBody>
          <a:bodyPr wrap="square" lIns="0" tIns="0" rIns="0" bIns="0" rtlCol="0" anchor="ctr"/>
          <a:lstStyle/>
          <a:p>
            <a:pPr marL="0" indent="0">
              <a:buNone/>
            </a:pPr>
            <a:r>
              <a:rPr lang="es-CO" sz="900" noProof="0" dirty="0">
                <a:solidFill>
                  <a:srgbClr val="5B6472"/>
                </a:solidFill>
                <a:latin typeface="Calibri" pitchFamily="34" charset="0"/>
                <a:ea typeface="Calibri" pitchFamily="34" charset="-122"/>
                <a:cs typeface="Calibri" pitchFamily="34" charset="-120"/>
              </a:rPr>
              <a:t>Análisis geoespacial del Cu · Suroeste antioqueño</a:t>
            </a:r>
            <a:endParaRPr lang="es-CO" sz="900" noProof="0" dirty="0"/>
          </a:p>
        </p:txBody>
      </p:sp>
      <p:sp>
        <p:nvSpPr>
          <p:cNvPr id="3" name="Text 1"/>
          <p:cNvSpPr/>
          <p:nvPr/>
        </p:nvSpPr>
        <p:spPr>
          <a:xfrm>
            <a:off x="11277295" y="6473952"/>
            <a:ext cx="457200" cy="274320"/>
          </a:xfrm>
          <a:prstGeom prst="rect">
            <a:avLst/>
          </a:prstGeom>
          <a:noFill/>
          <a:ln/>
        </p:spPr>
        <p:txBody>
          <a:bodyPr wrap="square" lIns="0" tIns="0" rIns="0" bIns="0" rtlCol="0" anchor="ctr"/>
          <a:lstStyle/>
          <a:p>
            <a:pPr marL="0" indent="0" algn="r">
              <a:buNone/>
            </a:pPr>
            <a:r>
              <a:rPr lang="es-CO" sz="900" noProof="0" dirty="0">
                <a:solidFill>
                  <a:srgbClr val="5B6472"/>
                </a:solidFill>
                <a:latin typeface="Calibri" pitchFamily="34" charset="0"/>
                <a:ea typeface="Calibri" pitchFamily="34" charset="-122"/>
                <a:cs typeface="Calibri" pitchFamily="34" charset="-120"/>
              </a:rPr>
              <a:t>19</a:t>
            </a:r>
            <a:endParaRPr lang="es-CO" sz="900" noProof="0" dirty="0"/>
          </a:p>
        </p:txBody>
      </p:sp>
      <p:sp>
        <p:nvSpPr>
          <p:cNvPr id="4" name="Text 2"/>
          <p:cNvSpPr/>
          <p:nvPr/>
        </p:nvSpPr>
        <p:spPr>
          <a:xfrm>
            <a:off x="502920" y="292608"/>
            <a:ext cx="8686800" cy="274320"/>
          </a:xfrm>
          <a:prstGeom prst="rect">
            <a:avLst/>
          </a:prstGeom>
          <a:noFill/>
          <a:ln/>
        </p:spPr>
        <p:txBody>
          <a:bodyPr wrap="square" lIns="0" tIns="0" rIns="0" bIns="0" rtlCol="0" anchor="ctr"/>
          <a:lstStyle/>
          <a:p>
            <a:pPr marL="0" indent="0">
              <a:buNone/>
            </a:pPr>
            <a:r>
              <a:rPr lang="es-CO" sz="1100" b="1" kern="0" spc="200" noProof="0" dirty="0">
                <a:solidFill>
                  <a:srgbClr val="A9531F"/>
                </a:solidFill>
                <a:latin typeface="Calibri" pitchFamily="34" charset="0"/>
                <a:ea typeface="Calibri" pitchFamily="34" charset="-122"/>
                <a:cs typeface="Calibri" pitchFamily="34" charset="-120"/>
              </a:rPr>
              <a:t>CIERRE</a:t>
            </a:r>
            <a:endParaRPr lang="es-CO" sz="1100" noProof="0" dirty="0"/>
          </a:p>
        </p:txBody>
      </p:sp>
      <p:sp>
        <p:nvSpPr>
          <p:cNvPr id="5" name="Text 3"/>
          <p:cNvSpPr/>
          <p:nvPr/>
        </p:nvSpPr>
        <p:spPr>
          <a:xfrm>
            <a:off x="502920" y="566928"/>
            <a:ext cx="11155680" cy="658368"/>
          </a:xfrm>
          <a:prstGeom prst="rect">
            <a:avLst/>
          </a:prstGeom>
          <a:noFill/>
          <a:ln/>
        </p:spPr>
        <p:txBody>
          <a:bodyPr wrap="square" lIns="0" tIns="0" rIns="0" bIns="0" rtlCol="0" anchor="ctr"/>
          <a:lstStyle/>
          <a:p>
            <a:pPr marL="0" indent="0">
              <a:buNone/>
            </a:pPr>
            <a:r>
              <a:rPr lang="es-CO" sz="2600" b="1" noProof="0" dirty="0">
                <a:solidFill>
                  <a:srgbClr val="1F2430"/>
                </a:solidFill>
                <a:latin typeface="Calibri" pitchFamily="34" charset="0"/>
                <a:ea typeface="Calibri" pitchFamily="34" charset="-122"/>
                <a:cs typeface="Calibri" pitchFamily="34" charset="-120"/>
              </a:rPr>
              <a:t>Conclusiones</a:t>
            </a:r>
            <a:endParaRPr lang="es-CO" sz="2600" noProof="0" dirty="0"/>
          </a:p>
        </p:txBody>
      </p:sp>
      <p:sp>
        <p:nvSpPr>
          <p:cNvPr id="6" name="Text 4"/>
          <p:cNvSpPr/>
          <p:nvPr/>
        </p:nvSpPr>
        <p:spPr>
          <a:xfrm>
            <a:off x="1574958" y="2090737"/>
            <a:ext cx="9011603" cy="2005013"/>
          </a:xfrm>
          <a:prstGeom prst="rect">
            <a:avLst/>
          </a:prstGeom>
          <a:noFill/>
          <a:ln/>
        </p:spPr>
        <p:txBody>
          <a:bodyPr wrap="square" lIns="0" tIns="0" rIns="0" bIns="0" rtlCol="0" anchor="t"/>
          <a:lstStyle/>
          <a:p>
            <a:pPr marL="152400" indent="-152400">
              <a:spcAft>
                <a:spcPts val="800"/>
              </a:spcAft>
              <a:buSzPct val="100000"/>
              <a:buChar char="•"/>
            </a:pPr>
            <a:r>
              <a:rPr lang="en-US" dirty="0"/>
              <a:t>El </a:t>
            </a:r>
            <a:r>
              <a:rPr lang="en-US" dirty="0" err="1"/>
              <a:t>muestreo</a:t>
            </a:r>
            <a:r>
              <a:rPr lang="en-US" dirty="0"/>
              <a:t> no </a:t>
            </a:r>
            <a:r>
              <a:rPr lang="en-US" dirty="0" err="1"/>
              <a:t>fue</a:t>
            </a:r>
            <a:r>
              <a:rPr lang="en-US" dirty="0"/>
              <a:t> </a:t>
            </a:r>
            <a:r>
              <a:rPr lang="en-US" dirty="0" err="1"/>
              <a:t>uniforme</a:t>
            </a:r>
            <a:r>
              <a:rPr lang="en-US" dirty="0"/>
              <a:t>, </a:t>
            </a:r>
            <a:r>
              <a:rPr lang="en-US" dirty="0" err="1"/>
              <a:t>sino</a:t>
            </a:r>
            <a:r>
              <a:rPr lang="en-US" dirty="0"/>
              <a:t> </a:t>
            </a:r>
            <a:r>
              <a:rPr lang="en-US" dirty="0" err="1"/>
              <a:t>que</a:t>
            </a:r>
            <a:r>
              <a:rPr lang="en-US" dirty="0"/>
              <a:t> se </a:t>
            </a:r>
            <a:r>
              <a:rPr lang="en-US" dirty="0" err="1"/>
              <a:t>concentró</a:t>
            </a:r>
            <a:r>
              <a:rPr lang="en-US" dirty="0"/>
              <a:t> en </a:t>
            </a:r>
            <a:r>
              <a:rPr lang="en-US" dirty="0" err="1"/>
              <a:t>algunos</a:t>
            </a:r>
            <a:r>
              <a:rPr lang="en-US" dirty="0"/>
              <a:t> </a:t>
            </a:r>
            <a:r>
              <a:rPr lang="en-US" dirty="0" err="1"/>
              <a:t>sectores</a:t>
            </a:r>
            <a:r>
              <a:rPr lang="en-US" dirty="0"/>
              <a:t> del </a:t>
            </a:r>
            <a:r>
              <a:rPr lang="en-US" dirty="0" err="1"/>
              <a:t>área</a:t>
            </a:r>
            <a:r>
              <a:rPr lang="en-US" dirty="0"/>
              <a:t> de </a:t>
            </a:r>
            <a:r>
              <a:rPr lang="en-US" dirty="0" err="1"/>
              <a:t>estudio</a:t>
            </a:r>
            <a:r>
              <a:rPr lang="en-US" dirty="0"/>
              <a:t>.</a:t>
            </a:r>
          </a:p>
          <a:p>
            <a:pPr marL="152400" indent="-152400">
              <a:spcAft>
                <a:spcPts val="800"/>
              </a:spcAft>
              <a:buSzPct val="100000"/>
              <a:buChar char="•"/>
            </a:pPr>
            <a:r>
              <a:rPr lang="en-US" dirty="0"/>
              <a:t> Se </a:t>
            </a:r>
            <a:r>
              <a:rPr lang="en-US" dirty="0" err="1"/>
              <a:t>identificaron</a:t>
            </a:r>
            <a:r>
              <a:rPr lang="en-US" dirty="0"/>
              <a:t> 283 </a:t>
            </a:r>
            <a:r>
              <a:rPr lang="en-US" dirty="0" err="1"/>
              <a:t>anomalías</a:t>
            </a:r>
            <a:r>
              <a:rPr lang="en-US" dirty="0"/>
              <a:t> de </a:t>
            </a:r>
            <a:r>
              <a:rPr lang="en-US" dirty="0" err="1"/>
              <a:t>cobre</a:t>
            </a:r>
            <a:r>
              <a:rPr lang="en-US" dirty="0"/>
              <a:t> </a:t>
            </a:r>
            <a:r>
              <a:rPr lang="en-US" dirty="0" err="1"/>
              <a:t>utilizando</a:t>
            </a:r>
            <a:r>
              <a:rPr lang="en-US" dirty="0"/>
              <a:t> un umbral de 150 ppm (P90). </a:t>
            </a:r>
          </a:p>
          <a:p>
            <a:pPr marL="152400" indent="-152400">
              <a:spcAft>
                <a:spcPts val="800"/>
              </a:spcAft>
              <a:buSzPct val="100000"/>
              <a:buChar char="•"/>
            </a:pPr>
            <a:r>
              <a:rPr lang="en-US" dirty="0"/>
              <a:t>Las </a:t>
            </a:r>
            <a:r>
              <a:rPr lang="en-US" dirty="0" err="1"/>
              <a:t>anomalías</a:t>
            </a:r>
            <a:r>
              <a:rPr lang="en-US" dirty="0"/>
              <a:t> </a:t>
            </a:r>
            <a:r>
              <a:rPr lang="en-US" dirty="0" err="1"/>
              <a:t>presentan</a:t>
            </a:r>
            <a:r>
              <a:rPr lang="en-US" dirty="0"/>
              <a:t> un </a:t>
            </a:r>
            <a:r>
              <a:rPr lang="en-US" dirty="0" err="1"/>
              <a:t>patrón</a:t>
            </a:r>
            <a:r>
              <a:rPr lang="en-US" dirty="0"/>
              <a:t> </a:t>
            </a:r>
            <a:r>
              <a:rPr lang="en-US" dirty="0" err="1"/>
              <a:t>espacial</a:t>
            </a:r>
            <a:r>
              <a:rPr lang="en-US" dirty="0"/>
              <a:t> </a:t>
            </a:r>
            <a:r>
              <a:rPr lang="en-US" dirty="0" err="1"/>
              <a:t>agrupado</a:t>
            </a:r>
            <a:r>
              <a:rPr lang="en-US" dirty="0"/>
              <a:t>, </a:t>
            </a:r>
            <a:r>
              <a:rPr lang="en-US" dirty="0" err="1"/>
              <a:t>confirmado</a:t>
            </a:r>
            <a:r>
              <a:rPr lang="en-US" dirty="0"/>
              <a:t> </a:t>
            </a:r>
            <a:r>
              <a:rPr lang="en-US" dirty="0" err="1"/>
              <a:t>por</a:t>
            </a:r>
            <a:r>
              <a:rPr lang="en-US" dirty="0"/>
              <a:t> </a:t>
            </a:r>
            <a:r>
              <a:rPr lang="en-US" dirty="0" err="1"/>
              <a:t>todas</a:t>
            </a:r>
            <a:r>
              <a:rPr lang="en-US" dirty="0"/>
              <a:t> las </a:t>
            </a:r>
            <a:r>
              <a:rPr lang="en-US" dirty="0" err="1"/>
              <a:t>técnicas</a:t>
            </a:r>
            <a:r>
              <a:rPr lang="en-US" dirty="0"/>
              <a:t> </a:t>
            </a:r>
            <a:r>
              <a:rPr lang="en-US" dirty="0" err="1"/>
              <a:t>aplicadas</a:t>
            </a:r>
            <a:r>
              <a:rPr lang="en-US" dirty="0"/>
              <a:t>.</a:t>
            </a:r>
          </a:p>
          <a:p>
            <a:pPr marL="152400" indent="-152400">
              <a:spcAft>
                <a:spcPts val="800"/>
              </a:spcAft>
              <a:buSzPct val="100000"/>
              <a:buChar char="•"/>
            </a:pPr>
            <a:r>
              <a:rPr lang="en-US" dirty="0"/>
              <a:t> Las </a:t>
            </a:r>
            <a:r>
              <a:rPr lang="en-US" dirty="0" err="1"/>
              <a:t>anomalías</a:t>
            </a:r>
            <a:r>
              <a:rPr lang="en-US" dirty="0"/>
              <a:t> se </a:t>
            </a:r>
            <a:r>
              <a:rPr lang="en-US" dirty="0" err="1"/>
              <a:t>concentran</a:t>
            </a:r>
            <a:r>
              <a:rPr lang="en-US" dirty="0"/>
              <a:t> </a:t>
            </a:r>
            <a:r>
              <a:rPr lang="en-US" dirty="0" err="1"/>
              <a:t>principalmente</a:t>
            </a:r>
            <a:r>
              <a:rPr lang="en-US" dirty="0"/>
              <a:t> en cuatro </a:t>
            </a:r>
            <a:r>
              <a:rPr lang="en-US" dirty="0" err="1"/>
              <a:t>unidades</a:t>
            </a:r>
            <a:r>
              <a:rPr lang="en-US" dirty="0"/>
              <a:t> </a:t>
            </a:r>
            <a:r>
              <a:rPr lang="en-US" dirty="0" err="1"/>
              <a:t>geológicas</a:t>
            </a:r>
            <a:r>
              <a:rPr lang="en-US" dirty="0"/>
              <a:t>, lo </a:t>
            </a:r>
            <a:r>
              <a:rPr lang="en-US" dirty="0" err="1"/>
              <a:t>que</a:t>
            </a:r>
            <a:r>
              <a:rPr lang="en-US" dirty="0"/>
              <a:t> </a:t>
            </a:r>
            <a:r>
              <a:rPr lang="en-US" dirty="0" err="1"/>
              <a:t>evidencia</a:t>
            </a:r>
            <a:r>
              <a:rPr lang="en-US" dirty="0"/>
              <a:t> un control </a:t>
            </a:r>
            <a:r>
              <a:rPr lang="en-US" dirty="0" err="1"/>
              <a:t>litológico</a:t>
            </a:r>
            <a:r>
              <a:rPr lang="en-US" dirty="0"/>
              <a:t>. </a:t>
            </a:r>
          </a:p>
          <a:p>
            <a:pPr marL="152400" indent="-152400">
              <a:spcAft>
                <a:spcPts val="800"/>
              </a:spcAft>
              <a:buSzPct val="100000"/>
              <a:buChar char="•"/>
            </a:pPr>
            <a:r>
              <a:rPr lang="en-US" dirty="0"/>
              <a:t>Las </a:t>
            </a:r>
            <a:r>
              <a:rPr lang="en-US" dirty="0" err="1"/>
              <a:t>anomalías</a:t>
            </a:r>
            <a:r>
              <a:rPr lang="en-US" dirty="0"/>
              <a:t> se </a:t>
            </a:r>
            <a:r>
              <a:rPr lang="en-US" dirty="0" err="1"/>
              <a:t>localizan</a:t>
            </a:r>
            <a:r>
              <a:rPr lang="en-US" dirty="0"/>
              <a:t> </a:t>
            </a:r>
            <a:r>
              <a:rPr lang="en-US" dirty="0" err="1"/>
              <a:t>más</a:t>
            </a:r>
            <a:r>
              <a:rPr lang="en-US" dirty="0"/>
              <a:t> </a:t>
            </a:r>
            <a:r>
              <a:rPr lang="en-US" dirty="0" err="1"/>
              <a:t>cerca</a:t>
            </a:r>
            <a:r>
              <a:rPr lang="en-US" dirty="0"/>
              <a:t> de las </a:t>
            </a:r>
            <a:r>
              <a:rPr lang="en-US" dirty="0" err="1"/>
              <a:t>fallas</a:t>
            </a:r>
            <a:r>
              <a:rPr lang="en-US" dirty="0"/>
              <a:t> </a:t>
            </a:r>
            <a:r>
              <a:rPr lang="en-US" dirty="0" err="1"/>
              <a:t>geológicas</a:t>
            </a:r>
            <a:r>
              <a:rPr lang="en-US" dirty="0"/>
              <a:t>, lo </a:t>
            </a:r>
            <a:r>
              <a:rPr lang="en-US" dirty="0" err="1"/>
              <a:t>que</a:t>
            </a:r>
            <a:r>
              <a:rPr lang="en-US" dirty="0"/>
              <a:t> </a:t>
            </a:r>
            <a:r>
              <a:rPr lang="en-US" dirty="0" err="1"/>
              <a:t>sugiere</a:t>
            </a:r>
            <a:r>
              <a:rPr lang="en-US" dirty="0"/>
              <a:t> un control </a:t>
            </a:r>
            <a:r>
              <a:rPr lang="en-US" dirty="0" err="1"/>
              <a:t>estructural</a:t>
            </a:r>
            <a:r>
              <a:rPr lang="en-US" dirty="0"/>
              <a:t>.</a:t>
            </a:r>
          </a:p>
          <a:p>
            <a:pPr>
              <a:spcAft>
                <a:spcPts val="800"/>
              </a:spcAft>
              <a:buSzPct val="100000"/>
            </a:pPr>
            <a:endParaRPr lang="es-CO"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2729</Words>
  <Application>Microsoft Office PowerPoint</Application>
  <PresentationFormat>Panorámica</PresentationFormat>
  <Paragraphs>348</Paragraphs>
  <Slides>24</Slides>
  <Notes>24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Aptos</vt: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Daniela Cardona Lopera</cp:lastModifiedBy>
  <cp:revision>37</cp:revision>
  <dcterms:created xsi:type="dcterms:W3CDTF">2026-07-17T11:23:41Z</dcterms:created>
  <dcterms:modified xsi:type="dcterms:W3CDTF">2026-07-17T14:16:05Z</dcterms:modified>
</cp:coreProperties>
</file>