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1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71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9" d="100"/>
          <a:sy n="99" d="100"/>
        </p:scale>
        <p:origin x="108" y="24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26313A"/>
                </a:solidFill>
                <a:latin typeface="Calibri"/>
              </a:defRPr>
            </a:pPr>
            <a:r>
              <a:rPr lang="es-ES" sz="1200" b="0" i="0" u="none" strike="noStrike">
                <a:solidFill>
                  <a:srgbClr val="26313A"/>
                </a:solidFill>
                <a:latin typeface="Calibri"/>
              </a:rPr>
              <a:t>Unidades con mayor número de muestras (%)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% de muestras</c:v>
                </c:pt>
              </c:strCache>
            </c:strRef>
          </c:tx>
          <c:spPr>
            <a:solidFill>
              <a:srgbClr val="B87333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26313A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Ksvx – C. Volc. Sta Cecilia-La Equis</c:v>
                </c:pt>
                <c:pt idx="1">
                  <c:v>Qal – Aluviones recientes</c:v>
                </c:pt>
                <c:pt idx="2">
                  <c:v>Ngc – Formación Combia</c:v>
                </c:pt>
                <c:pt idx="3">
                  <c:v>Pggm – Batolito de Mandé</c:v>
                </c:pt>
                <c:pt idx="4">
                  <c:v>Ksu – Miembro Urrao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8.9</c:v>
                </c:pt>
                <c:pt idx="1">
                  <c:v>9.3000000000000007</c:v>
                </c:pt>
                <c:pt idx="2">
                  <c:v>14.1</c:v>
                </c:pt>
                <c:pt idx="3">
                  <c:v>14.9</c:v>
                </c:pt>
                <c:pt idx="4">
                  <c:v>37.5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EFC-46BF-B746-2CDC2365592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26313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45"/>
        </c:scaling>
        <c:delete val="0"/>
        <c:axPos val="b"/>
        <c:majorGridlines>
          <c:spPr>
            <a:ln w="9525" cap="flat">
              <a:solidFill>
                <a:srgbClr val="E3E7E9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F6B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693752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85032-5041-8814-D53B-D55C593DC1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B9B50F1-4D25-1461-664F-09FDD9F0B16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59237C6-D3F7-3C3C-989A-C90DF8AEFC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D38AD4-9E46-60E7-FF0A-7F37CCA21B5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660589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3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32E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1143000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B87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PRESENTACIÓN DE AVANCES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85800" y="1554480"/>
            <a:ext cx="57607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Análisis geoestadístico de la concentración de cobre (Cu)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27526" y="2966594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9D2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Suroeste antioqueño · Base geoquímica de cobre y cartografía del Servicio Geológico Colombiano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60832" y="3916076"/>
            <a:ext cx="2011680" cy="0"/>
          </a:xfrm>
          <a:prstGeom prst="line">
            <a:avLst/>
          </a:prstGeom>
          <a:noFill/>
          <a:ln w="25400">
            <a:solidFill>
              <a:srgbClr val="B87333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09600" y="3814451"/>
            <a:ext cx="5486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300" dirty="0">
                <a:solidFill>
                  <a:srgbClr val="AEBA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2,103 muestras geoquímicas</a:t>
            </a:r>
            <a:endParaRPr lang="en-US" sz="130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300" dirty="0">
                <a:solidFill>
                  <a:srgbClr val="AEBA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referencia EPSG:21897</a:t>
            </a:r>
            <a:endParaRPr lang="en-US" sz="130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300" dirty="0">
                <a:solidFill>
                  <a:srgbClr val="AEBA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Julio de 2026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204387" y="585216"/>
            <a:ext cx="5509077" cy="5687568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0"/>
            </a:solidFill>
            <a:prstDash val="solid"/>
          </a:ln>
          <a:effectLst>
            <a:outerShdw blurRad="76200" dist="25400" dir="5400000" algn="bl" rotWithShape="0">
              <a:srgbClr val="9AA5AB">
                <a:alpha val="35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pic>
        <p:nvPicPr>
          <p:cNvPr id="8" name="Image 0" descr="/home/claude/pres/img/Figura_04_Localizacion_Area_Estudi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9251" y="640080"/>
            <a:ext cx="5399349" cy="5577840"/>
          </a:xfrm>
          <a:prstGeom prst="rect">
            <a:avLst/>
          </a:prstGeom>
        </p:spPr>
      </p:pic>
      <p:sp>
        <p:nvSpPr>
          <p:cNvPr id="10" name="Text 2">
            <a:extLst>
              <a:ext uri="{FF2B5EF4-FFF2-40B4-BE49-F238E27FC236}">
                <a16:creationId xmlns:a16="http://schemas.microsoft.com/office/drawing/2014/main" id="{684CBB13-9388-6DE8-8DE0-060708095478}"/>
              </a:ext>
            </a:extLst>
          </p:cNvPr>
          <p:cNvSpPr/>
          <p:nvPr/>
        </p:nvSpPr>
        <p:spPr>
          <a:xfrm>
            <a:off x="1566672" y="5119508"/>
            <a:ext cx="334933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O" sz="1500" b="1" noProof="0" dirty="0">
                <a:solidFill>
                  <a:srgbClr val="C9D2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Presentado por Daniela Cardona Lopera</a:t>
            </a:r>
            <a:endParaRPr lang="es-CO" sz="1500" b="1" noProof="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B87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METODOLOGÍA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63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Ruta metodológica y estado de ejecución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6510528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AA5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geoestadístico de la concentración de Cu — Presentación de avances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1430000" y="651052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5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02920" y="1481328"/>
            <a:ext cx="11201400" cy="804672"/>
          </a:xfrm>
          <a:prstGeom prst="roundRect">
            <a:avLst>
              <a:gd name="adj" fmla="val 6818"/>
            </a:avLst>
          </a:prstGeom>
          <a:solidFill>
            <a:srgbClr val="F1F3F4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713232" y="1655064"/>
            <a:ext cx="457200" cy="457200"/>
          </a:xfrm>
          <a:prstGeom prst="ellipse">
            <a:avLst/>
          </a:prstGeom>
          <a:solidFill>
            <a:srgbClr val="B87333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713232" y="16367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371600" y="1572768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63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Preparación de la información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371600" y="1883664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F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Organización y carga de datos · verificación de capas y geometrías · conversión y revisión de la variable Cu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9921240" y="1728216"/>
            <a:ext cx="1600200" cy="292608"/>
          </a:xfrm>
          <a:prstGeom prst="roundRect">
            <a:avLst>
              <a:gd name="adj" fmla="val 50000"/>
            </a:avLst>
          </a:prstGeom>
          <a:solidFill>
            <a:srgbClr val="3E7C4F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9921240" y="171450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COMPLETADO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02920" y="2414016"/>
            <a:ext cx="11201400" cy="804672"/>
          </a:xfrm>
          <a:prstGeom prst="roundRect">
            <a:avLst>
              <a:gd name="adj" fmla="val 6818"/>
            </a:avLst>
          </a:prstGeom>
          <a:solidFill>
            <a:srgbClr val="F1F3F4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713232" y="2587752"/>
            <a:ext cx="457200" cy="457200"/>
          </a:xfrm>
          <a:prstGeom prst="ellipse">
            <a:avLst/>
          </a:prstGeom>
          <a:solidFill>
            <a:srgbClr val="B87333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713232" y="25694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1371600" y="2505456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63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exploratorio de datos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371600" y="2816352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F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Estadística descriptiva y complementaria · histograma · gráfico Q-Q · prueba de Anderson-Darling · diagrama de </a:t>
            </a:r>
            <a:r>
              <a:rPr lang="en-US" sz="1050" dirty="0" err="1">
                <a:solidFill>
                  <a:srgbClr val="5F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caja</a:t>
            </a:r>
            <a:r>
              <a:rPr lang="en-US" sz="1050" dirty="0">
                <a:solidFill>
                  <a:srgbClr val="5F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(Boxplot)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9921240" y="2660904"/>
            <a:ext cx="1600200" cy="292608"/>
          </a:xfrm>
          <a:prstGeom prst="roundRect">
            <a:avLst>
              <a:gd name="adj" fmla="val 50000"/>
            </a:avLst>
          </a:prstGeom>
          <a:solidFill>
            <a:srgbClr val="3E7C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9921240" y="2647188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COMPLETADO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02920" y="3346704"/>
            <a:ext cx="11201400" cy="804672"/>
          </a:xfrm>
          <a:prstGeom prst="roundRect">
            <a:avLst>
              <a:gd name="adj" fmla="val 6818"/>
            </a:avLst>
          </a:prstGeom>
          <a:solidFill>
            <a:srgbClr val="F1F3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713232" y="3520440"/>
            <a:ext cx="457200" cy="457200"/>
          </a:xfrm>
          <a:prstGeom prst="ellipse">
            <a:avLst/>
          </a:prstGeom>
          <a:solidFill>
            <a:srgbClr val="B873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713232" y="35021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1371600" y="3438144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63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Exploración espacial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371600" y="3749040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F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Localización del área · distribución y cobertura de las muestras · unidades geológicas · fallas geológicas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9921240" y="3593592"/>
            <a:ext cx="1600200" cy="292608"/>
          </a:xfrm>
          <a:prstGeom prst="roundRect">
            <a:avLst>
              <a:gd name="adj" fmla="val 50000"/>
            </a:avLst>
          </a:prstGeom>
          <a:solidFill>
            <a:srgbClr val="3E7C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9921240" y="3579876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COMPLETADO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02920" y="4279392"/>
            <a:ext cx="11201400" cy="804672"/>
          </a:xfrm>
          <a:prstGeom prst="roundRect">
            <a:avLst>
              <a:gd name="adj" fmla="val 6818"/>
            </a:avLst>
          </a:prstGeom>
          <a:solidFill>
            <a:srgbClr val="FBF3EA"/>
          </a:solidFill>
          <a:ln w="12700">
            <a:solidFill>
              <a:srgbClr val="B87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713232" y="4453128"/>
            <a:ext cx="457200" cy="457200"/>
          </a:xfrm>
          <a:prstGeom prst="ellipse">
            <a:avLst/>
          </a:prstGeom>
          <a:solidFill>
            <a:srgbClr val="B873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713232" y="4434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700" dirty="0"/>
          </a:p>
        </p:txBody>
      </p:sp>
      <p:sp>
        <p:nvSpPr>
          <p:cNvPr id="30" name="Text 28"/>
          <p:cNvSpPr/>
          <p:nvPr/>
        </p:nvSpPr>
        <p:spPr>
          <a:xfrm>
            <a:off x="1371600" y="4370832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63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geoestadístico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1371600" y="4681728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O" sz="1050" noProof="0" dirty="0">
                <a:solidFill>
                  <a:srgbClr val="5F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de datos limitados al área de estudio · anisotropía · variograma experimental · ajuste del modelo </a:t>
            </a:r>
            <a:r>
              <a:rPr lang="es-CO" sz="1050" b="1" noProof="0" dirty="0">
                <a:solidFill>
                  <a:schemeClr val="accent6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r>
              <a:rPr lang="es-CO" sz="1050" noProof="0" dirty="0">
                <a:solidFill>
                  <a:srgbClr val="5F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validación cruzada en curso; </a:t>
            </a:r>
            <a:r>
              <a:rPr lang="es-CO" sz="1050" noProof="0" dirty="0" err="1">
                <a:solidFill>
                  <a:srgbClr val="5F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kriging</a:t>
            </a:r>
            <a:r>
              <a:rPr lang="es-CO" sz="1050" noProof="0" dirty="0">
                <a:solidFill>
                  <a:srgbClr val="5F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 mapa de incertidumbre pendientes</a:t>
            </a:r>
            <a:endParaRPr lang="es-CO" sz="1050" noProof="0" dirty="0"/>
          </a:p>
        </p:txBody>
      </p:sp>
      <p:sp>
        <p:nvSpPr>
          <p:cNvPr id="32" name="Shape 30"/>
          <p:cNvSpPr/>
          <p:nvPr/>
        </p:nvSpPr>
        <p:spPr>
          <a:xfrm>
            <a:off x="9921240" y="4526280"/>
            <a:ext cx="1600200" cy="292608"/>
          </a:xfrm>
          <a:prstGeom prst="roundRect">
            <a:avLst>
              <a:gd name="adj" fmla="val 50000"/>
            </a:avLst>
          </a:prstGeom>
          <a:solidFill>
            <a:srgbClr val="B873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9921240" y="4512564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CURSO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02920" y="5212080"/>
            <a:ext cx="11201400" cy="804672"/>
          </a:xfrm>
          <a:prstGeom prst="roundRect">
            <a:avLst>
              <a:gd name="adj" fmla="val 6818"/>
            </a:avLst>
          </a:prstGeom>
          <a:solidFill>
            <a:srgbClr val="F1F3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713232" y="5385816"/>
            <a:ext cx="457200" cy="457200"/>
          </a:xfrm>
          <a:prstGeom prst="ellipse">
            <a:avLst/>
          </a:prstGeom>
          <a:solidFill>
            <a:srgbClr val="9AA5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713232" y="53675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700" dirty="0"/>
          </a:p>
        </p:txBody>
      </p:sp>
      <p:sp>
        <p:nvSpPr>
          <p:cNvPr id="37" name="Text 35"/>
          <p:cNvSpPr/>
          <p:nvPr/>
        </p:nvSpPr>
        <p:spPr>
          <a:xfrm>
            <a:off x="1371600" y="5303520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63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Conclusiones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1371600" y="5614416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F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Síntesis de resultados y recomendaciones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9921240" y="5458968"/>
            <a:ext cx="160020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9AA5A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9921240" y="5445252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5F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PENDIENTE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B87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PREPARACIÓN DE LA INFORMACIÓN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63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Consolidación y verificación de la base de datos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6510528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AA5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geoestadístico de la concentración de Cu — Presentación de avances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1430000" y="651052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5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02920" y="1554480"/>
            <a:ext cx="5440680" cy="1691640"/>
          </a:xfrm>
          <a:prstGeom prst="roundRect">
            <a:avLst>
              <a:gd name="adj" fmla="val 3784"/>
            </a:avLst>
          </a:prstGeom>
          <a:solidFill>
            <a:srgbClr val="F1F3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04088" y="1700784"/>
            <a:ext cx="50383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C5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1.1–1.2  Organización y carga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04088" y="2057400"/>
            <a:ext cx="503834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263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Integración de la base geoquímica de Cu con la cartografía municipal, geológica y estructural del Servicio Geológico Colombiano en un entorno único de trabajo.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263640" y="1554480"/>
            <a:ext cx="5440680" cy="1691640"/>
          </a:xfrm>
          <a:prstGeom prst="roundRect">
            <a:avLst>
              <a:gd name="adj" fmla="val 3784"/>
            </a:avLst>
          </a:prstGeom>
          <a:solidFill>
            <a:srgbClr val="F1F3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464808" y="1700784"/>
            <a:ext cx="50383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C5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1.3  Verificación de las capas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64808" y="2057400"/>
            <a:ext cx="503834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263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Revisión de la consistencia de cada capa cartográfica y unificación del sistema de referencia en EPSG:21897 (origen Colombia Oeste).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02920" y="3429000"/>
            <a:ext cx="5440680" cy="1691640"/>
          </a:xfrm>
          <a:prstGeom prst="roundRect">
            <a:avLst>
              <a:gd name="adj" fmla="val 3784"/>
            </a:avLst>
          </a:prstGeom>
          <a:solidFill>
            <a:srgbClr val="F1F3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04088" y="3575304"/>
            <a:ext cx="50383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C5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1.4  Conversión y revisión de Cu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04088" y="3931920"/>
            <a:ext cx="503834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263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Estandarización de la variable de cobre como campo numérico en ppm, con revisión de registros no válidos y del rango de valores (5 – 1,000 ppm).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263640" y="3429000"/>
            <a:ext cx="5440680" cy="1691640"/>
          </a:xfrm>
          <a:prstGeom prst="roundRect">
            <a:avLst>
              <a:gd name="adj" fmla="val 3784"/>
            </a:avLst>
          </a:prstGeom>
          <a:solidFill>
            <a:srgbClr val="F1F3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464808" y="3575304"/>
            <a:ext cx="50383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C5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  Verificación de geometrías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464808" y="3931920"/>
            <a:ext cx="503834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263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Validación topológica de puntos y polígonos para asegurar la correcta superposición espacial en los análisis posteriores.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02920" y="5440680"/>
            <a:ext cx="3566160" cy="868680"/>
          </a:xfrm>
          <a:prstGeom prst="roundRect">
            <a:avLst>
              <a:gd name="adj" fmla="val 6316"/>
            </a:avLst>
          </a:prstGeom>
          <a:solidFill>
            <a:srgbClr val="F1F3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12648" y="5513832"/>
            <a:ext cx="3346704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8C53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2,103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12648" y="5918454"/>
            <a:ext cx="33467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5F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muestras geoquímicas cargadas y verificadas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315968" y="5440680"/>
            <a:ext cx="3566160" cy="868680"/>
          </a:xfrm>
          <a:prstGeom prst="roundRect">
            <a:avLst>
              <a:gd name="adj" fmla="val 6316"/>
            </a:avLst>
          </a:prstGeom>
          <a:solidFill>
            <a:srgbClr val="F1F3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425696" y="5513832"/>
            <a:ext cx="3346704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8C53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EPSG:21897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4425696" y="5918454"/>
            <a:ext cx="33467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5F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referencia unificado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8138160" y="5440680"/>
            <a:ext cx="3566160" cy="868680"/>
          </a:xfrm>
          <a:prstGeom prst="roundRect">
            <a:avLst>
              <a:gd name="adj" fmla="val 6316"/>
            </a:avLst>
          </a:prstGeom>
          <a:solidFill>
            <a:srgbClr val="F1F3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8247888" y="5513832"/>
            <a:ext cx="3346704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8C53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capas SGC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8247888" y="5918454"/>
            <a:ext cx="33467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5F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municipal · geológica · estructural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B87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ANÁLISIS EXPLORATORIO DE DATOS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63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Estadística descriptiva de la concentración de Cu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6510528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AA5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geoestadístico de la concentración de Cu — Presentación de avances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1430000" y="651052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5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02920" y="1536192"/>
            <a:ext cx="3429000" cy="841248"/>
          </a:xfrm>
          <a:prstGeom prst="roundRect">
            <a:avLst>
              <a:gd name="adj" fmla="val 6522"/>
            </a:avLst>
          </a:prstGeom>
          <a:solidFill>
            <a:srgbClr val="F1F3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12648" y="1609344"/>
            <a:ext cx="3209544" cy="4374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8C53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2,103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12648" y="1998878"/>
            <a:ext cx="3209544" cy="3364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5F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muestras (n)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02920" y="2505456"/>
            <a:ext cx="3429000" cy="841248"/>
          </a:xfrm>
          <a:prstGeom prst="roundRect">
            <a:avLst>
              <a:gd name="adj" fmla="val 6522"/>
            </a:avLst>
          </a:prstGeom>
          <a:solidFill>
            <a:srgbClr val="F1F3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12648" y="2578608"/>
            <a:ext cx="3209544" cy="4374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8C53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72.62 ppm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612648" y="2968142"/>
            <a:ext cx="3209544" cy="3364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5F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  ·  mediana 70.0 ppm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02920" y="3474720"/>
            <a:ext cx="3429000" cy="841248"/>
          </a:xfrm>
          <a:prstGeom prst="roundRect">
            <a:avLst>
              <a:gd name="adj" fmla="val 6522"/>
            </a:avLst>
          </a:prstGeom>
          <a:solidFill>
            <a:srgbClr val="F1F3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12648" y="3547872"/>
            <a:ext cx="3209544" cy="4374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8C53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56.61 ppm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12648" y="3937406"/>
            <a:ext cx="3209544" cy="3364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5F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desviación estándar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02920" y="4443984"/>
            <a:ext cx="3429000" cy="841248"/>
          </a:xfrm>
          <a:prstGeom prst="roundRect">
            <a:avLst>
              <a:gd name="adj" fmla="val 6522"/>
            </a:avLst>
          </a:prstGeom>
          <a:solidFill>
            <a:srgbClr val="F1F3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12648" y="4517136"/>
            <a:ext cx="3209544" cy="4374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8C53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77.95 %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12648" y="4906670"/>
            <a:ext cx="3209544" cy="3364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5F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coeficiente de variación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02920" y="5413248"/>
            <a:ext cx="3429000" cy="841248"/>
          </a:xfrm>
          <a:prstGeom prst="roundRect">
            <a:avLst>
              <a:gd name="adj" fmla="val 6522"/>
            </a:avLst>
          </a:prstGeom>
          <a:solidFill>
            <a:srgbClr val="F1F3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12648" y="5486400"/>
            <a:ext cx="3209544" cy="4374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8C53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4.19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12648" y="5875934"/>
            <a:ext cx="3209544" cy="3364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5F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asimetría  ·  curtosis 49.23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105656" y="1517904"/>
            <a:ext cx="8039953" cy="4818888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0"/>
            </a:solidFill>
            <a:prstDash val="solid"/>
          </a:ln>
          <a:effectLst>
            <a:outerShdw blurRad="76200" dist="25400" dir="5400000" algn="bl" rotWithShape="0">
              <a:srgbClr val="9AA5AB">
                <a:alpha val="35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23" name="Text 20"/>
          <p:cNvSpPr/>
          <p:nvPr/>
        </p:nvSpPr>
        <p:spPr>
          <a:xfrm>
            <a:off x="487680" y="6292591"/>
            <a:ext cx="11201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F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Distribución fuertemente asimétrica a la derecha: la mayor parte de las muestras se concentra por debajo de 100 ppm, con valores extremos que alcanzan 1,000 ppm.</a:t>
            </a:r>
            <a:endParaRPr lang="en-US" sz="1100" dirty="0"/>
          </a:p>
        </p:txBody>
      </p:sp>
      <p:grpSp>
        <p:nvGrpSpPr>
          <p:cNvPr id="35" name="Grupo 34">
            <a:extLst>
              <a:ext uri="{FF2B5EF4-FFF2-40B4-BE49-F238E27FC236}">
                <a16:creationId xmlns:a16="http://schemas.microsoft.com/office/drawing/2014/main" id="{E14BFB17-0749-46B8-2721-8D6097161A7D}"/>
              </a:ext>
            </a:extLst>
          </p:cNvPr>
          <p:cNvGrpSpPr/>
          <p:nvPr/>
        </p:nvGrpSpPr>
        <p:grpSpPr>
          <a:xfrm>
            <a:off x="4692073" y="1702857"/>
            <a:ext cx="6314398" cy="4220992"/>
            <a:chOff x="4354717" y="1648668"/>
            <a:chExt cx="5969477" cy="4185204"/>
          </a:xfrm>
        </p:grpSpPr>
        <p:pic>
          <p:nvPicPr>
            <p:cNvPr id="36" name="Imagen 35">
              <a:extLst>
                <a:ext uri="{FF2B5EF4-FFF2-40B4-BE49-F238E27FC236}">
                  <a16:creationId xmlns:a16="http://schemas.microsoft.com/office/drawing/2014/main" id="{F6E8C3D1-6B44-71BA-A517-700804F1763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354717" y="1648668"/>
              <a:ext cx="5969477" cy="4185204"/>
            </a:xfrm>
            <a:prstGeom prst="rect">
              <a:avLst/>
            </a:prstGeom>
          </p:spPr>
        </p:pic>
        <p:pic>
          <p:nvPicPr>
            <p:cNvPr id="37" name="Imagen 36">
              <a:extLst>
                <a:ext uri="{FF2B5EF4-FFF2-40B4-BE49-F238E27FC236}">
                  <a16:creationId xmlns:a16="http://schemas.microsoft.com/office/drawing/2014/main" id="{1ADE0A72-BB26-BB00-EDA0-487DAE05210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669223" y="2022620"/>
              <a:ext cx="1434444" cy="965671"/>
            </a:xfrm>
            <a:prstGeom prst="rect">
              <a:avLst/>
            </a:prstGeom>
          </p:spPr>
        </p:pic>
      </p:grpSp>
      <p:sp>
        <p:nvSpPr>
          <p:cNvPr id="39" name="Text 20">
            <a:extLst>
              <a:ext uri="{FF2B5EF4-FFF2-40B4-BE49-F238E27FC236}">
                <a16:creationId xmlns:a16="http://schemas.microsoft.com/office/drawing/2014/main" id="{82A44387-706F-B625-850B-DE078908A31B}"/>
              </a:ext>
            </a:extLst>
          </p:cNvPr>
          <p:cNvSpPr/>
          <p:nvPr/>
        </p:nvSpPr>
        <p:spPr>
          <a:xfrm>
            <a:off x="5652596" y="5901749"/>
            <a:ext cx="4946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CO" sz="1100" b="1" noProof="0"/>
              <a:t>Histograma 1:</a:t>
            </a:r>
            <a:r>
              <a:rPr lang="es-CO" sz="1100" noProof="0"/>
              <a:t> muestra </a:t>
            </a:r>
            <a:r>
              <a:rPr lang="es-CO" sz="1100" b="1" noProof="0"/>
              <a:t>cuántas muestras</a:t>
            </a:r>
            <a:r>
              <a:rPr lang="es-CO" sz="1100" noProof="0"/>
              <a:t> hay en cada intervalo de concentración.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6A2A0AA-E10A-1C9F-AEF5-F04FA557CB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C3D4294D-06E8-6933-F2AB-493BEC9907F0}"/>
              </a:ext>
            </a:extLst>
          </p:cNvPr>
          <p:cNvSpPr/>
          <p:nvPr/>
        </p:nvSpPr>
        <p:spPr>
          <a:xfrm>
            <a:off x="502920" y="292608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B87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ANÁLISIS EXPLORATORIO DE DATOS</a:t>
            </a:r>
            <a:endParaRPr lang="en-US" sz="11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750D3E19-F306-527E-DE77-14B3FC44D6E5}"/>
              </a:ext>
            </a:extLst>
          </p:cNvPr>
          <p:cNvSpPr/>
          <p:nvPr/>
        </p:nvSpPr>
        <p:spPr>
          <a:xfrm>
            <a:off x="502920" y="530352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63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Estadística descriptiva de la concentración de Cu</a:t>
            </a:r>
            <a:endParaRPr lang="en-US" sz="28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F993026B-D9AE-7156-BF49-B724F77459FE}"/>
              </a:ext>
            </a:extLst>
          </p:cNvPr>
          <p:cNvSpPr/>
          <p:nvPr/>
        </p:nvSpPr>
        <p:spPr>
          <a:xfrm>
            <a:off x="502920" y="6510528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AA5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geoestadístico de la concentración de Cu — Presentación de avances</a:t>
            </a:r>
            <a:endParaRPr lang="en-US" sz="8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6465E226-A268-918D-9E4A-78B2B1879936}"/>
              </a:ext>
            </a:extLst>
          </p:cNvPr>
          <p:cNvSpPr/>
          <p:nvPr/>
        </p:nvSpPr>
        <p:spPr>
          <a:xfrm>
            <a:off x="11430000" y="651052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5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F62D37F7-94EE-E256-F1BF-C221F6CE0B58}"/>
              </a:ext>
            </a:extLst>
          </p:cNvPr>
          <p:cNvSpPr/>
          <p:nvPr/>
        </p:nvSpPr>
        <p:spPr>
          <a:xfrm>
            <a:off x="502920" y="1536192"/>
            <a:ext cx="3429000" cy="841248"/>
          </a:xfrm>
          <a:prstGeom prst="roundRect">
            <a:avLst>
              <a:gd name="adj" fmla="val 6522"/>
            </a:avLst>
          </a:prstGeom>
          <a:solidFill>
            <a:srgbClr val="F1F3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134B6332-66A6-0662-30AE-F357D4D2F010}"/>
              </a:ext>
            </a:extLst>
          </p:cNvPr>
          <p:cNvSpPr/>
          <p:nvPr/>
        </p:nvSpPr>
        <p:spPr>
          <a:xfrm>
            <a:off x="612648" y="1609344"/>
            <a:ext cx="3209544" cy="4374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8C53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2,103</a:t>
            </a:r>
            <a:endParaRPr lang="en-US" sz="22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B0808D33-FC96-D847-D392-1BCDFC336B78}"/>
              </a:ext>
            </a:extLst>
          </p:cNvPr>
          <p:cNvSpPr/>
          <p:nvPr/>
        </p:nvSpPr>
        <p:spPr>
          <a:xfrm>
            <a:off x="612648" y="1998878"/>
            <a:ext cx="3209544" cy="3364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5F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muestras (n)</a:t>
            </a:r>
            <a:endParaRPr lang="en-US" sz="1050" dirty="0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3919B7B3-1F08-7430-D68B-A29E4E61CE74}"/>
              </a:ext>
            </a:extLst>
          </p:cNvPr>
          <p:cNvSpPr/>
          <p:nvPr/>
        </p:nvSpPr>
        <p:spPr>
          <a:xfrm>
            <a:off x="502920" y="2505456"/>
            <a:ext cx="3429000" cy="841248"/>
          </a:xfrm>
          <a:prstGeom prst="roundRect">
            <a:avLst>
              <a:gd name="adj" fmla="val 6522"/>
            </a:avLst>
          </a:prstGeom>
          <a:solidFill>
            <a:srgbClr val="F1F3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5570FA0C-18B7-DB53-5642-4DA29D2DE6EF}"/>
              </a:ext>
            </a:extLst>
          </p:cNvPr>
          <p:cNvSpPr/>
          <p:nvPr/>
        </p:nvSpPr>
        <p:spPr>
          <a:xfrm>
            <a:off x="612648" y="2578608"/>
            <a:ext cx="3209544" cy="4374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8C53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72.62 ppm</a:t>
            </a:r>
            <a:endParaRPr lang="en-US" sz="220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28E7894F-ABCE-AC53-E52E-19A6F824F77F}"/>
              </a:ext>
            </a:extLst>
          </p:cNvPr>
          <p:cNvSpPr/>
          <p:nvPr/>
        </p:nvSpPr>
        <p:spPr>
          <a:xfrm>
            <a:off x="612648" y="2968142"/>
            <a:ext cx="3209544" cy="3364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5F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  ·  mediana 70.0 ppm</a:t>
            </a:r>
            <a:endParaRPr lang="en-US" sz="1050" dirty="0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E10EA099-BBFF-873A-23EE-DBD58151E7DD}"/>
              </a:ext>
            </a:extLst>
          </p:cNvPr>
          <p:cNvSpPr/>
          <p:nvPr/>
        </p:nvSpPr>
        <p:spPr>
          <a:xfrm>
            <a:off x="502920" y="3474720"/>
            <a:ext cx="3429000" cy="841248"/>
          </a:xfrm>
          <a:prstGeom prst="roundRect">
            <a:avLst>
              <a:gd name="adj" fmla="val 6522"/>
            </a:avLst>
          </a:prstGeom>
          <a:solidFill>
            <a:srgbClr val="F1F3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875C83AA-7B53-C45C-34B6-FB2DC51CECA6}"/>
              </a:ext>
            </a:extLst>
          </p:cNvPr>
          <p:cNvSpPr/>
          <p:nvPr/>
        </p:nvSpPr>
        <p:spPr>
          <a:xfrm>
            <a:off x="612648" y="3547872"/>
            <a:ext cx="3209544" cy="4374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8C53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56.61 ppm</a:t>
            </a:r>
            <a:endParaRPr lang="en-US" sz="2200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19F69C41-F223-DBE3-5D2E-9C125C1804FE}"/>
              </a:ext>
            </a:extLst>
          </p:cNvPr>
          <p:cNvSpPr/>
          <p:nvPr/>
        </p:nvSpPr>
        <p:spPr>
          <a:xfrm>
            <a:off x="612648" y="3937406"/>
            <a:ext cx="3209544" cy="3364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5F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desviación estándar</a:t>
            </a:r>
            <a:endParaRPr lang="en-US" sz="1050" dirty="0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8705EFE5-12B8-C7D1-B31F-ABF7C84BD586}"/>
              </a:ext>
            </a:extLst>
          </p:cNvPr>
          <p:cNvSpPr/>
          <p:nvPr/>
        </p:nvSpPr>
        <p:spPr>
          <a:xfrm>
            <a:off x="502920" y="4443984"/>
            <a:ext cx="3429000" cy="841248"/>
          </a:xfrm>
          <a:prstGeom prst="roundRect">
            <a:avLst>
              <a:gd name="adj" fmla="val 6522"/>
            </a:avLst>
          </a:prstGeom>
          <a:solidFill>
            <a:srgbClr val="F1F3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1CEB733D-6782-5152-30D4-CA2DFBCF2F2E}"/>
              </a:ext>
            </a:extLst>
          </p:cNvPr>
          <p:cNvSpPr/>
          <p:nvPr/>
        </p:nvSpPr>
        <p:spPr>
          <a:xfrm>
            <a:off x="612648" y="4517136"/>
            <a:ext cx="3209544" cy="4374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8C53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77.95 %</a:t>
            </a:r>
            <a:endParaRPr lang="en-US" sz="2200" dirty="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95656420-2799-D2A8-21E3-1477EE893642}"/>
              </a:ext>
            </a:extLst>
          </p:cNvPr>
          <p:cNvSpPr/>
          <p:nvPr/>
        </p:nvSpPr>
        <p:spPr>
          <a:xfrm>
            <a:off x="612648" y="4906670"/>
            <a:ext cx="3209544" cy="3364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5F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coeficiente de variación</a:t>
            </a:r>
            <a:endParaRPr lang="en-US" sz="1050" dirty="0"/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C2D8FC1A-BFCD-22AE-05DE-75E3BED440AD}"/>
              </a:ext>
            </a:extLst>
          </p:cNvPr>
          <p:cNvSpPr/>
          <p:nvPr/>
        </p:nvSpPr>
        <p:spPr>
          <a:xfrm>
            <a:off x="502920" y="5413248"/>
            <a:ext cx="3429000" cy="841248"/>
          </a:xfrm>
          <a:prstGeom prst="roundRect">
            <a:avLst>
              <a:gd name="adj" fmla="val 6522"/>
            </a:avLst>
          </a:prstGeom>
          <a:solidFill>
            <a:srgbClr val="F1F3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3220B4CF-B698-1664-5138-B03C25E83687}"/>
              </a:ext>
            </a:extLst>
          </p:cNvPr>
          <p:cNvSpPr/>
          <p:nvPr/>
        </p:nvSpPr>
        <p:spPr>
          <a:xfrm>
            <a:off x="612648" y="5486400"/>
            <a:ext cx="3209544" cy="4374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8C53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4.19</a:t>
            </a:r>
            <a:endParaRPr lang="en-US" sz="2200" dirty="0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4AE45332-D2BC-DA19-8819-ED647EFBBCA1}"/>
              </a:ext>
            </a:extLst>
          </p:cNvPr>
          <p:cNvSpPr/>
          <p:nvPr/>
        </p:nvSpPr>
        <p:spPr>
          <a:xfrm>
            <a:off x="612648" y="5875934"/>
            <a:ext cx="3209544" cy="3364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5F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asimetría  ·  curtosis 49.23</a:t>
            </a:r>
            <a:endParaRPr lang="en-US" sz="1050" dirty="0"/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E3D15C72-6DDD-A840-6ECF-4D4EA95A0114}"/>
              </a:ext>
            </a:extLst>
          </p:cNvPr>
          <p:cNvSpPr/>
          <p:nvPr/>
        </p:nvSpPr>
        <p:spPr>
          <a:xfrm>
            <a:off x="4105656" y="1517904"/>
            <a:ext cx="8039953" cy="4818888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0"/>
            </a:solidFill>
            <a:prstDash val="solid"/>
          </a:ln>
          <a:effectLst>
            <a:outerShdw blurRad="76200" dist="25400" dir="5400000" algn="bl" rotWithShape="0">
              <a:srgbClr val="9AA5AB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2" name="Image 0" descr="/home/claude/pres/img/Figura_01_Histograma_Cu.jpg">
            <a:extLst>
              <a:ext uri="{FF2B5EF4-FFF2-40B4-BE49-F238E27FC236}">
                <a16:creationId xmlns:a16="http://schemas.microsoft.com/office/drawing/2014/main" id="{B64BE676-26EC-6234-1F7B-F9107011C2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8626" y="1776621"/>
            <a:ext cx="6983931" cy="4147228"/>
          </a:xfrm>
          <a:prstGeom prst="rect">
            <a:avLst/>
          </a:prstGeom>
        </p:spPr>
      </p:pic>
      <p:sp>
        <p:nvSpPr>
          <p:cNvPr id="23" name="Text 20">
            <a:extLst>
              <a:ext uri="{FF2B5EF4-FFF2-40B4-BE49-F238E27FC236}">
                <a16:creationId xmlns:a16="http://schemas.microsoft.com/office/drawing/2014/main" id="{44A46BD5-E256-EC80-4251-07D012E39C45}"/>
              </a:ext>
            </a:extLst>
          </p:cNvPr>
          <p:cNvSpPr/>
          <p:nvPr/>
        </p:nvSpPr>
        <p:spPr>
          <a:xfrm>
            <a:off x="487680" y="6292591"/>
            <a:ext cx="11201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F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Distribución fuertemente asimétrica a la derecha: la mayor parte de las muestras se concentra por debajo de 100 ppm, con valores extremos que alcanzan 1,000 ppm.</a:t>
            </a:r>
            <a:endParaRPr lang="en-US" sz="1100" dirty="0"/>
          </a:p>
        </p:txBody>
      </p:sp>
      <p:sp>
        <p:nvSpPr>
          <p:cNvPr id="25" name="Text 20">
            <a:extLst>
              <a:ext uri="{FF2B5EF4-FFF2-40B4-BE49-F238E27FC236}">
                <a16:creationId xmlns:a16="http://schemas.microsoft.com/office/drawing/2014/main" id="{A1799241-2F26-8CEA-393D-25A668149DA1}"/>
              </a:ext>
            </a:extLst>
          </p:cNvPr>
          <p:cNvSpPr/>
          <p:nvPr/>
        </p:nvSpPr>
        <p:spPr>
          <a:xfrm>
            <a:off x="4255343" y="5938768"/>
            <a:ext cx="803995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s-CO" sz="1000" b="1" noProof="0" dirty="0"/>
              <a:t>Histograma </a:t>
            </a:r>
            <a:r>
              <a:rPr lang="en-US" sz="1000" b="1" dirty="0"/>
              <a:t>2:</a:t>
            </a:r>
            <a:r>
              <a:rPr lang="en-US" sz="1000" dirty="0"/>
              <a:t> </a:t>
            </a:r>
            <a:r>
              <a:rPr lang="es-CO" sz="1000" noProof="0" dirty="0"/>
              <a:t>muestra</a:t>
            </a:r>
            <a:r>
              <a:rPr lang="en-US" sz="1000" dirty="0"/>
              <a:t> </a:t>
            </a:r>
            <a:r>
              <a:rPr lang="es-CO" sz="1000" b="1" noProof="0" dirty="0"/>
              <a:t>qué</a:t>
            </a:r>
            <a:r>
              <a:rPr lang="en-US" sz="1000" b="1" dirty="0"/>
              <a:t> tan </a:t>
            </a:r>
            <a:r>
              <a:rPr lang="es-CO" sz="1000" b="1" noProof="0" dirty="0"/>
              <a:t>concentradas</a:t>
            </a:r>
            <a:r>
              <a:rPr lang="en-US" sz="1000" b="1" dirty="0"/>
              <a:t> </a:t>
            </a:r>
            <a:r>
              <a:rPr lang="es-CO" sz="1000" b="1" noProof="0" dirty="0"/>
              <a:t>están las muestras</a:t>
            </a:r>
            <a:r>
              <a:rPr lang="es-CO" sz="1000" noProof="0" dirty="0"/>
              <a:t> en cada intervalo,</a:t>
            </a:r>
            <a:br>
              <a:rPr lang="es-CO" sz="1000" noProof="0" dirty="0"/>
            </a:br>
            <a:r>
              <a:rPr lang="es-CO" sz="1000" noProof="0" dirty="0"/>
              <a:t> por eso el eje Y tiene números pequeños (0.002, 0.006, 0.010...) en lugar de 200, 500 o 900.</a:t>
            </a:r>
          </a:p>
        </p:txBody>
      </p:sp>
    </p:spTree>
    <p:extLst>
      <p:ext uri="{BB962C8B-B14F-4D97-AF65-F5344CB8AC3E}">
        <p14:creationId xmlns:p14="http://schemas.microsoft.com/office/powerpoint/2010/main" val="23319437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B87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ANÁLISIS EXPLORATORIO DE DATOS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63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Evaluación de la normalidad y valores atípicos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6510528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AA5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geoestadístico de la concentración de Cu — Presentación de avances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1430000" y="651052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5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30936" y="1426464"/>
            <a:ext cx="4087368" cy="4087368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0"/>
            </a:solidFill>
            <a:prstDash val="solid"/>
          </a:ln>
          <a:effectLst>
            <a:outerShdw blurRad="76200" dist="25400" dir="5400000" algn="bl" rotWithShape="0">
              <a:srgbClr val="9AA5AB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7" name="Image 0" descr="/home/claude/pres/img/Figura_02_QQPlot_Cu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481328"/>
            <a:ext cx="3977640" cy="39776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020056" y="1426464"/>
            <a:ext cx="3610051" cy="4087368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0"/>
            </a:solidFill>
            <a:prstDash val="solid"/>
          </a:ln>
          <a:effectLst>
            <a:outerShdw blurRad="76200" dist="25400" dir="5400000" algn="bl" rotWithShape="0">
              <a:srgbClr val="9AA5AB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9" name="Image 1" descr="/home/claude/pres/img/Figura_03_Boxplot_Cu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4920" y="1481328"/>
            <a:ext cx="3500323" cy="397764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9006840" y="1481328"/>
            <a:ext cx="2697480" cy="2286000"/>
          </a:xfrm>
          <a:prstGeom prst="roundRect">
            <a:avLst>
              <a:gd name="adj" fmla="val 2800"/>
            </a:avLst>
          </a:prstGeom>
          <a:solidFill>
            <a:srgbClr val="F1F3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7"/>
          <p:cNvSpPr/>
          <p:nvPr/>
        </p:nvSpPr>
        <p:spPr>
          <a:xfrm>
            <a:off x="9189720" y="1627632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C5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Anderson-Darling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9189720" y="1938528"/>
            <a:ext cx="23317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263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estadístico A² supera ampliamente el valor crítico al 5 % (0.786): se rechaza la hipótesis de normalidad.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9006840" y="3950208"/>
            <a:ext cx="2697480" cy="2331720"/>
          </a:xfrm>
          <a:prstGeom prst="roundRect">
            <a:avLst>
              <a:gd name="adj" fmla="val 2745"/>
            </a:avLst>
          </a:prstGeom>
          <a:solidFill>
            <a:srgbClr val="F1F3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0"/>
          <p:cNvSpPr/>
          <p:nvPr/>
        </p:nvSpPr>
        <p:spPr>
          <a:xfrm>
            <a:off x="9189720" y="4096512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C5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Diagrama de caja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9189720" y="4407408"/>
            <a:ext cx="23317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150" dirty="0">
                <a:solidFill>
                  <a:srgbClr val="263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= 30 · Mediana = 70 · Q3 = 100 ppm</a:t>
            </a:r>
            <a:endParaRPr lang="en-US" sz="115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150" dirty="0">
                <a:solidFill>
                  <a:srgbClr val="263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IQR = 70 ppm · límites 5 – 200 ppm</a:t>
            </a:r>
            <a:endParaRPr lang="en-US" sz="115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150" b="1" dirty="0">
                <a:solidFill>
                  <a:srgbClr val="263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valores atípicos (&gt; 200 ppm)</a:t>
            </a:r>
            <a:endParaRPr lang="en-US" sz="1150" dirty="0"/>
          </a:p>
        </p:txBody>
      </p:sp>
      <p:sp>
        <p:nvSpPr>
          <p:cNvPr id="16" name="Text 12"/>
          <p:cNvSpPr/>
          <p:nvPr/>
        </p:nvSpPr>
        <p:spPr>
          <a:xfrm>
            <a:off x="685800" y="580644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F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cuantiles observados se apartan de la recta teórica en ambas colas: la distribución no es gaussiana y presenta cola derecha pesada.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B87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EXPLORACIÓN ESPACIAL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63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Localización del área de estudio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6510528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AA5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geoestadístico de la concentración de Cu — Presentación de avances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1430000" y="651052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5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30936" y="1426464"/>
            <a:ext cx="4977994" cy="5138928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0"/>
            </a:solidFill>
            <a:prstDash val="solid"/>
          </a:ln>
          <a:effectLst>
            <a:outerShdw blurRad="76200" dist="25400" dir="5400000" algn="bl" rotWithShape="0">
              <a:srgbClr val="9AA5AB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7" name="Image 0" descr="/home/claude/pres/img/Figura_04_Localizacion_Area_Estudi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481328"/>
            <a:ext cx="4868266" cy="5029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943600" y="1600200"/>
            <a:ext cx="56692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700" b="1" dirty="0">
                <a:solidFill>
                  <a:srgbClr val="263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Suroeste antioqueño</a:t>
            </a:r>
            <a:endParaRPr lang="en-US" sz="1250" dirty="0"/>
          </a:p>
          <a:p>
            <a:pPr marL="0" indent="0">
              <a:lnSpc>
                <a:spcPts val="1800"/>
              </a:lnSpc>
              <a:buNone/>
            </a:pPr>
            <a:endParaRPr lang="en-US" sz="125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263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área de estudio agrupa 23 municipios del Suroeste antioqueño, desde Urrao al noroccidente hasta Caramanta y La Pintada al sur, en el flanco occidental de la cordillera.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5943600" y="3300984"/>
            <a:ext cx="146304" cy="146304"/>
          </a:xfrm>
          <a:prstGeom prst="ellipse">
            <a:avLst/>
          </a:prstGeom>
          <a:solidFill>
            <a:srgbClr val="B873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6236208" y="324612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C5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Cartografía base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236208" y="3520440"/>
            <a:ext cx="5394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5F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Límites municipales validados y disueltos para definir el límite externo del área de estudio.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5943600" y="4325112"/>
            <a:ext cx="146304" cy="146304"/>
          </a:xfrm>
          <a:prstGeom prst="ellipse">
            <a:avLst/>
          </a:prstGeom>
          <a:solidFill>
            <a:srgbClr val="B873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6236208" y="4270248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C5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referencia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6236208" y="4544568"/>
            <a:ext cx="5394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5F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Coordenadas planas EPSG:21897 (origen Oeste), consistente en todas las figuras y cálculos.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5943600" y="5349240"/>
            <a:ext cx="146304" cy="146304"/>
          </a:xfrm>
          <a:prstGeom prst="ellipse">
            <a:avLst/>
          </a:prstGeom>
          <a:solidFill>
            <a:srgbClr val="B873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6236208" y="5294376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C5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Elementos cartográficos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6236208" y="5568696"/>
            <a:ext cx="5394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5F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 gráfica (25 km), norte y fuentes citadas en cada salida cartográfica.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B87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EXPLORACIÓN ESPACIAL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9977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63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Distribución de las muestras y verificación de la cobertura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6510528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AA5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geoestadístico de la concentración de Cu — Presentación de avances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1430000" y="651052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5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30936" y="1389888"/>
            <a:ext cx="4540682" cy="4270248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0"/>
            </a:solidFill>
            <a:prstDash val="solid"/>
          </a:ln>
          <a:effectLst>
            <a:outerShdw blurRad="76200" dist="25400" dir="5400000" algn="bl" rotWithShape="0">
              <a:srgbClr val="9AA5AB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7" name="Image 0" descr="/home/claude/pres/img/Figura_05_Distribución_espacial_de_las_muestras_geoquímicas_de_cobr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444752"/>
            <a:ext cx="4430954" cy="416052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522976" y="1389888"/>
            <a:ext cx="4137111" cy="4270248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0"/>
            </a:solidFill>
            <a:prstDash val="solid"/>
          </a:ln>
          <a:effectLst>
            <a:outerShdw blurRad="76200" dist="25400" dir="5400000" algn="bl" rotWithShape="0">
              <a:srgbClr val="9AA5AB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9" name="Image 1" descr="/home/claude/pres/img/Figura_06_Verificacion_Cobertura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77840" y="1444752"/>
            <a:ext cx="4027383" cy="416052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9948672" y="2418058"/>
            <a:ext cx="1874520" cy="960120"/>
          </a:xfrm>
          <a:prstGeom prst="roundRect">
            <a:avLst>
              <a:gd name="adj" fmla="val 5714"/>
            </a:avLst>
          </a:prstGeom>
          <a:solidFill>
            <a:srgbClr val="F1F3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7"/>
          <p:cNvSpPr/>
          <p:nvPr/>
        </p:nvSpPr>
        <p:spPr>
          <a:xfrm>
            <a:off x="10058400" y="2491210"/>
            <a:ext cx="1655064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3E7C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2,029</a:t>
            </a:r>
            <a:endParaRPr lang="en-US" sz="2200" dirty="0"/>
          </a:p>
        </p:txBody>
      </p:sp>
      <p:sp>
        <p:nvSpPr>
          <p:cNvPr id="12" name="Text 8"/>
          <p:cNvSpPr/>
          <p:nvPr/>
        </p:nvSpPr>
        <p:spPr>
          <a:xfrm>
            <a:off x="10058400" y="2946124"/>
            <a:ext cx="16550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5F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muestras dentro del área (96.5 %) 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9948672" y="3561058"/>
            <a:ext cx="1874520" cy="960120"/>
          </a:xfrm>
          <a:prstGeom prst="roundRect">
            <a:avLst>
              <a:gd name="adj" fmla="val 5714"/>
            </a:avLst>
          </a:prstGeom>
          <a:solidFill>
            <a:srgbClr val="F1F3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0"/>
          <p:cNvSpPr/>
          <p:nvPr/>
        </p:nvSpPr>
        <p:spPr>
          <a:xfrm>
            <a:off x="10058400" y="3634210"/>
            <a:ext cx="1655064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A64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74</a:t>
            </a:r>
            <a:endParaRPr lang="en-US" sz="2200" dirty="0"/>
          </a:p>
        </p:txBody>
      </p:sp>
      <p:sp>
        <p:nvSpPr>
          <p:cNvPr id="15" name="Text 11"/>
          <p:cNvSpPr/>
          <p:nvPr/>
        </p:nvSpPr>
        <p:spPr>
          <a:xfrm>
            <a:off x="10058400" y="4089124"/>
            <a:ext cx="16550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5F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muestras fuera del área (3.5 %)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9948672" y="4704058"/>
            <a:ext cx="1874520" cy="960120"/>
          </a:xfrm>
          <a:prstGeom prst="roundRect">
            <a:avLst>
              <a:gd name="adj" fmla="val 5714"/>
            </a:avLst>
          </a:prstGeom>
          <a:solidFill>
            <a:srgbClr val="F1F3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3"/>
          <p:cNvSpPr/>
          <p:nvPr/>
        </p:nvSpPr>
        <p:spPr>
          <a:xfrm>
            <a:off x="10058400" y="4777210"/>
            <a:ext cx="1655064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8C53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 = 2,029</a:t>
            </a:r>
            <a:endParaRPr lang="en-US" sz="2200" dirty="0"/>
          </a:p>
        </p:txBody>
      </p:sp>
      <p:sp>
        <p:nvSpPr>
          <p:cNvPr id="18" name="Text 14"/>
          <p:cNvSpPr/>
          <p:nvPr/>
        </p:nvSpPr>
        <p:spPr>
          <a:xfrm>
            <a:off x="10058400" y="5232124"/>
            <a:ext cx="16550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5F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conjunto de trabajo geoestadístico</a:t>
            </a:r>
            <a:endParaRPr lang="en-US" sz="1050" dirty="0"/>
          </a:p>
        </p:txBody>
      </p:sp>
      <p:sp>
        <p:nvSpPr>
          <p:cNvPr id="19" name="Text 15"/>
          <p:cNvSpPr/>
          <p:nvPr/>
        </p:nvSpPr>
        <p:spPr>
          <a:xfrm>
            <a:off x="685800" y="5852160"/>
            <a:ext cx="11018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F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cobertura muestral es amplia y siguió la red de drenajes; las muestras externas al límite se excluyen del análisis geoestadístico. Las concentraciones altas de Cu son puntuales y no forman agrupamientos evidentes a escala regional.</a:t>
            </a:r>
            <a:endParaRPr lang="en-US" sz="1100" dirty="0"/>
          </a:p>
        </p:txBody>
      </p:sp>
      <p:sp>
        <p:nvSpPr>
          <p:cNvPr id="21" name="Shape 6">
            <a:extLst>
              <a:ext uri="{FF2B5EF4-FFF2-40B4-BE49-F238E27FC236}">
                <a16:creationId xmlns:a16="http://schemas.microsoft.com/office/drawing/2014/main" id="{E8FB16EA-9806-DD01-9B35-71CC240CE0D0}"/>
              </a:ext>
            </a:extLst>
          </p:cNvPr>
          <p:cNvSpPr/>
          <p:nvPr/>
        </p:nvSpPr>
        <p:spPr>
          <a:xfrm>
            <a:off x="9957816" y="1348210"/>
            <a:ext cx="1874520" cy="960120"/>
          </a:xfrm>
          <a:prstGeom prst="roundRect">
            <a:avLst>
              <a:gd name="adj" fmla="val 5714"/>
            </a:avLst>
          </a:prstGeom>
          <a:solidFill>
            <a:srgbClr val="F1F3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7">
            <a:extLst>
              <a:ext uri="{FF2B5EF4-FFF2-40B4-BE49-F238E27FC236}">
                <a16:creationId xmlns:a16="http://schemas.microsoft.com/office/drawing/2014/main" id="{7096A858-269A-4EBA-C8C5-3ABEEBC7F335}"/>
              </a:ext>
            </a:extLst>
          </p:cNvPr>
          <p:cNvSpPr/>
          <p:nvPr/>
        </p:nvSpPr>
        <p:spPr>
          <a:xfrm>
            <a:off x="10067544" y="1421362"/>
            <a:ext cx="1655064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2,103</a:t>
            </a:r>
            <a:endParaRPr lang="en-US" sz="2200" dirty="0"/>
          </a:p>
        </p:txBody>
      </p:sp>
      <p:sp>
        <p:nvSpPr>
          <p:cNvPr id="25" name="Text 8">
            <a:extLst>
              <a:ext uri="{FF2B5EF4-FFF2-40B4-BE49-F238E27FC236}">
                <a16:creationId xmlns:a16="http://schemas.microsoft.com/office/drawing/2014/main" id="{AA6FC525-ADAC-404B-B1D2-2145F23B6D1A}"/>
              </a:ext>
            </a:extLst>
          </p:cNvPr>
          <p:cNvSpPr/>
          <p:nvPr/>
        </p:nvSpPr>
        <p:spPr>
          <a:xfrm>
            <a:off x="10067544" y="1876276"/>
            <a:ext cx="1655064" cy="2752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5F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muestras del Proyecto </a:t>
            </a:r>
            <a:endParaRPr lang="en-US" sz="1050" dirty="0"/>
          </a:p>
        </p:txBody>
      </p:sp>
      <p:sp>
        <p:nvSpPr>
          <p:cNvPr id="27" name="Text 8">
            <a:extLst>
              <a:ext uri="{FF2B5EF4-FFF2-40B4-BE49-F238E27FC236}">
                <a16:creationId xmlns:a16="http://schemas.microsoft.com/office/drawing/2014/main" id="{7E7B093B-1479-01A6-AD46-49C8EEFB2CE4}"/>
              </a:ext>
            </a:extLst>
          </p:cNvPr>
          <p:cNvSpPr/>
          <p:nvPr/>
        </p:nvSpPr>
        <p:spPr>
          <a:xfrm>
            <a:off x="10044443" y="2068300"/>
            <a:ext cx="1655064" cy="2752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endParaRPr lang="en-US" sz="1050" b="1" dirty="0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B87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EXPLORACIÓN ESPACIAL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63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Distribución de las muestras sobre las unidades geológicas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6510528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AA5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geoestadístico de la concentración de Cu — Presentación de avances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1430000" y="651052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5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39496" y="1408176"/>
            <a:ext cx="6225692" cy="4590288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0"/>
            </a:solidFill>
            <a:prstDash val="solid"/>
          </a:ln>
          <a:effectLst>
            <a:outerShdw blurRad="76200" dist="25400" dir="5400000" algn="bl" rotWithShape="0">
              <a:srgbClr val="9AA5AB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7" name="Image 0" descr="/home/claude/pres/img/Figura_08_Muestras_Unidades_Geologicas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463040"/>
            <a:ext cx="6115964" cy="4480560"/>
          </a:xfrm>
          <a:prstGeom prst="rect">
            <a:avLst/>
          </a:prstGeom>
        </p:spPr>
      </p:pic>
      <p:graphicFrame>
        <p:nvGraphicFramePr>
          <p:cNvPr id="8" name="Chart 0"/>
          <p:cNvGraphicFramePr/>
          <p:nvPr/>
        </p:nvGraphicFramePr>
        <p:xfrm>
          <a:off x="6949440" y="1508760"/>
          <a:ext cx="4800600" cy="3017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9" name="Shape 5"/>
          <p:cNvSpPr/>
          <p:nvPr/>
        </p:nvSpPr>
        <p:spPr>
          <a:xfrm>
            <a:off x="6949440" y="4754880"/>
            <a:ext cx="4800600" cy="1417320"/>
          </a:xfrm>
          <a:prstGeom prst="roundRect">
            <a:avLst>
              <a:gd name="adj" fmla="val 4516"/>
            </a:avLst>
          </a:prstGeom>
          <a:solidFill>
            <a:srgbClr val="F1F3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6"/>
          <p:cNvSpPr/>
          <p:nvPr/>
        </p:nvSpPr>
        <p:spPr>
          <a:xfrm>
            <a:off x="7132320" y="4901184"/>
            <a:ext cx="44348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263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2,016 muestras asociadas a unidad geológica; 13 sin asociación por vacíos topológicos de la cartografía.</a:t>
            </a:r>
            <a:endParaRPr lang="en-US" sz="110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100" b="1" dirty="0">
                <a:solidFill>
                  <a:srgbClr val="263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Tres unidades (Ksu, Pggm y Ngc) concentran cerca del 66 % de las muestras.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B87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EXPLORACIÓN ESPACIAL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63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Muestras de cobre, fallas geológicas y síntesis litológica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6510528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AA5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geoestadístico de la concentración de Cu — Presentación de avances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1430000" y="651052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5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22376" y="1389888"/>
            <a:ext cx="4585167" cy="4315968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0"/>
            </a:solidFill>
            <a:prstDash val="solid"/>
          </a:ln>
          <a:effectLst>
            <a:outerShdw blurRad="76200" dist="25400" dir="5400000" algn="bl" rotWithShape="0">
              <a:srgbClr val="9AA5AB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7" name="Image 0" descr="/home/claude/pres/img/Figura_09_Concentracion_Cu_Fallas_Geologicas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444752"/>
            <a:ext cx="4475439" cy="42062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980176" y="1389888"/>
            <a:ext cx="4585167" cy="4315968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0"/>
            </a:solidFill>
            <a:prstDash val="solid"/>
          </a:ln>
          <a:effectLst>
            <a:outerShdw blurRad="76200" dist="25400" dir="5400000" algn="bl" rotWithShape="0">
              <a:srgbClr val="9AA5AB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9" name="Image 1" descr="/home/claude/pres/img/Figura_10_Sintesis_Litologica_Estructural_Cu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5040" y="1444752"/>
            <a:ext cx="4475439" cy="420624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77240" y="580644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8C5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estructural: </a:t>
            </a:r>
            <a:r>
              <a:rPr lang="en-US" sz="1150" dirty="0">
                <a:solidFill>
                  <a:srgbClr val="263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cartografía del SGC fue depurada y validada; se identifican los corredores de las fallas de Mistrató, Penderisco, Arma, Silvia-Pijao y Cauca-Almaguer.</a:t>
            </a:r>
            <a:br>
              <a:rPr lang="en-US" sz="1150" dirty="0">
                <a:solidFill>
                  <a:srgbClr val="263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150" dirty="0">
                <a:solidFill>
                  <a:srgbClr val="263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b="1" dirty="0">
                <a:solidFill>
                  <a:srgbClr val="8C5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Síntesis litológica: </a:t>
            </a:r>
            <a:r>
              <a:rPr lang="en-US" sz="1150" dirty="0">
                <a:solidFill>
                  <a:srgbClr val="263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litologías se agruparon en cinco clases (ígneas, metamórficas, sedimentarias, depósitos y mixtas) para facilitar la lectura conjunta de geología, estructuras y geoquímica.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B87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ANÁLISIS GEOESTADÍSTICO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63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EDA del conjunto limitado al área de estudio (n = 2,029)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6510528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AA5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geoestadístico de la concentración de Cu — Presentación de avances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1430000" y="651052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5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30936" y="1408176"/>
            <a:ext cx="5128230" cy="3355848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0"/>
            </a:solidFill>
            <a:prstDash val="solid"/>
          </a:ln>
          <a:effectLst>
            <a:outerShdw blurRad="76200" dist="25400" dir="5400000" algn="bl" rotWithShape="0">
              <a:srgbClr val="9AA5AB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7" name="Image 0" descr="/home/claude/pres/img/Figura_11_Histograma_Conjunto_Geoestadistic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463040"/>
            <a:ext cx="5018502" cy="324612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071616" y="1408176"/>
            <a:ext cx="3550615" cy="3355848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0"/>
            </a:solidFill>
            <a:prstDash val="solid"/>
          </a:ln>
          <a:effectLst>
            <a:outerShdw blurRad="76200" dist="25400" dir="5400000" algn="bl" rotWithShape="0">
              <a:srgbClr val="9AA5AB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9" name="Image 1" descr="/home/claude/pres/img/Figura_12_QQPlot_Geoestadistica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6480" y="1463040"/>
            <a:ext cx="3440887" cy="324612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9921240" y="1463040"/>
            <a:ext cx="1783080" cy="914400"/>
          </a:xfrm>
          <a:prstGeom prst="roundRect">
            <a:avLst>
              <a:gd name="adj" fmla="val 6000"/>
            </a:avLst>
          </a:prstGeom>
          <a:solidFill>
            <a:srgbClr val="F1F3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7"/>
          <p:cNvSpPr/>
          <p:nvPr/>
        </p:nvSpPr>
        <p:spPr>
          <a:xfrm>
            <a:off x="10030968" y="1536192"/>
            <a:ext cx="15636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8C53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71.64</a:t>
            </a:r>
            <a:endParaRPr lang="en-US" sz="2200" dirty="0"/>
          </a:p>
        </p:txBody>
      </p:sp>
      <p:sp>
        <p:nvSpPr>
          <p:cNvPr id="12" name="Text 8"/>
          <p:cNvSpPr/>
          <p:nvPr/>
        </p:nvSpPr>
        <p:spPr>
          <a:xfrm>
            <a:off x="10030968" y="1965960"/>
            <a:ext cx="15636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5F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 (ppm) · mediana 70.0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9921240" y="2542032"/>
            <a:ext cx="1783080" cy="914400"/>
          </a:xfrm>
          <a:prstGeom prst="roundRect">
            <a:avLst>
              <a:gd name="adj" fmla="val 6000"/>
            </a:avLst>
          </a:prstGeom>
          <a:solidFill>
            <a:srgbClr val="F1F3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0"/>
          <p:cNvSpPr/>
          <p:nvPr/>
        </p:nvSpPr>
        <p:spPr>
          <a:xfrm>
            <a:off x="10030968" y="2615184"/>
            <a:ext cx="15636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8C53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78.24 %</a:t>
            </a:r>
            <a:endParaRPr lang="en-US" sz="2200" dirty="0"/>
          </a:p>
        </p:txBody>
      </p:sp>
      <p:sp>
        <p:nvSpPr>
          <p:cNvPr id="15" name="Text 11"/>
          <p:cNvSpPr/>
          <p:nvPr/>
        </p:nvSpPr>
        <p:spPr>
          <a:xfrm>
            <a:off x="10030968" y="3044952"/>
            <a:ext cx="15636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5F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coeficiente de variación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9921240" y="3621024"/>
            <a:ext cx="1783080" cy="1088136"/>
          </a:xfrm>
          <a:prstGeom prst="roundRect">
            <a:avLst>
              <a:gd name="adj" fmla="val 5042"/>
            </a:avLst>
          </a:prstGeom>
          <a:solidFill>
            <a:srgbClr val="F1F3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3"/>
          <p:cNvSpPr/>
          <p:nvPr/>
        </p:nvSpPr>
        <p:spPr>
          <a:xfrm>
            <a:off x="10030968" y="3694176"/>
            <a:ext cx="1563624" cy="5658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8C53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A² = 87.95</a:t>
            </a:r>
            <a:endParaRPr lang="en-US" sz="2200" dirty="0"/>
          </a:p>
        </p:txBody>
      </p:sp>
      <p:sp>
        <p:nvSpPr>
          <p:cNvPr id="18" name="Text 14"/>
          <p:cNvSpPr/>
          <p:nvPr/>
        </p:nvSpPr>
        <p:spPr>
          <a:xfrm>
            <a:off x="10030968" y="4219499"/>
            <a:ext cx="1563624" cy="4352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5F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Anderson-Darling: se rechaza la normalidad (crítico 0.785)</a:t>
            </a:r>
            <a:endParaRPr lang="en-US" sz="1050" dirty="0"/>
          </a:p>
        </p:txBody>
      </p:sp>
      <p:sp>
        <p:nvSpPr>
          <p:cNvPr id="19" name="Text 15"/>
          <p:cNvSpPr/>
          <p:nvPr/>
        </p:nvSpPr>
        <p:spPr>
          <a:xfrm>
            <a:off x="2936828" y="5316831"/>
            <a:ext cx="86242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263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recorte espacial no altera la estructura estadística: media, mediana y dispersión permanecen estables frente al conjunto original, y persiste la asimetría fuerte (4.37). Esto respalda el uso de métodos geoestadísticos robustos frente a la no normalidad.</a:t>
            </a:r>
            <a:endParaRPr lang="en-US" sz="1200" dirty="0"/>
          </a:p>
        </p:txBody>
      </p:sp>
      <p:sp>
        <p:nvSpPr>
          <p:cNvPr id="20" name="Shape 16"/>
          <p:cNvSpPr/>
          <p:nvPr/>
        </p:nvSpPr>
        <p:spPr>
          <a:xfrm>
            <a:off x="713232" y="4956048"/>
            <a:ext cx="1828800" cy="0"/>
          </a:xfrm>
          <a:prstGeom prst="line">
            <a:avLst/>
          </a:prstGeom>
          <a:noFill/>
          <a:ln w="25400">
            <a:solidFill>
              <a:srgbClr val="B87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grpSp>
        <p:nvGrpSpPr>
          <p:cNvPr id="21" name="Grupo 20">
            <a:extLst>
              <a:ext uri="{FF2B5EF4-FFF2-40B4-BE49-F238E27FC236}">
                <a16:creationId xmlns:a16="http://schemas.microsoft.com/office/drawing/2014/main" id="{96652FFA-DB72-3C67-DB46-0489D70350BC}"/>
              </a:ext>
            </a:extLst>
          </p:cNvPr>
          <p:cNvGrpSpPr/>
          <p:nvPr/>
        </p:nvGrpSpPr>
        <p:grpSpPr>
          <a:xfrm>
            <a:off x="605188" y="5056636"/>
            <a:ext cx="2044887" cy="1271012"/>
            <a:chOff x="4354717" y="1648669"/>
            <a:chExt cx="5969477" cy="4185204"/>
          </a:xfrm>
        </p:grpSpPr>
        <p:pic>
          <p:nvPicPr>
            <p:cNvPr id="22" name="Imagen 21">
              <a:extLst>
                <a:ext uri="{FF2B5EF4-FFF2-40B4-BE49-F238E27FC236}">
                  <a16:creationId xmlns:a16="http://schemas.microsoft.com/office/drawing/2014/main" id="{F6A91554-4A03-A6E2-3B5E-2BEFC03BCB0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354717" y="1648669"/>
              <a:ext cx="5969477" cy="4185204"/>
            </a:xfrm>
            <a:prstGeom prst="rect">
              <a:avLst/>
            </a:prstGeom>
          </p:spPr>
        </p:pic>
        <p:pic>
          <p:nvPicPr>
            <p:cNvPr id="23" name="Imagen 22">
              <a:extLst>
                <a:ext uri="{FF2B5EF4-FFF2-40B4-BE49-F238E27FC236}">
                  <a16:creationId xmlns:a16="http://schemas.microsoft.com/office/drawing/2014/main" id="{6F5DADBF-4567-A3F8-31F3-9E7ABC926ED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669223" y="2022620"/>
              <a:ext cx="1434444" cy="965671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B87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ANÁLISIS GEOESTADÍSTICO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63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Evaluación de la anisotropía: variogramas direccionales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6510528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AA5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geoestadístico de la concentración de Cu — Presentación de avances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1430000" y="651052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5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85216" y="1426464"/>
            <a:ext cx="6474272" cy="5001768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0"/>
            </a:solidFill>
            <a:prstDash val="solid"/>
          </a:ln>
          <a:effectLst>
            <a:outerShdw blurRad="76200" dist="25400" dir="5400000" algn="bl" rotWithShape="0">
              <a:srgbClr val="9AA5AB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7" name="Image 0" descr="/home/claude/pres/img/Figura_13_Variogramas_Direccionales_Suavizados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481328"/>
            <a:ext cx="6364544" cy="48920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452360" y="1645920"/>
            <a:ext cx="146304" cy="146304"/>
          </a:xfrm>
          <a:prstGeom prst="ellipse">
            <a:avLst/>
          </a:prstGeom>
          <a:solidFill>
            <a:srgbClr val="B873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7744968" y="160020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C5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Cuatro direcciones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7744968" y="1874520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5F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Azimuts 0°, 45°, 90° y 135°, con tolerancia angular de ±22.5° y 15 lags por dirección.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7452360" y="2852928"/>
            <a:ext cx="146304" cy="146304"/>
          </a:xfrm>
          <a:prstGeom prst="ellipse">
            <a:avLst/>
          </a:prstGeom>
          <a:solidFill>
            <a:srgbClr val="B873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7744968" y="2807208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C5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Semivarianza comparable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7744968" y="3081528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5F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semivarianzas medias oscilan entre 2,915 y 3,284: magnitudes similares en todas las direcciones.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7452360" y="4059936"/>
            <a:ext cx="146304" cy="146304"/>
          </a:xfrm>
          <a:prstGeom prst="ellipse">
            <a:avLst/>
          </a:prstGeom>
          <a:solidFill>
            <a:srgbClr val="B873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7744968" y="4014216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C5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anisotropía dominante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7744968" y="4288536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5F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cuatro curvas presentan comportamiento fluctuante y estructura equivalente, sin una dirección de continuidad claramente preferente.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7452360" y="5266944"/>
            <a:ext cx="146304" cy="146304"/>
          </a:xfrm>
          <a:prstGeom prst="ellipse">
            <a:avLst/>
          </a:prstGeom>
          <a:solidFill>
            <a:srgbClr val="B873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7744968" y="5221224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C5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Decisión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7744968" y="5495544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5F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adopta el variograma omnidireccional como base del modelamiento.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B87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ANÁLISIS GEOESTADÍSTICO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63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Variograma experimental omnidireccional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6510528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AA5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geoestadístico de la concentración de Cu — Presentación de avances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1430000" y="651052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5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85216" y="1426464"/>
            <a:ext cx="7725126" cy="4773168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0"/>
            </a:solidFill>
            <a:prstDash val="solid"/>
          </a:ln>
          <a:effectLst>
            <a:outerShdw blurRad="76200" dist="25400" dir="5400000" algn="bl" rotWithShape="0">
              <a:srgbClr val="9AA5AB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7" name="Image 0" descr="/home/claude/pres/img/Figura_14_Variograma_Experimental_Omnidireccional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481328"/>
            <a:ext cx="7615398" cy="46634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8686800" y="1481328"/>
            <a:ext cx="3017520" cy="3291840"/>
          </a:xfrm>
          <a:prstGeom prst="roundRect">
            <a:avLst>
              <a:gd name="adj" fmla="val 2121"/>
            </a:avLst>
          </a:prstGeom>
          <a:solidFill>
            <a:srgbClr val="F1F3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8869680" y="1609344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C5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Parámetros del cálculo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8869680" y="1975104"/>
            <a:ext cx="2651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263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Estimador:  </a:t>
            </a:r>
            <a:r>
              <a:rPr lang="en-US" sz="1100" dirty="0">
                <a:solidFill>
                  <a:srgbClr val="5F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Matheron (clásico)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8869680" y="2670048"/>
            <a:ext cx="2651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263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Lags:  </a:t>
            </a:r>
            <a:r>
              <a:rPr lang="en-US" sz="1100" dirty="0">
                <a:solidFill>
                  <a:srgbClr val="5F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15, con ancho de 3.11 km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8869680" y="3364992"/>
            <a:ext cx="2651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263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Distancia máxima:  </a:t>
            </a:r>
            <a:r>
              <a:rPr lang="en-US" sz="1100" dirty="0">
                <a:solidFill>
                  <a:srgbClr val="5F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46.71 km (criterio de la mediana)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8869680" y="4059936"/>
            <a:ext cx="2651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263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Pares totales:  </a:t>
            </a:r>
            <a:r>
              <a:rPr lang="en-US" sz="1100" dirty="0">
                <a:solidFill>
                  <a:srgbClr val="5F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1,028,703 — mínimo de 18,022 pares por lag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8686800" y="4983480"/>
            <a:ext cx="3017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i="1" dirty="0">
                <a:solidFill>
                  <a:srgbClr val="5F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semivarianza crece de forma sostenida con la distancia, con un tramo intermedio estable: evidencia de estructura espacial en la concentración de Cu, apta para el modelamiento variográfico.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B87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ANÁLISIS GEOESTADÍSTICO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63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Ajuste y selección del modelo variográfico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6510528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AA5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geoestadístico de la concentración de Cu — Presentación de avances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1430000" y="651052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5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85216" y="1408176"/>
            <a:ext cx="6135853" cy="4087368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0"/>
            </a:solidFill>
            <a:prstDash val="solid"/>
          </a:ln>
          <a:effectLst>
            <a:outerShdw blurRad="76200" dist="25400" dir="5400000" algn="bl" rotWithShape="0">
              <a:srgbClr val="9AA5AB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7" name="Image 0" descr="/home/claude/pres/img/Figura_14_Ajuste_Modelos_Variograficos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463040"/>
            <a:ext cx="6026125" cy="3977640"/>
          </a:xfrm>
          <a:prstGeom prst="rect">
            <a:avLst/>
          </a:prstGeom>
        </p:spPr>
      </p:pic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086600" y="1508760"/>
          <a:ext cx="4617720" cy="1463040"/>
        </p:xfrm>
        <a:graphic>
          <a:graphicData uri="http://schemas.openxmlformats.org/drawingml/2006/table">
            <a:tbl>
              <a:tblPr/>
              <a:tblGrid>
                <a:gridCol w="1874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1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R²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1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RMSE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1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1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8C53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Gaussiano ●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63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0.752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63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183.1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63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162.3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63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Esférico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63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0.715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63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196.3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63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164.4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63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Exponencial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63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0.671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63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210.9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63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166.5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7086600" y="3246120"/>
            <a:ext cx="4617720" cy="1371600"/>
          </a:xfrm>
          <a:prstGeom prst="roundRect">
            <a:avLst>
              <a:gd name="adj" fmla="val 4667"/>
            </a:avLst>
          </a:prstGeom>
          <a:solidFill>
            <a:srgbClr val="F1F3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6"/>
          <p:cNvSpPr/>
          <p:nvPr/>
        </p:nvSpPr>
        <p:spPr>
          <a:xfrm>
            <a:off x="7269480" y="3383280"/>
            <a:ext cx="4251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C5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seleccionado: Gaussiano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7269480" y="3675888"/>
            <a:ext cx="4251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263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Nugget = 2,747  ·  Sill total = 6,033  ·  Rango práctico = 140.1 km. Seleccionado por el menor AIC, junto con el mejor RMSE y R² y la coherencia de sus parámetros.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7086600" y="4892040"/>
            <a:ext cx="4617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A64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Observación: </a:t>
            </a:r>
            <a:r>
              <a:rPr lang="en-US" sz="1050" dirty="0">
                <a:solidFill>
                  <a:srgbClr val="5F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rango práctico (140 km) excede la distancia experimental máxima (46.7 km), por lo que este parámetro se revisará durante la validación cruzada antes de la interpolación.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640080" y="5715000"/>
            <a:ext cx="6126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i="1" dirty="0">
                <a:solidFill>
                  <a:srgbClr val="5F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efecto nugget (≈ 46 % del sill) refleja variabilidad a corta distancia y de muestreo, consistente con datos geoquímicos de sedimentos.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B87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DEL PROYECTO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63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Avance actual y próximos pasos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6510528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AA5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geoestadístico de la concentración de Cu — Presentación de avances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1430000" y="651052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5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02920" y="1554480"/>
            <a:ext cx="3611880" cy="4663440"/>
          </a:xfrm>
          <a:prstGeom prst="roundRect">
            <a:avLst>
              <a:gd name="adj" fmla="val 2025"/>
            </a:avLst>
          </a:prstGeom>
          <a:solidFill>
            <a:srgbClr val="EFF5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31520" y="1755648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E7C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  Completado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2194560"/>
            <a:ext cx="315468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6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63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Preparación y verificación de la información (2,103 muestras)</a:t>
            </a:r>
            <a:endParaRPr lang="en-US" sz="1200" dirty="0"/>
          </a:p>
          <a:p>
            <a:pPr marL="152400" indent="-152400">
              <a:lnSpc>
                <a:spcPts val="16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63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exploratorio de datos</a:t>
            </a:r>
            <a:endParaRPr lang="en-US" sz="1200" dirty="0"/>
          </a:p>
          <a:p>
            <a:pPr marL="152400" indent="-152400">
              <a:lnSpc>
                <a:spcPts val="16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63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Exploración espacial: cobertura, geología y fallas</a:t>
            </a:r>
            <a:endParaRPr lang="en-US" sz="1200" dirty="0"/>
          </a:p>
          <a:p>
            <a:pPr marL="152400" indent="-152400">
              <a:lnSpc>
                <a:spcPts val="16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63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AED del conjunto geoestadístico (n = 2,029)</a:t>
            </a:r>
            <a:endParaRPr lang="en-US" sz="1200" dirty="0"/>
          </a:p>
          <a:p>
            <a:pPr marL="152400" indent="-152400">
              <a:lnSpc>
                <a:spcPts val="16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63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Evaluación de anisotropía y variograma experimental</a:t>
            </a:r>
            <a:endParaRPr lang="en-US" sz="1200" dirty="0"/>
          </a:p>
          <a:p>
            <a:pPr marL="152400" indent="-152400">
              <a:lnSpc>
                <a:spcPts val="16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63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Ajuste y selección del modelo variográfico (Gaussiano)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297680" y="1554480"/>
            <a:ext cx="3611880" cy="4663440"/>
          </a:xfrm>
          <a:prstGeom prst="roundRect">
            <a:avLst>
              <a:gd name="adj" fmla="val 2025"/>
            </a:avLst>
          </a:prstGeom>
          <a:solidFill>
            <a:srgbClr val="FBF3EA"/>
          </a:solidFill>
          <a:ln w="15875">
            <a:solidFill>
              <a:srgbClr val="B87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526280" y="1755648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8C53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▶  En curso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526280" y="2194560"/>
            <a:ext cx="315468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6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63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4.5  </a:t>
            </a:r>
            <a:r>
              <a:rPr lang="en-US" sz="1200" dirty="0" err="1">
                <a:solidFill>
                  <a:srgbClr val="263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Validación</a:t>
            </a:r>
            <a:r>
              <a:rPr lang="en-US" sz="1200" dirty="0">
                <a:solidFill>
                  <a:srgbClr val="263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263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cruzada</a:t>
            </a:r>
            <a:r>
              <a:rPr lang="en-US" sz="1200" dirty="0">
                <a:solidFill>
                  <a:srgbClr val="263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del </a:t>
            </a:r>
            <a:r>
              <a:rPr lang="en-US" sz="1200" dirty="0" err="1">
                <a:solidFill>
                  <a:srgbClr val="263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</a:t>
            </a:r>
            <a:r>
              <a:rPr lang="en-US" sz="1200" dirty="0">
                <a:solidFill>
                  <a:srgbClr val="263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263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variográfico</a:t>
            </a:r>
            <a:r>
              <a:rPr lang="en-US" sz="1200" dirty="0">
                <a:solidFill>
                  <a:srgbClr val="263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</a:t>
            </a:r>
            <a:r>
              <a:rPr lang="en-US" sz="1200" dirty="0" err="1">
                <a:solidFill>
                  <a:srgbClr val="263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Verificación</a:t>
            </a:r>
            <a:r>
              <a:rPr lang="en-US" sz="1200" dirty="0">
                <a:solidFill>
                  <a:srgbClr val="263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1200" dirty="0" err="1">
                <a:solidFill>
                  <a:srgbClr val="263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sesgo</a:t>
            </a:r>
            <a:r>
              <a:rPr lang="en-US" sz="1200" dirty="0">
                <a:solidFill>
                  <a:srgbClr val="263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 </a:t>
            </a:r>
            <a:r>
              <a:rPr lang="en-US" sz="1200" dirty="0" err="1">
                <a:solidFill>
                  <a:srgbClr val="263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precisión</a:t>
            </a:r>
            <a:r>
              <a:rPr lang="en-US" sz="1200" dirty="0">
                <a:solidFill>
                  <a:srgbClr val="263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la </a:t>
            </a:r>
            <a:r>
              <a:rPr lang="en-US" sz="1200" dirty="0" err="1">
                <a:solidFill>
                  <a:srgbClr val="263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estimación</a:t>
            </a:r>
            <a:endParaRPr lang="en-US" sz="1200" dirty="0"/>
          </a:p>
          <a:p>
            <a:pPr marL="152400" indent="-152400">
              <a:lnSpc>
                <a:spcPts val="16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 err="1">
                <a:solidFill>
                  <a:srgbClr val="263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Revisión</a:t>
            </a:r>
            <a:r>
              <a:rPr lang="en-US" sz="1200" dirty="0">
                <a:solidFill>
                  <a:srgbClr val="263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del rango práctico del modelo seleccionado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092440" y="1554480"/>
            <a:ext cx="3611880" cy="4663440"/>
          </a:xfrm>
          <a:prstGeom prst="roundRect">
            <a:avLst>
              <a:gd name="adj" fmla="val 2025"/>
            </a:avLst>
          </a:prstGeom>
          <a:solidFill>
            <a:srgbClr val="F1F3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321040" y="1755648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5F6B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○  Pendiente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321040" y="2194560"/>
            <a:ext cx="315468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6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63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4.6  Interpolación mediante kriging ordinario</a:t>
            </a:r>
            <a:endParaRPr lang="en-US" sz="1200" dirty="0"/>
          </a:p>
          <a:p>
            <a:pPr marL="152400" indent="-152400">
              <a:lnSpc>
                <a:spcPts val="16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63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4.7  Mapa de incertidumbre (varianza de kriging)</a:t>
            </a:r>
            <a:endParaRPr lang="en-US" sz="1200" dirty="0"/>
          </a:p>
          <a:p>
            <a:pPr marL="152400" indent="-152400">
              <a:lnSpc>
                <a:spcPts val="16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63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Conclusiones y recomendaciones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232E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510528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AA5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geoestadístico de la concentración de Cu — Presentación de avances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11430000" y="651052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5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85800" y="5029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B87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HALLAZGOS PARCIALES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85800" y="82296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 que sabemos hasta ahora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713232" y="1728216"/>
            <a:ext cx="384048" cy="384048"/>
          </a:xfrm>
          <a:prstGeom prst="ellipse">
            <a:avLst/>
          </a:prstGeom>
          <a:solidFill>
            <a:srgbClr val="B873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13232" y="17099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325880" y="1691640"/>
            <a:ext cx="10332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consolidada.  </a:t>
            </a:r>
            <a:r>
              <a:rPr lang="en-US" sz="1300" dirty="0">
                <a:solidFill>
                  <a:srgbClr val="C9D2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2,029 muestras verificadas dentro del área (96.5 % del total), con cartografía geológica y estructural del SGC validada e integrada.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13232" y="2679192"/>
            <a:ext cx="384048" cy="384048"/>
          </a:xfrm>
          <a:prstGeom prst="ellipse">
            <a:avLst/>
          </a:prstGeom>
          <a:solidFill>
            <a:srgbClr val="B873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13232" y="26609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325880" y="2642616"/>
            <a:ext cx="10332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Distribución no normal.  </a:t>
            </a:r>
            <a:r>
              <a:rPr lang="en-US" sz="1300" dirty="0">
                <a:solidFill>
                  <a:srgbClr val="C9D2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Asimetría fuerte (4.37) y CV ≈ 78 %; Anderson-Darling rechaza la normalidad (A² = 87.95). El tratamiento geoestadístico debe considerar esta condición.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13232" y="3630168"/>
            <a:ext cx="384048" cy="384048"/>
          </a:xfrm>
          <a:prstGeom prst="ellipse">
            <a:avLst/>
          </a:prstGeom>
          <a:solidFill>
            <a:srgbClr val="B873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13232" y="3611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325880" y="3593592"/>
            <a:ext cx="10332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litológico.  </a:t>
            </a:r>
            <a:r>
              <a:rPr lang="en-US" sz="1300" dirty="0">
                <a:solidFill>
                  <a:srgbClr val="C9D2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Tres unidades (Miembro Urrao, Batolito de Mandé y Formación Combia) concentran ~66 % de las muestras; las anomalías de Cu son puntuales.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13232" y="4581144"/>
            <a:ext cx="384048" cy="384048"/>
          </a:xfrm>
          <a:prstGeom prst="ellipse">
            <a:avLst/>
          </a:prstGeom>
          <a:solidFill>
            <a:srgbClr val="B873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13232" y="45628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325880" y="4544568"/>
            <a:ext cx="10332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 espacial detectable.  </a:t>
            </a:r>
            <a:r>
              <a:rPr lang="en-US" sz="1300" dirty="0">
                <a:solidFill>
                  <a:srgbClr val="C9D2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variograma omnidireccional evidencia continuidad espacial; el modelo Gaussiano (R² = 0.75) fue seleccionado por AIC, con rango en revisión.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713232" y="5532120"/>
            <a:ext cx="384048" cy="384048"/>
          </a:xfrm>
          <a:prstGeom prst="ellipse">
            <a:avLst/>
          </a:prstGeom>
          <a:solidFill>
            <a:srgbClr val="B873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713232" y="55138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325880" y="5495544"/>
            <a:ext cx="10332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Siguiente hito.  </a:t>
            </a:r>
            <a:r>
              <a:rPr lang="en-US" sz="1300" dirty="0">
                <a:solidFill>
                  <a:srgbClr val="C9D2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Validación cruzada en ejecución; con sus resultados se procederá al kriging ordinario y al mapa de incertidumbre.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</TotalTime>
  <Words>1726</Words>
  <Application>Microsoft Office PowerPoint</Application>
  <PresentationFormat>Panorámica</PresentationFormat>
  <Paragraphs>235</Paragraphs>
  <Slides>16</Slides>
  <Notes>16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16</vt:i4>
      </vt:variant>
    </vt:vector>
  </HeadingPairs>
  <TitlesOfParts>
    <vt:vector size="20" baseType="lpstr">
      <vt:lpstr>Arial</vt:lpstr>
      <vt:lpstr>Calibri</vt:lpstr>
      <vt:lpstr>Cambria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Daniela Cardona Lopera</cp:lastModifiedBy>
  <cp:revision>7</cp:revision>
  <dcterms:created xsi:type="dcterms:W3CDTF">2026-07-15T09:49:42Z</dcterms:created>
  <dcterms:modified xsi:type="dcterms:W3CDTF">2026-07-15T10:48:12Z</dcterms:modified>
</cp:coreProperties>
</file>